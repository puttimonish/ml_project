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PhishingLens, an ML-based phishing URL detector using Random Forest and NLP-based URL analysis. Course: Machine Learning (25SC2107E), Team-11, Section 6, guided by Ravindra Gaddam.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abstract in your own words: phishing sites imitate real ones to steal data; detecting them quickly and accurately matters; we use Random Forest with NLP-based URL analysis to classify URLs. Point to the four-step flow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slide. Read the question aloud. Left card: what phishing sites do. Right card: why humans struggle to spot them. Then state the objective: classify a URL as LEGITIMATE or PHISHING using URL-based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extract features, train the classifier, keep errors low, and make it usable through a web application called PhishingLens.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 URL comes in, is preprocessed, NLP-based features are extracted and engineered, the Random Forest classifies it, and the output is LEGITIMATE or PHISHING. Random Forest was chosen because bagging plus feature subsampling reduces variance, it works well on tabular features, and it exposes feature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flow: the browser frontend calls the FastAPI backend. The /api/v1/analyze endpoint uses the ML model. A separate add-on router provides optional live intelligence (DNS, RDAP, TLS, redirects, URLhaus) and an email breach check. History and watchlist stay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utilities. The core is the single URL scan using the ML model. Bulk scan, compare, file/email link extraction and QR extraction build on the same endpoint. Live intelligence and breach lookup are optional extras.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signals complement the ML score. Four need no API key. URLhaus needs URLHAUS_AUTH_KEY and the breach check needs HIBP_API_KEY plus explicit consent. Emphasize: a missing result is unknown, not proof of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with scikit-learn for the Random Forest, pandas and NumPy for data handling, tldextract for domain parsing, FastAPI and Uvicorn for the backend, and a plain HTML and JavaScript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metrics and protocol used to judge the classifier. The confusion matrix shows the two kinds of mistake: a false positive blocks a legitimate site, a false negative lets a phishing site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safeguards built in. Right: honest limitations. Stress that the endpoints should not be exposed publicly without authentication, rate limiting, and a security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PhishingLens combines Random Forest with NLP-based URL features and delivers it as a usable web app. Future work: retraining and drift monitoring, explainability, and hardening for public deployment. Close with thanks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424160" y="-2377440"/>
            <a:ext cx="3474720" cy="3474720"/>
          </a:xfrm>
          <a:prstGeom prst="ellipse">
            <a:avLst/>
          </a:prstGeom>
          <a:solidFill>
            <a:srgbClr val="13273F"/>
          </a:solidFill>
          <a:ln/>
        </p:spPr>
      </p:sp>
      <p:sp>
        <p:nvSpPr>
          <p:cNvPr id="3" name="Shape 1"/>
          <p:cNvSpPr/>
          <p:nvPr/>
        </p:nvSpPr>
        <p:spPr>
          <a:xfrm>
            <a:off x="-2011680" y="6309360"/>
            <a:ext cx="2926080" cy="2926080"/>
          </a:xfrm>
          <a:prstGeom prst="ellipse">
            <a:avLst/>
          </a:prstGeom>
          <a:solidFill>
            <a:srgbClr val="13273F"/>
          </a:solidFill>
          <a:ln/>
        </p:spPr>
      </p:sp>
      <p:sp>
        <p:nvSpPr>
          <p:cNvPr id="5" name="Shape 2"/>
          <p:cNvSpPr/>
          <p:nvPr/>
        </p:nvSpPr>
        <p:spPr>
          <a:xfrm>
            <a:off x="822960" y="685800"/>
            <a:ext cx="6035040" cy="457200"/>
          </a:xfrm>
          <a:prstGeom prst="roundRect">
            <a:avLst>
              <a:gd name="adj" fmla="val 20000"/>
            </a:avLst>
          </a:prstGeom>
          <a:solidFill>
            <a:srgbClr val="1B3552"/>
          </a:solidFill>
          <a:ln w="12700">
            <a:solidFill>
              <a:srgbClr val="2A4A6B"/>
            </a:solidFill>
            <a:prstDash val="solid"/>
          </a:ln>
        </p:spPr>
      </p:sp>
      <p:sp>
        <p:nvSpPr>
          <p:cNvPr id="6" name="Shape 3"/>
          <p:cNvSpPr/>
          <p:nvPr/>
        </p:nvSpPr>
        <p:spPr>
          <a:xfrm>
            <a:off x="960120" y="841248"/>
            <a:ext cx="146304" cy="146304"/>
          </a:xfrm>
          <a:prstGeom prst="ellipse">
            <a:avLst/>
          </a:prstGeom>
          <a:solidFill>
            <a:srgbClr val="FF5C5C"/>
          </a:solidFill>
          <a:ln/>
        </p:spPr>
      </p:sp>
      <p:sp>
        <p:nvSpPr>
          <p:cNvPr id="7" name="Shape 4"/>
          <p:cNvSpPr/>
          <p:nvPr/>
        </p:nvSpPr>
        <p:spPr>
          <a:xfrm>
            <a:off x="1188720" y="841248"/>
            <a:ext cx="146304" cy="146304"/>
          </a:xfrm>
          <a:prstGeom prst="ellipse">
            <a:avLst/>
          </a:prstGeom>
          <a:solidFill>
            <a:srgbClr val="F5C34D"/>
          </a:solidFill>
          <a:ln/>
        </p:spPr>
      </p:sp>
      <p:sp>
        <p:nvSpPr>
          <p:cNvPr id="8" name="Shape 5"/>
          <p:cNvSpPr/>
          <p:nvPr/>
        </p:nvSpPr>
        <p:spPr>
          <a:xfrm>
            <a:off x="1417320" y="841248"/>
            <a:ext cx="146304" cy="146304"/>
          </a:xfrm>
          <a:prstGeom prst="ellipse">
            <a:avLst/>
          </a:prstGeom>
          <a:solidFill>
            <a:srgbClr val="2FD9C9"/>
          </a:solidFill>
          <a:ln/>
        </p:spPr>
      </p:sp>
      <p:sp>
        <p:nvSpPr>
          <p:cNvPr id="9" name="Text 6"/>
          <p:cNvSpPr/>
          <p:nvPr/>
        </p:nvSpPr>
        <p:spPr>
          <a:xfrm>
            <a:off x="1737360" y="685800"/>
            <a:ext cx="4846320" cy="457200"/>
          </a:xfrm>
          <a:prstGeom prst="rect">
            <a:avLst/>
          </a:prstGeom>
          <a:noFill/>
          <a:ln/>
        </p:spPr>
        <p:txBody>
          <a:bodyPr wrap="square" lIns="0" tIns="0" rIns="0" bIns="0" rtlCol="0" anchor="ctr"/>
          <a:lstStyle/>
          <a:p>
            <a:pPr indent="0" marL="0">
              <a:buNone/>
            </a:pPr>
            <a:r>
              <a:rPr lang="en-US" sz="1200" dirty="0">
                <a:solidFill>
                  <a:srgbClr val="D7E1EC"/>
                </a:solidFill>
                <a:latin typeface="Courier New" pitchFamily="34" charset="0"/>
                <a:ea typeface="Courier New" pitchFamily="34" charset="-122"/>
                <a:cs typeface="Courier New" pitchFamily="34" charset="-120"/>
              </a:rPr>
              <a:t>https://secure-login.suspicious-url.com</a:t>
            </a:r>
            <a:endParaRPr lang="en-US" sz="1200" dirty="0"/>
          </a:p>
        </p:txBody>
      </p:sp>
      <p:sp>
        <p:nvSpPr>
          <p:cNvPr id="10" name="Shape 7"/>
          <p:cNvSpPr/>
          <p:nvPr/>
        </p:nvSpPr>
        <p:spPr>
          <a:xfrm>
            <a:off x="6812280" y="566928"/>
            <a:ext cx="457200" cy="457200"/>
          </a:xfrm>
          <a:prstGeom prst="ellipse">
            <a:avLst/>
          </a:prstGeom>
          <a:solidFill>
            <a:srgbClr val="FF5C5C"/>
          </a:solidFill>
          <a:ln/>
        </p:spPr>
      </p:sp>
      <p:sp>
        <p:nvSpPr>
          <p:cNvPr id="11" name="Text 8"/>
          <p:cNvSpPr/>
          <p:nvPr/>
        </p:nvSpPr>
        <p:spPr>
          <a:xfrm>
            <a:off x="6812280" y="5669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9"/>
          <p:cNvSpPr/>
          <p:nvPr/>
        </p:nvSpPr>
        <p:spPr>
          <a:xfrm>
            <a:off x="822960" y="1417320"/>
            <a:ext cx="9144000" cy="365760"/>
          </a:xfrm>
          <a:prstGeom prst="rect">
            <a:avLst/>
          </a:prstGeom>
          <a:noFill/>
          <a:ln/>
        </p:spPr>
        <p:txBody>
          <a:bodyPr wrap="square" lIns="0" tIns="0" rIns="0" bIns="0" rtlCol="0" anchor="ctr"/>
          <a:lstStyle/>
          <a:p>
            <a:pPr indent="0" marL="0">
              <a:buNone/>
            </a:pPr>
            <a:r>
              <a:rPr lang="en-US" sz="1250" b="1" spc="200" kern="0" dirty="0">
                <a:solidFill>
                  <a:srgbClr val="2FD9C9"/>
                </a:solidFill>
                <a:latin typeface="Calibri" pitchFamily="34" charset="0"/>
                <a:ea typeface="Calibri" pitchFamily="34" charset="-122"/>
                <a:cs typeface="Calibri" pitchFamily="34" charset="-120"/>
              </a:rPr>
              <a:t>PHISHINGLENS  •  MACHINE LEARNING PROJECT  •  25SC2107E</a:t>
            </a:r>
            <a:endParaRPr lang="en-US" sz="1250" dirty="0"/>
          </a:p>
        </p:txBody>
      </p:sp>
      <p:sp>
        <p:nvSpPr>
          <p:cNvPr id="13" name="Text 10"/>
          <p:cNvSpPr/>
          <p:nvPr/>
        </p:nvSpPr>
        <p:spPr>
          <a:xfrm>
            <a:off x="777240" y="1828800"/>
            <a:ext cx="9875520" cy="1371600"/>
          </a:xfrm>
          <a:prstGeom prst="rect">
            <a:avLst/>
          </a:prstGeom>
          <a:noFill/>
          <a:ln/>
        </p:spPr>
        <p:txBody>
          <a:bodyPr wrap="square" lIns="0" tIns="0" rIns="0" bIns="0" rtlCol="0" anchor="ctr"/>
          <a:lstStyle/>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Phishing Website Detection Using</a:t>
            </a:r>
            <a:endParaRPr lang="en-US" sz="3400" dirty="0"/>
          </a:p>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Random Forest and NLP-Based URL Analysis</a:t>
            </a:r>
            <a:endParaRPr lang="en-US" sz="3400" dirty="0"/>
          </a:p>
        </p:txBody>
      </p:sp>
      <p:sp>
        <p:nvSpPr>
          <p:cNvPr id="14" name="Shape 11"/>
          <p:cNvSpPr/>
          <p:nvPr/>
        </p:nvSpPr>
        <p:spPr>
          <a:xfrm>
            <a:off x="822960" y="3337560"/>
            <a:ext cx="2743200" cy="0"/>
          </a:xfrm>
          <a:prstGeom prst="line">
            <a:avLst/>
          </a:prstGeom>
          <a:noFill/>
          <a:ln w="19050">
            <a:solidFill>
              <a:srgbClr val="2FD9C9"/>
            </a:solidFill>
            <a:prstDash val="solid"/>
          </a:ln>
        </p:spPr>
      </p:sp>
      <p:sp>
        <p:nvSpPr>
          <p:cNvPr id="15" name="Text 12"/>
          <p:cNvSpPr/>
          <p:nvPr/>
        </p:nvSpPr>
        <p:spPr>
          <a:xfrm>
            <a:off x="822960" y="3611880"/>
            <a:ext cx="5669280" cy="1737360"/>
          </a:xfrm>
          <a:prstGeom prst="rect">
            <a:avLst/>
          </a:prstGeom>
          <a:noFill/>
          <a:ln/>
        </p:spPr>
        <p:txBody>
          <a:bodyPr wrap="square" lIns="0" tIns="0" rIns="0" bIns="0" rtlCol="0" anchor="ctr"/>
          <a:lstStyle/>
          <a:p>
            <a:pPr indent="0" marL="0">
              <a:lnSpc>
                <a:spcPct val="115000"/>
              </a:lnSpc>
              <a:buNone/>
            </a:pPr>
            <a:r>
              <a:rPr lang="en-US" sz="1400" b="1" dirty="0">
                <a:solidFill>
                  <a:srgbClr val="FFFFFF"/>
                </a:solidFill>
                <a:latin typeface="Calibri" pitchFamily="34" charset="0"/>
                <a:ea typeface="Calibri" pitchFamily="34" charset="-122"/>
                <a:cs typeface="Calibri" pitchFamily="34" charset="-120"/>
              </a:rPr>
              <a:t>Team-11  •  Section 6
</a:t>
            </a:r>
            <a:pPr indent="0" marL="0">
              <a:lnSpc>
                <a:spcPct val="115000"/>
              </a:lnSpc>
              <a:buNone/>
            </a:pPr>
            <a:r>
              <a:rPr lang="en-US" sz="1250" dirty="0">
                <a:solidFill>
                  <a:srgbClr val="D7E1EC"/>
                </a:solidFill>
                <a:latin typeface="Calibri" pitchFamily="34" charset="0"/>
                <a:ea typeface="Calibri" pitchFamily="34" charset="-122"/>
                <a:cs typeface="Calibri" pitchFamily="34" charset="-120"/>
              </a:rPr>
              <a:t>Monish Putti — 2520030395
</a:t>
            </a:r>
            <a:pPr indent="0" marL="0">
              <a:lnSpc>
                <a:spcPct val="115000"/>
              </a:lnSpc>
              <a:buNone/>
            </a:pPr>
            <a:r>
              <a:rPr lang="en-US" sz="1250" dirty="0">
                <a:solidFill>
                  <a:srgbClr val="D7E1EC"/>
                </a:solidFill>
                <a:latin typeface="Calibri" pitchFamily="34" charset="0"/>
                <a:ea typeface="Calibri" pitchFamily="34" charset="-122"/>
                <a:cs typeface="Calibri" pitchFamily="34" charset="-120"/>
              </a:rPr>
              <a:t>Mokshitha Putti — 2520030396
</a:t>
            </a:r>
            <a:pPr indent="0" marL="0">
              <a:lnSpc>
                <a:spcPct val="115000"/>
              </a:lnSpc>
              <a:buNone/>
            </a:pPr>
            <a:r>
              <a:rPr lang="en-US" sz="1250" dirty="0">
                <a:solidFill>
                  <a:srgbClr val="D7E1EC"/>
                </a:solidFill>
                <a:latin typeface="Calibri" pitchFamily="34" charset="0"/>
                <a:ea typeface="Calibri" pitchFamily="34" charset="-122"/>
                <a:cs typeface="Calibri" pitchFamily="34" charset="-120"/>
              </a:rPr>
              <a:t>Veldi Sohith Sai — 2520030389
</a:t>
            </a:r>
            <a:pPr indent="0" marL="0">
              <a:lnSpc>
                <a:spcPct val="115000"/>
              </a:lnSpc>
              <a:buNone/>
            </a:pPr>
            <a:endParaRPr lang="en-US" sz="1400" dirty="0"/>
          </a:p>
          <a:p>
            <a:pPr indent="0" marL="0">
              <a:lnSpc>
                <a:spcPct val="115000"/>
              </a:lnSpc>
              <a:buNone/>
            </a:pPr>
            <a:r>
              <a:rPr lang="en-US" sz="1250" i="1" dirty="0">
                <a:solidFill>
                  <a:srgbClr val="2FD9C9"/>
                </a:solidFill>
                <a:latin typeface="Calibri" pitchFamily="34" charset="0"/>
                <a:ea typeface="Calibri" pitchFamily="34" charset="-122"/>
                <a:cs typeface="Calibri" pitchFamily="34" charset="-120"/>
              </a:rPr>
              <a:t>Guided by Ravindra Gaddam</a:t>
            </a:r>
            <a:endParaRPr lang="en-US" sz="1400" dirty="0"/>
          </a:p>
        </p:txBody>
      </p:sp>
      <p:sp>
        <p:nvSpPr>
          <p:cNvPr id="16" name="Shape 13"/>
          <p:cNvSpPr/>
          <p:nvPr/>
        </p:nvSpPr>
        <p:spPr>
          <a:xfrm flipV="1">
            <a:off x="8778240" y="4206240"/>
            <a:ext cx="914400" cy="457200"/>
          </a:xfrm>
          <a:prstGeom prst="line">
            <a:avLst/>
          </a:prstGeom>
          <a:noFill/>
          <a:ln w="15875">
            <a:solidFill>
              <a:srgbClr val="2A4A6B"/>
            </a:solidFill>
            <a:prstDash val="solid"/>
          </a:ln>
        </p:spPr>
      </p:sp>
      <p:sp>
        <p:nvSpPr>
          <p:cNvPr id="17" name="Shape 14"/>
          <p:cNvSpPr/>
          <p:nvPr/>
        </p:nvSpPr>
        <p:spPr>
          <a:xfrm>
            <a:off x="9692640" y="4206240"/>
            <a:ext cx="822960" cy="640080"/>
          </a:xfrm>
          <a:prstGeom prst="line">
            <a:avLst/>
          </a:prstGeom>
          <a:noFill/>
          <a:ln w="15875">
            <a:solidFill>
              <a:srgbClr val="2A4A6B"/>
            </a:solidFill>
            <a:prstDash val="solid"/>
          </a:ln>
        </p:spPr>
      </p:sp>
      <p:sp>
        <p:nvSpPr>
          <p:cNvPr id="18" name="Shape 15"/>
          <p:cNvSpPr/>
          <p:nvPr/>
        </p:nvSpPr>
        <p:spPr>
          <a:xfrm>
            <a:off x="8778240" y="4663440"/>
            <a:ext cx="640080" cy="731520"/>
          </a:xfrm>
          <a:prstGeom prst="line">
            <a:avLst/>
          </a:prstGeom>
          <a:noFill/>
          <a:ln w="15875">
            <a:solidFill>
              <a:srgbClr val="2A4A6B"/>
            </a:solidFill>
            <a:prstDash val="solid"/>
          </a:ln>
        </p:spPr>
      </p:sp>
      <p:sp>
        <p:nvSpPr>
          <p:cNvPr id="19" name="Shape 16"/>
          <p:cNvSpPr/>
          <p:nvPr/>
        </p:nvSpPr>
        <p:spPr>
          <a:xfrm flipV="1">
            <a:off x="8503920" y="5394960"/>
            <a:ext cx="914400" cy="274320"/>
          </a:xfrm>
          <a:prstGeom prst="line">
            <a:avLst/>
          </a:prstGeom>
          <a:noFill/>
          <a:ln w="15875">
            <a:solidFill>
              <a:srgbClr val="2A4A6B"/>
            </a:solidFill>
            <a:prstDash val="solid"/>
          </a:ln>
        </p:spPr>
      </p:sp>
      <p:sp>
        <p:nvSpPr>
          <p:cNvPr id="20" name="Shape 17"/>
          <p:cNvSpPr/>
          <p:nvPr/>
        </p:nvSpPr>
        <p:spPr>
          <a:xfrm flipV="1">
            <a:off x="9418320" y="4206240"/>
            <a:ext cx="274320" cy="1188720"/>
          </a:xfrm>
          <a:prstGeom prst="line">
            <a:avLst/>
          </a:prstGeom>
          <a:noFill/>
          <a:ln w="15875">
            <a:solidFill>
              <a:srgbClr val="2A4A6B"/>
            </a:solidFill>
            <a:prstDash val="solid"/>
          </a:ln>
        </p:spPr>
      </p:sp>
      <p:sp>
        <p:nvSpPr>
          <p:cNvPr id="21" name="Shape 18"/>
          <p:cNvSpPr/>
          <p:nvPr/>
        </p:nvSpPr>
        <p:spPr>
          <a:xfrm flipV="1">
            <a:off x="8503920" y="4663440"/>
            <a:ext cx="274320" cy="1005840"/>
          </a:xfrm>
          <a:prstGeom prst="line">
            <a:avLst/>
          </a:prstGeom>
          <a:noFill/>
          <a:ln w="15875">
            <a:solidFill>
              <a:srgbClr val="2A4A6B"/>
            </a:solidFill>
            <a:prstDash val="solid"/>
          </a:ln>
        </p:spPr>
      </p:sp>
      <p:sp>
        <p:nvSpPr>
          <p:cNvPr id="22" name="Shape 19"/>
          <p:cNvSpPr/>
          <p:nvPr/>
        </p:nvSpPr>
        <p:spPr>
          <a:xfrm>
            <a:off x="8705088" y="4590288"/>
            <a:ext cx="146304" cy="146304"/>
          </a:xfrm>
          <a:prstGeom prst="ellipse">
            <a:avLst/>
          </a:prstGeom>
          <a:solidFill>
            <a:srgbClr val="2FD9C9"/>
          </a:solidFill>
          <a:ln/>
        </p:spPr>
      </p:sp>
      <p:sp>
        <p:nvSpPr>
          <p:cNvPr id="23" name="Shape 20"/>
          <p:cNvSpPr/>
          <p:nvPr/>
        </p:nvSpPr>
        <p:spPr>
          <a:xfrm>
            <a:off x="9619488" y="4133088"/>
            <a:ext cx="146304" cy="146304"/>
          </a:xfrm>
          <a:prstGeom prst="ellipse">
            <a:avLst/>
          </a:prstGeom>
          <a:solidFill>
            <a:srgbClr val="2FD9C9"/>
          </a:solidFill>
          <a:ln/>
        </p:spPr>
      </p:sp>
      <p:sp>
        <p:nvSpPr>
          <p:cNvPr id="24" name="Shape 21"/>
          <p:cNvSpPr/>
          <p:nvPr/>
        </p:nvSpPr>
        <p:spPr>
          <a:xfrm>
            <a:off x="10442448" y="4773168"/>
            <a:ext cx="146304" cy="146304"/>
          </a:xfrm>
          <a:prstGeom prst="ellipse">
            <a:avLst/>
          </a:prstGeom>
          <a:solidFill>
            <a:srgbClr val="2FD9C9"/>
          </a:solidFill>
          <a:ln/>
        </p:spPr>
      </p:sp>
      <p:sp>
        <p:nvSpPr>
          <p:cNvPr id="25" name="Shape 22"/>
          <p:cNvSpPr/>
          <p:nvPr/>
        </p:nvSpPr>
        <p:spPr>
          <a:xfrm>
            <a:off x="9345168" y="5321808"/>
            <a:ext cx="146304" cy="146304"/>
          </a:xfrm>
          <a:prstGeom prst="ellipse">
            <a:avLst/>
          </a:prstGeom>
          <a:solidFill>
            <a:srgbClr val="2FD9C9"/>
          </a:solidFill>
          <a:ln/>
        </p:spPr>
      </p:sp>
      <p:sp>
        <p:nvSpPr>
          <p:cNvPr id="26" name="Shape 23"/>
          <p:cNvSpPr/>
          <p:nvPr/>
        </p:nvSpPr>
        <p:spPr>
          <a:xfrm>
            <a:off x="8430768" y="5596128"/>
            <a:ext cx="146304" cy="146304"/>
          </a:xfrm>
          <a:prstGeom prst="ellipse">
            <a:avLst/>
          </a:prstGeom>
          <a:solidFill>
            <a:srgbClr val="2FD9C9"/>
          </a:solidFill>
          <a:ln/>
        </p:spPr>
      </p:sp>
      <p:sp>
        <p:nvSpPr>
          <p:cNvPr id="27" name="Text 24"/>
          <p:cNvSpPr/>
          <p:nvPr/>
        </p:nvSpPr>
        <p:spPr>
          <a:xfrm>
            <a:off x="822960" y="6263640"/>
            <a:ext cx="10515600" cy="320040"/>
          </a:xfrm>
          <a:prstGeom prst="rect">
            <a:avLst/>
          </a:prstGeom>
          <a:noFill/>
          <a:ln/>
        </p:spPr>
        <p:txBody>
          <a:bodyPr wrap="square" lIns="0" tIns="0" rIns="0" bIns="0" rtlCol="0" anchor="ctr"/>
          <a:lstStyle/>
          <a:p>
            <a:pPr indent="0" marL="0">
              <a:buNone/>
            </a:pPr>
            <a:r>
              <a:rPr lang="en-US" sz="1050" dirty="0">
                <a:solidFill>
                  <a:srgbClr val="8598AD"/>
                </a:solidFill>
                <a:latin typeface="Calibri" pitchFamily="34" charset="0"/>
                <a:ea typeface="Calibri" pitchFamily="34" charset="-122"/>
                <a:cs typeface="Calibri" pitchFamily="34" charset="-120"/>
              </a:rPr>
              <a:t>KL Deemed to be University  •  Dept. of Computer Science &amp; Engineering  •  Bachupally, Hyderabad  •  A.Y. 2026–2027</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424160" y="-2377440"/>
            <a:ext cx="3474720" cy="3474720"/>
          </a:xfrm>
          <a:prstGeom prst="ellipse">
            <a:avLst/>
          </a:prstGeom>
          <a:solidFill>
            <a:srgbClr val="13273F"/>
          </a:solidFill>
          <a:ln/>
        </p:spPr>
      </p:sp>
      <p:sp>
        <p:nvSpPr>
          <p:cNvPr id="3" name="Shape 1"/>
          <p:cNvSpPr/>
          <p:nvPr/>
        </p:nvSpPr>
        <p:spPr>
          <a:xfrm>
            <a:off x="-2011680" y="6309360"/>
            <a:ext cx="2926080" cy="2926080"/>
          </a:xfrm>
          <a:prstGeom prst="ellipse">
            <a:avLst/>
          </a:prstGeom>
          <a:solidFill>
            <a:srgbClr val="13273F"/>
          </a:solidFill>
          <a:ln/>
        </p:spPr>
      </p:sp>
      <p:sp>
        <p:nvSpPr>
          <p:cNvPr id="4" name="Text 2"/>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FD9C9"/>
                </a:solidFill>
                <a:latin typeface="Calibri" pitchFamily="34" charset="0"/>
                <a:ea typeface="Calibri" pitchFamily="34" charset="-122"/>
                <a:cs typeface="Calibri" pitchFamily="34" charset="-120"/>
              </a:rPr>
              <a:t>ABSTRACT &amp; MOTIVATION</a:t>
            </a:r>
            <a:endParaRPr lang="en-US" sz="1300" dirty="0"/>
          </a:p>
        </p:txBody>
      </p:sp>
      <p:sp>
        <p:nvSpPr>
          <p:cNvPr id="5" name="Text 3"/>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Abstract &amp; Motivation</a:t>
            </a:r>
            <a:endParaRPr lang="en-US" sz="2800" dirty="0"/>
          </a:p>
        </p:txBody>
      </p:sp>
      <p:sp>
        <p:nvSpPr>
          <p:cNvPr id="6" name="Text 4"/>
          <p:cNvSpPr/>
          <p:nvPr/>
        </p:nvSpPr>
        <p:spPr>
          <a:xfrm>
            <a:off x="11247120" y="6473952"/>
            <a:ext cx="457200" cy="228600"/>
          </a:xfrm>
          <a:prstGeom prst="rect">
            <a:avLst/>
          </a:prstGeom>
          <a:noFill/>
          <a:ln/>
        </p:spPr>
        <p:txBody>
          <a:bodyPr wrap="square" lIns="0" tIns="0" rIns="0" bIns="0" rtlCol="0" anchor="ctr"/>
          <a:lstStyle/>
          <a:p>
            <a:pPr algn="r" indent="0" marL="0">
              <a:buNone/>
            </a:pPr>
            <a:r>
              <a:rPr lang="en-US" sz="900" dirty="0">
                <a:solidFill>
                  <a:srgbClr val="8598AD"/>
                </a:solidFill>
                <a:latin typeface="Calibri" pitchFamily="34" charset="0"/>
                <a:ea typeface="Calibri" pitchFamily="34" charset="-122"/>
                <a:cs typeface="Calibri" pitchFamily="34" charset="-120"/>
              </a:rPr>
              <a:t>2</a:t>
            </a:r>
            <a:endParaRPr lang="en-US" sz="900" dirty="0"/>
          </a:p>
        </p:txBody>
      </p:sp>
      <p:sp>
        <p:nvSpPr>
          <p:cNvPr id="8" name="Shape 5"/>
          <p:cNvSpPr/>
          <p:nvPr/>
        </p:nvSpPr>
        <p:spPr>
          <a:xfrm>
            <a:off x="594360" y="1591056"/>
            <a:ext cx="384048" cy="384048"/>
          </a:xfrm>
          <a:prstGeom prst="ellipse">
            <a:avLst/>
          </a:prstGeom>
          <a:solidFill>
            <a:srgbClr val="2FD9C9"/>
          </a:solidFill>
          <a:ln/>
        </p:spPr>
      </p:sp>
      <p:sp>
        <p:nvSpPr>
          <p:cNvPr id="9" name="Text 6"/>
          <p:cNvSpPr/>
          <p:nvPr/>
        </p:nvSpPr>
        <p:spPr>
          <a:xfrm>
            <a:off x="594360" y="1591056"/>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10" name="Text 7"/>
          <p:cNvSpPr/>
          <p:nvPr/>
        </p:nvSpPr>
        <p:spPr>
          <a:xfrm>
            <a:off x="1234440" y="1554480"/>
            <a:ext cx="6583680" cy="502920"/>
          </a:xfrm>
          <a:prstGeom prst="rect">
            <a:avLst/>
          </a:prstGeom>
          <a:noFill/>
          <a:ln/>
        </p:spPr>
        <p:txBody>
          <a:bodyPr wrap="square" lIns="0" tIns="0" rIns="0" bIns="0" rtlCol="0" anchor="ctr"/>
          <a:lstStyle/>
          <a:p>
            <a:pPr indent="0" marL="0">
              <a:lnSpc>
                <a:spcPct val="115000"/>
              </a:lnSpc>
              <a:buNone/>
            </a:pPr>
            <a:r>
              <a:rPr lang="en-US" sz="1300" dirty="0">
                <a:solidFill>
                  <a:srgbClr val="D7E1EC"/>
                </a:solidFill>
                <a:latin typeface="Calibri" pitchFamily="34" charset="0"/>
                <a:ea typeface="Calibri" pitchFamily="34" charset="-122"/>
                <a:cs typeface="Calibri" pitchFamily="34" charset="-120"/>
              </a:rPr>
              <a:t>Phishing websites imitate legitimate websites to steal sensitive information.</a:t>
            </a:r>
            <a:endParaRPr lang="en-US" sz="1300" dirty="0"/>
          </a:p>
        </p:txBody>
      </p:sp>
      <p:sp>
        <p:nvSpPr>
          <p:cNvPr id="11" name="Shape 8"/>
          <p:cNvSpPr/>
          <p:nvPr/>
        </p:nvSpPr>
        <p:spPr>
          <a:xfrm>
            <a:off x="594360" y="2231136"/>
            <a:ext cx="384048" cy="384048"/>
          </a:xfrm>
          <a:prstGeom prst="ellipse">
            <a:avLst/>
          </a:prstGeom>
          <a:solidFill>
            <a:srgbClr val="2FD9C9"/>
          </a:solidFill>
          <a:ln/>
        </p:spPr>
      </p:sp>
      <p:sp>
        <p:nvSpPr>
          <p:cNvPr id="12" name="Text 9"/>
          <p:cNvSpPr/>
          <p:nvPr/>
        </p:nvSpPr>
        <p:spPr>
          <a:xfrm>
            <a:off x="594360" y="2231136"/>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13" name="Text 10"/>
          <p:cNvSpPr/>
          <p:nvPr/>
        </p:nvSpPr>
        <p:spPr>
          <a:xfrm>
            <a:off x="1234440" y="2194560"/>
            <a:ext cx="6583680" cy="502920"/>
          </a:xfrm>
          <a:prstGeom prst="rect">
            <a:avLst/>
          </a:prstGeom>
          <a:noFill/>
          <a:ln/>
        </p:spPr>
        <p:txBody>
          <a:bodyPr wrap="square" lIns="0" tIns="0" rIns="0" bIns="0" rtlCol="0" anchor="ctr"/>
          <a:lstStyle/>
          <a:p>
            <a:pPr indent="0" marL="0">
              <a:lnSpc>
                <a:spcPct val="115000"/>
              </a:lnSpc>
              <a:buNone/>
            </a:pPr>
            <a:r>
              <a:rPr lang="en-US" sz="1300" dirty="0">
                <a:solidFill>
                  <a:srgbClr val="D7E1EC"/>
                </a:solidFill>
                <a:latin typeface="Calibri" pitchFamily="34" charset="0"/>
                <a:ea typeface="Calibri" pitchFamily="34" charset="-122"/>
                <a:cs typeface="Calibri" pitchFamily="34" charset="-120"/>
              </a:rPr>
              <a:t>Users may unknowingly give away usernames, passwords, banking credentials, and personal data.</a:t>
            </a:r>
            <a:endParaRPr lang="en-US" sz="1300" dirty="0"/>
          </a:p>
        </p:txBody>
      </p:sp>
      <p:sp>
        <p:nvSpPr>
          <p:cNvPr id="14" name="Shape 11"/>
          <p:cNvSpPr/>
          <p:nvPr/>
        </p:nvSpPr>
        <p:spPr>
          <a:xfrm>
            <a:off x="594360" y="2871216"/>
            <a:ext cx="384048" cy="384048"/>
          </a:xfrm>
          <a:prstGeom prst="ellipse">
            <a:avLst/>
          </a:prstGeom>
          <a:solidFill>
            <a:srgbClr val="2FD9C9"/>
          </a:solidFill>
          <a:ln/>
        </p:spPr>
      </p:sp>
      <p:sp>
        <p:nvSpPr>
          <p:cNvPr id="15" name="Text 12"/>
          <p:cNvSpPr/>
          <p:nvPr/>
        </p:nvSpPr>
        <p:spPr>
          <a:xfrm>
            <a:off x="594360" y="2871216"/>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16" name="Text 13"/>
          <p:cNvSpPr/>
          <p:nvPr/>
        </p:nvSpPr>
        <p:spPr>
          <a:xfrm>
            <a:off x="1234440" y="2834640"/>
            <a:ext cx="6583680" cy="502920"/>
          </a:xfrm>
          <a:prstGeom prst="rect">
            <a:avLst/>
          </a:prstGeom>
          <a:noFill/>
          <a:ln/>
        </p:spPr>
        <p:txBody>
          <a:bodyPr wrap="square" lIns="0" tIns="0" rIns="0" bIns="0" rtlCol="0" anchor="ctr"/>
          <a:lstStyle/>
          <a:p>
            <a:pPr indent="0" marL="0">
              <a:lnSpc>
                <a:spcPct val="115000"/>
              </a:lnSpc>
              <a:buNone/>
            </a:pPr>
            <a:r>
              <a:rPr lang="en-US" sz="1300" dirty="0">
                <a:solidFill>
                  <a:srgbClr val="D7E1EC"/>
                </a:solidFill>
                <a:latin typeface="Calibri" pitchFamily="34" charset="0"/>
                <a:ea typeface="Calibri" pitchFamily="34" charset="-122"/>
                <a:cs typeface="Calibri" pitchFamily="34" charset="-120"/>
              </a:rPr>
              <a:t>Detecting phishing websites quickly and accurately is an important cybersecurity challenge.</a:t>
            </a:r>
            <a:endParaRPr lang="en-US" sz="1300" dirty="0"/>
          </a:p>
        </p:txBody>
      </p:sp>
      <p:sp>
        <p:nvSpPr>
          <p:cNvPr id="17" name="Shape 14"/>
          <p:cNvSpPr/>
          <p:nvPr/>
        </p:nvSpPr>
        <p:spPr>
          <a:xfrm>
            <a:off x="594360" y="3511296"/>
            <a:ext cx="384048" cy="384048"/>
          </a:xfrm>
          <a:prstGeom prst="ellipse">
            <a:avLst/>
          </a:prstGeom>
          <a:solidFill>
            <a:srgbClr val="2FD9C9"/>
          </a:solidFill>
          <a:ln/>
        </p:spPr>
      </p:sp>
      <p:sp>
        <p:nvSpPr>
          <p:cNvPr id="18" name="Text 15"/>
          <p:cNvSpPr/>
          <p:nvPr/>
        </p:nvSpPr>
        <p:spPr>
          <a:xfrm>
            <a:off x="594360" y="3511296"/>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19" name="Text 16"/>
          <p:cNvSpPr/>
          <p:nvPr/>
        </p:nvSpPr>
        <p:spPr>
          <a:xfrm>
            <a:off x="1234440" y="3474720"/>
            <a:ext cx="6583680" cy="502920"/>
          </a:xfrm>
          <a:prstGeom prst="rect">
            <a:avLst/>
          </a:prstGeom>
          <a:noFill/>
          <a:ln/>
        </p:spPr>
        <p:txBody>
          <a:bodyPr wrap="square" lIns="0" tIns="0" rIns="0" bIns="0" rtlCol="0" anchor="ctr"/>
          <a:lstStyle/>
          <a:p>
            <a:pPr indent="0" marL="0">
              <a:lnSpc>
                <a:spcPct val="115000"/>
              </a:lnSpc>
              <a:buNone/>
            </a:pPr>
            <a:r>
              <a:rPr lang="en-US" sz="1300" dirty="0">
                <a:solidFill>
                  <a:srgbClr val="D7E1EC"/>
                </a:solidFill>
                <a:latin typeface="Calibri" pitchFamily="34" charset="0"/>
                <a:ea typeface="Calibri" pitchFamily="34" charset="-122"/>
                <a:cs typeface="Calibri" pitchFamily="34" charset="-120"/>
              </a:rPr>
              <a:t>The project uses Machine Learning with Random Forest and NLP-based URL analysis.</a:t>
            </a:r>
            <a:endParaRPr lang="en-US" sz="1300" dirty="0"/>
          </a:p>
        </p:txBody>
      </p:sp>
      <p:sp>
        <p:nvSpPr>
          <p:cNvPr id="20" name="Shape 17"/>
          <p:cNvSpPr/>
          <p:nvPr/>
        </p:nvSpPr>
        <p:spPr>
          <a:xfrm>
            <a:off x="594360" y="4151376"/>
            <a:ext cx="384048" cy="384048"/>
          </a:xfrm>
          <a:prstGeom prst="ellipse">
            <a:avLst/>
          </a:prstGeom>
          <a:solidFill>
            <a:srgbClr val="2FD9C9"/>
          </a:solidFill>
          <a:ln/>
        </p:spPr>
      </p:sp>
      <p:sp>
        <p:nvSpPr>
          <p:cNvPr id="21" name="Text 18"/>
          <p:cNvSpPr/>
          <p:nvPr/>
        </p:nvSpPr>
        <p:spPr>
          <a:xfrm>
            <a:off x="594360" y="4151376"/>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5</a:t>
            </a:r>
            <a:endParaRPr lang="en-US" sz="1400" dirty="0"/>
          </a:p>
        </p:txBody>
      </p:sp>
      <p:sp>
        <p:nvSpPr>
          <p:cNvPr id="22" name="Text 19"/>
          <p:cNvSpPr/>
          <p:nvPr/>
        </p:nvSpPr>
        <p:spPr>
          <a:xfrm>
            <a:off x="1234440" y="4114800"/>
            <a:ext cx="6583680" cy="502920"/>
          </a:xfrm>
          <a:prstGeom prst="rect">
            <a:avLst/>
          </a:prstGeom>
          <a:noFill/>
          <a:ln/>
        </p:spPr>
        <p:txBody>
          <a:bodyPr wrap="square" lIns="0" tIns="0" rIns="0" bIns="0" rtlCol="0" anchor="ctr"/>
          <a:lstStyle/>
          <a:p>
            <a:pPr indent="0" marL="0">
              <a:lnSpc>
                <a:spcPct val="115000"/>
              </a:lnSpc>
              <a:buNone/>
            </a:pPr>
            <a:r>
              <a:rPr lang="en-US" sz="1300" dirty="0">
                <a:solidFill>
                  <a:srgbClr val="D7E1EC"/>
                </a:solidFill>
                <a:latin typeface="Calibri" pitchFamily="34" charset="0"/>
                <a:ea typeface="Calibri" pitchFamily="34" charset="-122"/>
                <a:cs typeface="Calibri" pitchFamily="34" charset="-120"/>
              </a:rPr>
              <a:t>The system analyzes URL characteristics to distinguish legitimate from phishing websites.</a:t>
            </a:r>
            <a:endParaRPr lang="en-US" sz="1300" dirty="0"/>
          </a:p>
        </p:txBody>
      </p:sp>
      <p:sp>
        <p:nvSpPr>
          <p:cNvPr id="23" name="Shape 20"/>
          <p:cNvSpPr/>
          <p:nvPr/>
        </p:nvSpPr>
        <p:spPr>
          <a:xfrm>
            <a:off x="548640" y="4892040"/>
            <a:ext cx="7269480" cy="1005840"/>
          </a:xfrm>
          <a:prstGeom prst="roundRect">
            <a:avLst>
              <a:gd name="adj" fmla="val 9091"/>
            </a:avLst>
          </a:prstGeom>
          <a:solidFill>
            <a:srgbClr val="2FD9C9"/>
          </a:solidFill>
          <a:ln w="12700">
            <a:solidFill>
              <a:srgbClr val="2FD9C9"/>
            </a:solidFill>
            <a:prstDash val="solid"/>
          </a:ln>
        </p:spPr>
      </p:sp>
      <p:sp>
        <p:nvSpPr>
          <p:cNvPr id="24" name="Text 21"/>
          <p:cNvSpPr/>
          <p:nvPr/>
        </p:nvSpPr>
        <p:spPr>
          <a:xfrm>
            <a:off x="822960" y="4892040"/>
            <a:ext cx="6720840" cy="1005840"/>
          </a:xfrm>
          <a:prstGeom prst="rect">
            <a:avLst/>
          </a:prstGeom>
          <a:noFill/>
          <a:ln/>
        </p:spPr>
        <p:txBody>
          <a:bodyPr wrap="square" lIns="0" tIns="0" rIns="0" bIns="0" rtlCol="0" anchor="ctr"/>
          <a:lstStyle/>
          <a:p>
            <a:pPr indent="0" marL="0">
              <a:lnSpc>
                <a:spcPct val="115000"/>
              </a:lnSpc>
              <a:buNone/>
            </a:pPr>
            <a:r>
              <a:rPr lang="en-US" sz="1350" b="1" dirty="0">
                <a:solidFill>
                  <a:srgbClr val="0A1628"/>
                </a:solidFill>
                <a:latin typeface="Calibri" pitchFamily="34" charset="0"/>
                <a:ea typeface="Calibri" pitchFamily="34" charset="-122"/>
                <a:cs typeface="Calibri" pitchFamily="34" charset="-120"/>
              </a:rPr>
              <a:t>Goal:  </a:t>
            </a:r>
            <a:pPr indent="0" marL="0">
              <a:lnSpc>
                <a:spcPct val="115000"/>
              </a:lnSpc>
              <a:buNone/>
            </a:pPr>
            <a:r>
              <a:rPr lang="en-US" sz="1200" dirty="0">
                <a:solidFill>
                  <a:srgbClr val="0A1628"/>
                </a:solidFill>
                <a:latin typeface="Calibri" pitchFamily="34" charset="0"/>
                <a:ea typeface="Calibri" pitchFamily="34" charset="-122"/>
                <a:cs typeface="Calibri" pitchFamily="34" charset="-120"/>
              </a:rPr>
              <a:t>Build an ML-based system that identifies potentially phishing URLs, aiming for high detection capability and low false-positive rates.</a:t>
            </a:r>
            <a:endParaRPr lang="en-US" sz="1350" dirty="0"/>
          </a:p>
        </p:txBody>
      </p:sp>
      <p:sp>
        <p:nvSpPr>
          <p:cNvPr id="25" name="Shape 22"/>
          <p:cNvSpPr/>
          <p:nvPr/>
        </p:nvSpPr>
        <p:spPr>
          <a:xfrm>
            <a:off x="8321040" y="1600200"/>
            <a:ext cx="3291840" cy="868680"/>
          </a:xfrm>
          <a:prstGeom prst="roundRect">
            <a:avLst>
              <a:gd name="adj" fmla="val 10526"/>
            </a:avLst>
          </a:prstGeom>
          <a:solidFill>
            <a:srgbClr val="1B3552"/>
          </a:solidFill>
          <a:ln w="12700">
            <a:solidFill>
              <a:srgbClr val="2A4A6B"/>
            </a:solidFill>
            <a:prstDash val="solid"/>
          </a:ln>
        </p:spPr>
      </p:sp>
      <p:sp>
        <p:nvSpPr>
          <p:cNvPr id="26" name="Shape 23"/>
          <p:cNvSpPr/>
          <p:nvPr/>
        </p:nvSpPr>
        <p:spPr>
          <a:xfrm>
            <a:off x="8503920" y="1805940"/>
            <a:ext cx="457200" cy="457200"/>
          </a:xfrm>
          <a:prstGeom prst="ellipse">
            <a:avLst/>
          </a:prstGeom>
          <a:solidFill>
            <a:srgbClr val="2FD9C9"/>
          </a:solidFill>
          <a:ln/>
        </p:spPr>
      </p:sp>
      <p:sp>
        <p:nvSpPr>
          <p:cNvPr id="27" name="Text 24"/>
          <p:cNvSpPr/>
          <p:nvPr/>
        </p:nvSpPr>
        <p:spPr>
          <a:xfrm>
            <a:off x="8503920" y="1805940"/>
            <a:ext cx="457200" cy="457200"/>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28" name="Text 25"/>
          <p:cNvSpPr/>
          <p:nvPr/>
        </p:nvSpPr>
        <p:spPr>
          <a:xfrm>
            <a:off x="9189720" y="1600200"/>
            <a:ext cx="2286000" cy="8686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Phishing Threat</a:t>
            </a:r>
            <a:endParaRPr lang="en-US" sz="1350" dirty="0"/>
          </a:p>
        </p:txBody>
      </p:sp>
      <p:sp>
        <p:nvSpPr>
          <p:cNvPr id="29" name="Shape 26"/>
          <p:cNvSpPr/>
          <p:nvPr/>
        </p:nvSpPr>
        <p:spPr>
          <a:xfrm>
            <a:off x="9866376" y="2514600"/>
            <a:ext cx="201168" cy="182880"/>
          </a:xfrm>
          <a:prstGeom prst="downArrow">
            <a:avLst/>
          </a:prstGeom>
          <a:solidFill>
            <a:srgbClr val="2FD9C9"/>
          </a:solidFill>
          <a:ln/>
        </p:spPr>
      </p:sp>
      <p:sp>
        <p:nvSpPr>
          <p:cNvPr id="30" name="Shape 27"/>
          <p:cNvSpPr/>
          <p:nvPr/>
        </p:nvSpPr>
        <p:spPr>
          <a:xfrm>
            <a:off x="8321040" y="2743200"/>
            <a:ext cx="3291840" cy="868680"/>
          </a:xfrm>
          <a:prstGeom prst="roundRect">
            <a:avLst>
              <a:gd name="adj" fmla="val 10526"/>
            </a:avLst>
          </a:prstGeom>
          <a:solidFill>
            <a:srgbClr val="1B3552"/>
          </a:solidFill>
          <a:ln w="12700">
            <a:solidFill>
              <a:srgbClr val="2A4A6B"/>
            </a:solidFill>
            <a:prstDash val="solid"/>
          </a:ln>
        </p:spPr>
      </p:sp>
      <p:sp>
        <p:nvSpPr>
          <p:cNvPr id="31" name="Shape 28"/>
          <p:cNvSpPr/>
          <p:nvPr/>
        </p:nvSpPr>
        <p:spPr>
          <a:xfrm>
            <a:off x="8503920" y="2948940"/>
            <a:ext cx="457200" cy="457200"/>
          </a:xfrm>
          <a:prstGeom prst="ellipse">
            <a:avLst/>
          </a:prstGeom>
          <a:solidFill>
            <a:srgbClr val="2FD9C9"/>
          </a:solidFill>
          <a:ln/>
        </p:spPr>
      </p:sp>
      <p:sp>
        <p:nvSpPr>
          <p:cNvPr id="32" name="Text 29"/>
          <p:cNvSpPr/>
          <p:nvPr/>
        </p:nvSpPr>
        <p:spPr>
          <a:xfrm>
            <a:off x="8503920" y="2948940"/>
            <a:ext cx="457200" cy="457200"/>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33" name="Text 30"/>
          <p:cNvSpPr/>
          <p:nvPr/>
        </p:nvSpPr>
        <p:spPr>
          <a:xfrm>
            <a:off x="9189720" y="2743200"/>
            <a:ext cx="2286000" cy="8686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URL Analysis</a:t>
            </a:r>
            <a:endParaRPr lang="en-US" sz="1350" dirty="0"/>
          </a:p>
        </p:txBody>
      </p:sp>
      <p:sp>
        <p:nvSpPr>
          <p:cNvPr id="34" name="Shape 31"/>
          <p:cNvSpPr/>
          <p:nvPr/>
        </p:nvSpPr>
        <p:spPr>
          <a:xfrm>
            <a:off x="9866376" y="3657600"/>
            <a:ext cx="201168" cy="182880"/>
          </a:xfrm>
          <a:prstGeom prst="downArrow">
            <a:avLst/>
          </a:prstGeom>
          <a:solidFill>
            <a:srgbClr val="2FD9C9"/>
          </a:solidFill>
          <a:ln/>
        </p:spPr>
      </p:sp>
      <p:sp>
        <p:nvSpPr>
          <p:cNvPr id="35" name="Shape 32"/>
          <p:cNvSpPr/>
          <p:nvPr/>
        </p:nvSpPr>
        <p:spPr>
          <a:xfrm>
            <a:off x="8321040" y="3886200"/>
            <a:ext cx="3291840" cy="868680"/>
          </a:xfrm>
          <a:prstGeom prst="roundRect">
            <a:avLst>
              <a:gd name="adj" fmla="val 10526"/>
            </a:avLst>
          </a:prstGeom>
          <a:solidFill>
            <a:srgbClr val="1B3552"/>
          </a:solidFill>
          <a:ln w="12700">
            <a:solidFill>
              <a:srgbClr val="2A4A6B"/>
            </a:solidFill>
            <a:prstDash val="solid"/>
          </a:ln>
        </p:spPr>
      </p:sp>
      <p:sp>
        <p:nvSpPr>
          <p:cNvPr id="36" name="Shape 33"/>
          <p:cNvSpPr/>
          <p:nvPr/>
        </p:nvSpPr>
        <p:spPr>
          <a:xfrm>
            <a:off x="8503920" y="4091940"/>
            <a:ext cx="457200" cy="457200"/>
          </a:xfrm>
          <a:prstGeom prst="ellipse">
            <a:avLst/>
          </a:prstGeom>
          <a:solidFill>
            <a:srgbClr val="2FD9C9"/>
          </a:solidFill>
          <a:ln/>
        </p:spPr>
      </p:sp>
      <p:sp>
        <p:nvSpPr>
          <p:cNvPr id="37" name="Text 34"/>
          <p:cNvSpPr/>
          <p:nvPr/>
        </p:nvSpPr>
        <p:spPr>
          <a:xfrm>
            <a:off x="8503920" y="4091940"/>
            <a:ext cx="457200" cy="457200"/>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38" name="Text 35"/>
          <p:cNvSpPr/>
          <p:nvPr/>
        </p:nvSpPr>
        <p:spPr>
          <a:xfrm>
            <a:off x="9189720" y="3886200"/>
            <a:ext cx="2286000" cy="8686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ML Detection</a:t>
            </a:r>
            <a:endParaRPr lang="en-US" sz="1350" dirty="0"/>
          </a:p>
        </p:txBody>
      </p:sp>
      <p:sp>
        <p:nvSpPr>
          <p:cNvPr id="39" name="Shape 36"/>
          <p:cNvSpPr/>
          <p:nvPr/>
        </p:nvSpPr>
        <p:spPr>
          <a:xfrm>
            <a:off x="9866376" y="4800600"/>
            <a:ext cx="201168" cy="182880"/>
          </a:xfrm>
          <a:prstGeom prst="downArrow">
            <a:avLst/>
          </a:prstGeom>
          <a:solidFill>
            <a:srgbClr val="2FD9C9"/>
          </a:solidFill>
          <a:ln/>
        </p:spPr>
      </p:sp>
      <p:sp>
        <p:nvSpPr>
          <p:cNvPr id="40" name="Shape 37"/>
          <p:cNvSpPr/>
          <p:nvPr/>
        </p:nvSpPr>
        <p:spPr>
          <a:xfrm>
            <a:off x="8321040" y="5029200"/>
            <a:ext cx="3291840" cy="868680"/>
          </a:xfrm>
          <a:prstGeom prst="roundRect">
            <a:avLst>
              <a:gd name="adj" fmla="val 10526"/>
            </a:avLst>
          </a:prstGeom>
          <a:solidFill>
            <a:srgbClr val="1B3552"/>
          </a:solidFill>
          <a:ln w="12700">
            <a:solidFill>
              <a:srgbClr val="2A4A6B"/>
            </a:solidFill>
            <a:prstDash val="solid"/>
          </a:ln>
        </p:spPr>
      </p:sp>
      <p:sp>
        <p:nvSpPr>
          <p:cNvPr id="41" name="Shape 38"/>
          <p:cNvSpPr/>
          <p:nvPr/>
        </p:nvSpPr>
        <p:spPr>
          <a:xfrm>
            <a:off x="8503920" y="5234940"/>
            <a:ext cx="457200" cy="457200"/>
          </a:xfrm>
          <a:prstGeom prst="ellipse">
            <a:avLst/>
          </a:prstGeom>
          <a:solidFill>
            <a:srgbClr val="2FD9C9"/>
          </a:solidFill>
          <a:ln/>
        </p:spPr>
      </p:sp>
      <p:sp>
        <p:nvSpPr>
          <p:cNvPr id="42" name="Text 39"/>
          <p:cNvSpPr/>
          <p:nvPr/>
        </p:nvSpPr>
        <p:spPr>
          <a:xfrm>
            <a:off x="8503920" y="5234940"/>
            <a:ext cx="457200" cy="457200"/>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43" name="Text 40"/>
          <p:cNvSpPr/>
          <p:nvPr/>
        </p:nvSpPr>
        <p:spPr>
          <a:xfrm>
            <a:off x="9189720" y="5029200"/>
            <a:ext cx="2286000" cy="8686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User Protection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424160" y="-2377440"/>
            <a:ext cx="3474720" cy="3474720"/>
          </a:xfrm>
          <a:prstGeom prst="ellipse">
            <a:avLst/>
          </a:prstGeom>
          <a:solidFill>
            <a:srgbClr val="13273F"/>
          </a:solidFill>
          <a:ln/>
        </p:spPr>
      </p:sp>
      <p:sp>
        <p:nvSpPr>
          <p:cNvPr id="3" name="Shape 1"/>
          <p:cNvSpPr/>
          <p:nvPr/>
        </p:nvSpPr>
        <p:spPr>
          <a:xfrm>
            <a:off x="-2011680" y="6309360"/>
            <a:ext cx="2926080" cy="2926080"/>
          </a:xfrm>
          <a:prstGeom prst="ellipse">
            <a:avLst/>
          </a:prstGeom>
          <a:solidFill>
            <a:srgbClr val="13273F"/>
          </a:solidFill>
          <a:ln/>
        </p:spPr>
      </p:sp>
      <p:sp>
        <p:nvSpPr>
          <p:cNvPr id="4" name="Text 2"/>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FD9C9"/>
                </a:solidFill>
                <a:latin typeface="Calibri" pitchFamily="34" charset="0"/>
                <a:ea typeface="Calibri" pitchFamily="34" charset="-122"/>
                <a:cs typeface="Calibri" pitchFamily="34" charset="-120"/>
              </a:rPr>
              <a:t>PROBLEM STATEMENT</a:t>
            </a:r>
            <a:endParaRPr lang="en-US" sz="1300" dirty="0"/>
          </a:p>
        </p:txBody>
      </p:sp>
      <p:sp>
        <p:nvSpPr>
          <p:cNvPr id="5" name="Text 3"/>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Problem Statement</a:t>
            </a:r>
            <a:endParaRPr lang="en-US" sz="2800" dirty="0"/>
          </a:p>
        </p:txBody>
      </p:sp>
      <p:sp>
        <p:nvSpPr>
          <p:cNvPr id="6" name="Text 4"/>
          <p:cNvSpPr/>
          <p:nvPr/>
        </p:nvSpPr>
        <p:spPr>
          <a:xfrm>
            <a:off x="11247120" y="6473952"/>
            <a:ext cx="457200" cy="228600"/>
          </a:xfrm>
          <a:prstGeom prst="rect">
            <a:avLst/>
          </a:prstGeom>
          <a:noFill/>
          <a:ln/>
        </p:spPr>
        <p:txBody>
          <a:bodyPr wrap="square" lIns="0" tIns="0" rIns="0" bIns="0" rtlCol="0" anchor="ctr"/>
          <a:lstStyle/>
          <a:p>
            <a:pPr algn="r" indent="0" marL="0">
              <a:buNone/>
            </a:pPr>
            <a:r>
              <a:rPr lang="en-US" sz="900" dirty="0">
                <a:solidFill>
                  <a:srgbClr val="8598AD"/>
                </a:solidFill>
                <a:latin typeface="Calibri" pitchFamily="34" charset="0"/>
                <a:ea typeface="Calibri" pitchFamily="34" charset="-122"/>
                <a:cs typeface="Calibri" pitchFamily="34" charset="-120"/>
              </a:rPr>
              <a:t>3</a:t>
            </a:r>
            <a:endParaRPr lang="en-US" sz="900" dirty="0"/>
          </a:p>
        </p:txBody>
      </p:sp>
      <p:sp>
        <p:nvSpPr>
          <p:cNvPr id="8" name="Shape 5"/>
          <p:cNvSpPr/>
          <p:nvPr/>
        </p:nvSpPr>
        <p:spPr>
          <a:xfrm>
            <a:off x="548640" y="1508760"/>
            <a:ext cx="11064240" cy="960120"/>
          </a:xfrm>
          <a:prstGeom prst="roundRect">
            <a:avLst>
              <a:gd name="adj" fmla="val 9524"/>
            </a:avLst>
          </a:prstGeom>
          <a:solidFill>
            <a:srgbClr val="1B3552"/>
          </a:solidFill>
          <a:ln w="12700">
            <a:solidFill>
              <a:srgbClr val="2FD9C9"/>
            </a:solidFill>
            <a:prstDash val="solid"/>
          </a:ln>
        </p:spPr>
      </p:sp>
      <p:sp>
        <p:nvSpPr>
          <p:cNvPr id="9" name="Text 6"/>
          <p:cNvSpPr/>
          <p:nvPr/>
        </p:nvSpPr>
        <p:spPr>
          <a:xfrm>
            <a:off x="868680" y="1508760"/>
            <a:ext cx="10424160" cy="960120"/>
          </a:xfrm>
          <a:prstGeom prst="rect">
            <a:avLst/>
          </a:prstGeom>
          <a:noFill/>
          <a:ln/>
        </p:spPr>
        <p:txBody>
          <a:bodyPr wrap="square" lIns="0" tIns="0" rIns="0" bIns="0" rtlCol="0" anchor="ctr"/>
          <a:lstStyle/>
          <a:p>
            <a:pPr indent="0" marL="0">
              <a:lnSpc>
                <a:spcPct val="115000"/>
              </a:lnSpc>
              <a:buNone/>
            </a:pPr>
            <a:r>
              <a:rPr lang="en-US" sz="1650" i="1" dirty="0">
                <a:solidFill>
                  <a:srgbClr val="FFFFFF"/>
                </a:solidFill>
                <a:latin typeface="Cambria" pitchFamily="34" charset="0"/>
                <a:ea typeface="Cambria" pitchFamily="34" charset="-122"/>
                <a:cs typeface="Cambria" pitchFamily="34" charset="-120"/>
              </a:rPr>
              <a:t>How can we automatically determine whether a website URL is legitimate or potentially phishing before a user interacts with it?</a:t>
            </a:r>
            <a:endParaRPr lang="en-US" sz="1650" dirty="0"/>
          </a:p>
        </p:txBody>
      </p:sp>
      <p:sp>
        <p:nvSpPr>
          <p:cNvPr id="10" name="Shape 7"/>
          <p:cNvSpPr/>
          <p:nvPr/>
        </p:nvSpPr>
        <p:spPr>
          <a:xfrm>
            <a:off x="548640" y="2697480"/>
            <a:ext cx="5257800" cy="2331720"/>
          </a:xfrm>
          <a:prstGeom prst="roundRect">
            <a:avLst>
              <a:gd name="adj" fmla="val 3922"/>
            </a:avLst>
          </a:prstGeom>
          <a:solidFill>
            <a:srgbClr val="13273F"/>
          </a:solidFill>
          <a:ln/>
        </p:spPr>
      </p:sp>
      <p:sp>
        <p:nvSpPr>
          <p:cNvPr id="11" name="Text 8"/>
          <p:cNvSpPr/>
          <p:nvPr/>
        </p:nvSpPr>
        <p:spPr>
          <a:xfrm>
            <a:off x="822960" y="2880360"/>
            <a:ext cx="4754880" cy="365760"/>
          </a:xfrm>
          <a:prstGeom prst="rect">
            <a:avLst/>
          </a:prstGeom>
          <a:noFill/>
          <a:ln/>
        </p:spPr>
        <p:txBody>
          <a:bodyPr wrap="square" lIns="0" tIns="0" rIns="0" bIns="0" rtlCol="0" anchor="ctr"/>
          <a:lstStyle/>
          <a:p>
            <a:pPr indent="0" marL="0">
              <a:buNone/>
            </a:pPr>
            <a:r>
              <a:rPr lang="en-US" sz="1500" b="1" dirty="0">
                <a:solidFill>
                  <a:srgbClr val="FF5C5C"/>
                </a:solidFill>
                <a:latin typeface="Calibri" pitchFamily="34" charset="0"/>
                <a:ea typeface="Calibri" pitchFamily="34" charset="-122"/>
                <a:cs typeface="Calibri" pitchFamily="34" charset="-120"/>
              </a:rPr>
              <a:t>⚠  Phishing Website</a:t>
            </a:r>
            <a:endParaRPr lang="en-US" sz="1500" dirty="0"/>
          </a:p>
        </p:txBody>
      </p:sp>
      <p:sp>
        <p:nvSpPr>
          <p:cNvPr id="12" name="Shape 9"/>
          <p:cNvSpPr/>
          <p:nvPr/>
        </p:nvSpPr>
        <p:spPr>
          <a:xfrm>
            <a:off x="868680" y="3465576"/>
            <a:ext cx="91440" cy="91440"/>
          </a:xfrm>
          <a:prstGeom prst="ellipse">
            <a:avLst/>
          </a:prstGeom>
          <a:solidFill>
            <a:srgbClr val="2FD9C9"/>
          </a:solidFill>
          <a:ln/>
        </p:spPr>
      </p:sp>
      <p:sp>
        <p:nvSpPr>
          <p:cNvPr id="13" name="Text 10"/>
          <p:cNvSpPr/>
          <p:nvPr/>
        </p:nvSpPr>
        <p:spPr>
          <a:xfrm>
            <a:off x="1124712" y="3383280"/>
            <a:ext cx="4498848" cy="365760"/>
          </a:xfrm>
          <a:prstGeom prst="rect">
            <a:avLst/>
          </a:prstGeom>
          <a:noFill/>
          <a:ln/>
        </p:spPr>
        <p:txBody>
          <a:bodyPr wrap="square" lIns="0" tIns="0" rIns="0" bIns="0" rtlCol="0" anchor="t"/>
          <a:lstStyle/>
          <a:p>
            <a:pPr indent="0" marL="0">
              <a:lnSpc>
                <a:spcPct val="115000"/>
              </a:lnSpc>
              <a:buNone/>
            </a:pPr>
            <a:r>
              <a:rPr lang="en-US" sz="1250" dirty="0">
                <a:solidFill>
                  <a:srgbClr val="D7E1EC"/>
                </a:solidFill>
                <a:latin typeface="Calibri" pitchFamily="34" charset="0"/>
                <a:ea typeface="Calibri" pitchFamily="34" charset="-122"/>
                <a:cs typeface="Calibri" pitchFamily="34" charset="-120"/>
              </a:rPr>
              <a:t>Mimics legitimate websites</a:t>
            </a:r>
            <a:endParaRPr lang="en-US" sz="1250" dirty="0"/>
          </a:p>
        </p:txBody>
      </p:sp>
      <p:sp>
        <p:nvSpPr>
          <p:cNvPr id="14" name="Shape 11"/>
          <p:cNvSpPr/>
          <p:nvPr/>
        </p:nvSpPr>
        <p:spPr>
          <a:xfrm>
            <a:off x="868680" y="3886200"/>
            <a:ext cx="91440" cy="91440"/>
          </a:xfrm>
          <a:prstGeom prst="ellipse">
            <a:avLst/>
          </a:prstGeom>
          <a:solidFill>
            <a:srgbClr val="2FD9C9"/>
          </a:solidFill>
          <a:ln/>
        </p:spPr>
      </p:sp>
      <p:sp>
        <p:nvSpPr>
          <p:cNvPr id="15" name="Text 12"/>
          <p:cNvSpPr/>
          <p:nvPr/>
        </p:nvSpPr>
        <p:spPr>
          <a:xfrm>
            <a:off x="1124712" y="3803904"/>
            <a:ext cx="4498848" cy="365760"/>
          </a:xfrm>
          <a:prstGeom prst="rect">
            <a:avLst/>
          </a:prstGeom>
          <a:noFill/>
          <a:ln/>
        </p:spPr>
        <p:txBody>
          <a:bodyPr wrap="square" lIns="0" tIns="0" rIns="0" bIns="0" rtlCol="0" anchor="t"/>
          <a:lstStyle/>
          <a:p>
            <a:pPr indent="0" marL="0">
              <a:lnSpc>
                <a:spcPct val="115000"/>
              </a:lnSpc>
              <a:buNone/>
            </a:pPr>
            <a:r>
              <a:rPr lang="en-US" sz="1250" dirty="0">
                <a:solidFill>
                  <a:srgbClr val="D7E1EC"/>
                </a:solidFill>
                <a:latin typeface="Calibri" pitchFamily="34" charset="0"/>
                <a:ea typeface="Calibri" pitchFamily="34" charset="-122"/>
                <a:cs typeface="Calibri" pitchFamily="34" charset="-120"/>
              </a:rPr>
              <a:t>Uses suspicious URL structures</a:t>
            </a:r>
            <a:endParaRPr lang="en-US" sz="1250" dirty="0"/>
          </a:p>
        </p:txBody>
      </p:sp>
      <p:sp>
        <p:nvSpPr>
          <p:cNvPr id="16" name="Shape 13"/>
          <p:cNvSpPr/>
          <p:nvPr/>
        </p:nvSpPr>
        <p:spPr>
          <a:xfrm>
            <a:off x="868680" y="4306824"/>
            <a:ext cx="91440" cy="91440"/>
          </a:xfrm>
          <a:prstGeom prst="ellipse">
            <a:avLst/>
          </a:prstGeom>
          <a:solidFill>
            <a:srgbClr val="2FD9C9"/>
          </a:solidFill>
          <a:ln/>
        </p:spPr>
      </p:sp>
      <p:sp>
        <p:nvSpPr>
          <p:cNvPr id="17" name="Text 14"/>
          <p:cNvSpPr/>
          <p:nvPr/>
        </p:nvSpPr>
        <p:spPr>
          <a:xfrm>
            <a:off x="1124712" y="4224528"/>
            <a:ext cx="4498848" cy="365760"/>
          </a:xfrm>
          <a:prstGeom prst="rect">
            <a:avLst/>
          </a:prstGeom>
          <a:noFill/>
          <a:ln/>
        </p:spPr>
        <p:txBody>
          <a:bodyPr wrap="square" lIns="0" tIns="0" rIns="0" bIns="0" rtlCol="0" anchor="t"/>
          <a:lstStyle/>
          <a:p>
            <a:pPr indent="0" marL="0">
              <a:lnSpc>
                <a:spcPct val="115000"/>
              </a:lnSpc>
              <a:buNone/>
            </a:pPr>
            <a:r>
              <a:rPr lang="en-US" sz="1250" dirty="0">
                <a:solidFill>
                  <a:srgbClr val="D7E1EC"/>
                </a:solidFill>
                <a:latin typeface="Calibri" pitchFamily="34" charset="0"/>
                <a:ea typeface="Calibri" pitchFamily="34" charset="-122"/>
                <a:cs typeface="Calibri" pitchFamily="34" charset="-120"/>
              </a:rPr>
              <a:t>May contain unusual keywords or characters</a:t>
            </a:r>
            <a:endParaRPr lang="en-US" sz="1250" dirty="0"/>
          </a:p>
        </p:txBody>
      </p:sp>
      <p:sp>
        <p:nvSpPr>
          <p:cNvPr id="18" name="Shape 15"/>
          <p:cNvSpPr/>
          <p:nvPr/>
        </p:nvSpPr>
        <p:spPr>
          <a:xfrm>
            <a:off x="868680" y="4727448"/>
            <a:ext cx="91440" cy="91440"/>
          </a:xfrm>
          <a:prstGeom prst="ellipse">
            <a:avLst/>
          </a:prstGeom>
          <a:solidFill>
            <a:srgbClr val="2FD9C9"/>
          </a:solidFill>
          <a:ln/>
        </p:spPr>
      </p:sp>
      <p:sp>
        <p:nvSpPr>
          <p:cNvPr id="19" name="Text 16"/>
          <p:cNvSpPr/>
          <p:nvPr/>
        </p:nvSpPr>
        <p:spPr>
          <a:xfrm>
            <a:off x="1124712" y="4645152"/>
            <a:ext cx="4498848" cy="365760"/>
          </a:xfrm>
          <a:prstGeom prst="rect">
            <a:avLst/>
          </a:prstGeom>
          <a:noFill/>
          <a:ln/>
        </p:spPr>
        <p:txBody>
          <a:bodyPr wrap="square" lIns="0" tIns="0" rIns="0" bIns="0" rtlCol="0" anchor="t"/>
          <a:lstStyle/>
          <a:p>
            <a:pPr indent="0" marL="0">
              <a:lnSpc>
                <a:spcPct val="115000"/>
              </a:lnSpc>
              <a:buNone/>
            </a:pPr>
            <a:r>
              <a:rPr lang="en-US" sz="1250" dirty="0">
                <a:solidFill>
                  <a:srgbClr val="D7E1EC"/>
                </a:solidFill>
                <a:latin typeface="Calibri" pitchFamily="34" charset="0"/>
                <a:ea typeface="Calibri" pitchFamily="34" charset="-122"/>
                <a:cs typeface="Calibri" pitchFamily="34" charset="-120"/>
              </a:rPr>
              <a:t>Attempts to deceive users</a:t>
            </a:r>
            <a:endParaRPr lang="en-US" sz="1250" dirty="0"/>
          </a:p>
        </p:txBody>
      </p:sp>
      <p:sp>
        <p:nvSpPr>
          <p:cNvPr id="20" name="Shape 17"/>
          <p:cNvSpPr/>
          <p:nvPr/>
        </p:nvSpPr>
        <p:spPr>
          <a:xfrm>
            <a:off x="5989320" y="2697480"/>
            <a:ext cx="5623560" cy="2331720"/>
          </a:xfrm>
          <a:prstGeom prst="roundRect">
            <a:avLst>
              <a:gd name="adj" fmla="val 3922"/>
            </a:avLst>
          </a:prstGeom>
          <a:solidFill>
            <a:srgbClr val="13273F"/>
          </a:solidFill>
          <a:ln/>
        </p:spPr>
      </p:sp>
      <p:sp>
        <p:nvSpPr>
          <p:cNvPr id="21" name="Text 18"/>
          <p:cNvSpPr/>
          <p:nvPr/>
        </p:nvSpPr>
        <p:spPr>
          <a:xfrm>
            <a:off x="6263640" y="2880360"/>
            <a:ext cx="5120640" cy="365760"/>
          </a:xfrm>
          <a:prstGeom prst="rect">
            <a:avLst/>
          </a:prstGeom>
          <a:noFill/>
          <a:ln/>
        </p:spPr>
        <p:txBody>
          <a:bodyPr wrap="square" lIns="0" tIns="0" rIns="0" bIns="0" rtlCol="0" anchor="ctr"/>
          <a:lstStyle/>
          <a:p>
            <a:pPr indent="0" marL="0">
              <a:buNone/>
            </a:pPr>
            <a:r>
              <a:rPr lang="en-US" sz="1500" b="1" dirty="0">
                <a:solidFill>
                  <a:srgbClr val="2FD9C9"/>
                </a:solidFill>
                <a:latin typeface="Calibri" pitchFamily="34" charset="0"/>
                <a:ea typeface="Calibri" pitchFamily="34" charset="-122"/>
                <a:cs typeface="Calibri" pitchFamily="34" charset="-120"/>
              </a:rPr>
              <a:t>Challenge</a:t>
            </a:r>
            <a:endParaRPr lang="en-US" sz="1500" dirty="0"/>
          </a:p>
        </p:txBody>
      </p:sp>
      <p:sp>
        <p:nvSpPr>
          <p:cNvPr id="22" name="Text 19"/>
          <p:cNvSpPr/>
          <p:nvPr/>
        </p:nvSpPr>
        <p:spPr>
          <a:xfrm>
            <a:off x="6263640" y="3383280"/>
            <a:ext cx="5120640" cy="1463040"/>
          </a:xfrm>
          <a:prstGeom prst="rect">
            <a:avLst/>
          </a:prstGeom>
          <a:noFill/>
          <a:ln/>
        </p:spPr>
        <p:txBody>
          <a:bodyPr wrap="square" lIns="0" tIns="0" rIns="0" bIns="0" rtlCol="0" anchor="t"/>
          <a:lstStyle/>
          <a:p>
            <a:pPr indent="0" marL="0">
              <a:lnSpc>
                <a:spcPct val="130000"/>
              </a:lnSpc>
              <a:buNone/>
            </a:pPr>
            <a:r>
              <a:rPr lang="en-US" sz="1300" dirty="0">
                <a:solidFill>
                  <a:srgbClr val="D7E1EC"/>
                </a:solidFill>
                <a:latin typeface="Calibri" pitchFamily="34" charset="0"/>
                <a:ea typeface="Calibri" pitchFamily="34" charset="-122"/>
                <a:cs typeface="Calibri" pitchFamily="34" charset="-120"/>
              </a:rPr>
              <a:t>Everyday users may not notice subtle differences in URLs — a swapped character, an extra keyword, or an odd domain structure — which makes manual detection unreliable.</a:t>
            </a:r>
            <a:endParaRPr lang="en-US" sz="1300" dirty="0"/>
          </a:p>
        </p:txBody>
      </p:sp>
      <p:sp>
        <p:nvSpPr>
          <p:cNvPr id="23" name="Text 20"/>
          <p:cNvSpPr/>
          <p:nvPr/>
        </p:nvSpPr>
        <p:spPr>
          <a:xfrm>
            <a:off x="548640" y="5257800"/>
            <a:ext cx="5486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Objective</a:t>
            </a:r>
            <a:endParaRPr lang="en-US" sz="1400" dirty="0"/>
          </a:p>
        </p:txBody>
      </p:sp>
      <p:sp>
        <p:nvSpPr>
          <p:cNvPr id="24" name="Text 21"/>
          <p:cNvSpPr/>
          <p:nvPr/>
        </p:nvSpPr>
        <p:spPr>
          <a:xfrm>
            <a:off x="548640" y="5577840"/>
            <a:ext cx="7772400" cy="365760"/>
          </a:xfrm>
          <a:prstGeom prst="rect">
            <a:avLst/>
          </a:prstGeom>
          <a:noFill/>
          <a:ln/>
        </p:spPr>
        <p:txBody>
          <a:bodyPr wrap="square" lIns="0" tIns="0" rIns="0" bIns="0" rtlCol="0" anchor="ctr"/>
          <a:lstStyle/>
          <a:p>
            <a:pPr indent="0" marL="0">
              <a:buNone/>
            </a:pPr>
            <a:r>
              <a:rPr lang="en-US" sz="1200" dirty="0">
                <a:solidFill>
                  <a:srgbClr val="D7E1EC"/>
                </a:solidFill>
                <a:latin typeface="Calibri" pitchFamily="34" charset="0"/>
                <a:ea typeface="Calibri" pitchFamily="34" charset="-122"/>
                <a:cs typeface="Calibri" pitchFamily="34" charset="-120"/>
              </a:rPr>
              <a:t>Use URL-based lexical and structural features to classify each URL as:</a:t>
            </a:r>
            <a:endParaRPr lang="en-US" sz="1200" dirty="0"/>
          </a:p>
        </p:txBody>
      </p:sp>
      <p:sp>
        <p:nvSpPr>
          <p:cNvPr id="25" name="Shape 22"/>
          <p:cNvSpPr/>
          <p:nvPr/>
        </p:nvSpPr>
        <p:spPr>
          <a:xfrm>
            <a:off x="8549640" y="5440680"/>
            <a:ext cx="1554480" cy="502920"/>
          </a:xfrm>
          <a:prstGeom prst="roundRect">
            <a:avLst>
              <a:gd name="adj" fmla="val 50000"/>
            </a:avLst>
          </a:prstGeom>
          <a:solidFill>
            <a:srgbClr val="2FD9C9"/>
          </a:solidFill>
          <a:ln/>
        </p:spPr>
      </p:sp>
      <p:sp>
        <p:nvSpPr>
          <p:cNvPr id="26" name="Text 23"/>
          <p:cNvSpPr/>
          <p:nvPr/>
        </p:nvSpPr>
        <p:spPr>
          <a:xfrm>
            <a:off x="8549640" y="5440680"/>
            <a:ext cx="1554480" cy="502920"/>
          </a:xfrm>
          <a:prstGeom prst="rect">
            <a:avLst/>
          </a:prstGeom>
          <a:noFill/>
          <a:ln/>
        </p:spPr>
        <p:txBody>
          <a:bodyPr wrap="square" lIns="0" tIns="0" rIns="0" bIns="0" rtlCol="0" anchor="ctr"/>
          <a:lstStyle/>
          <a:p>
            <a:pPr algn="ctr" indent="0" marL="0">
              <a:buNone/>
            </a:pPr>
            <a:r>
              <a:rPr lang="en-US" sz="1050" b="1" dirty="0">
                <a:solidFill>
                  <a:srgbClr val="0A1628"/>
                </a:solidFill>
                <a:latin typeface="Calibri" pitchFamily="34" charset="0"/>
                <a:ea typeface="Calibri" pitchFamily="34" charset="-122"/>
                <a:cs typeface="Calibri" pitchFamily="34" charset="-120"/>
              </a:rPr>
              <a:t>LEGITIMATE</a:t>
            </a:r>
            <a:endParaRPr lang="en-US" sz="1050" dirty="0"/>
          </a:p>
        </p:txBody>
      </p:sp>
      <p:sp>
        <p:nvSpPr>
          <p:cNvPr id="27" name="Shape 24"/>
          <p:cNvSpPr/>
          <p:nvPr/>
        </p:nvSpPr>
        <p:spPr>
          <a:xfrm>
            <a:off x="10241280" y="5440680"/>
            <a:ext cx="1371600" cy="502920"/>
          </a:xfrm>
          <a:prstGeom prst="roundRect">
            <a:avLst>
              <a:gd name="adj" fmla="val 50000"/>
            </a:avLst>
          </a:prstGeom>
          <a:solidFill>
            <a:srgbClr val="FF5C5C"/>
          </a:solidFill>
          <a:ln/>
        </p:spPr>
      </p:sp>
      <p:sp>
        <p:nvSpPr>
          <p:cNvPr id="28" name="Text 25"/>
          <p:cNvSpPr/>
          <p:nvPr/>
        </p:nvSpPr>
        <p:spPr>
          <a:xfrm>
            <a:off x="10241280" y="5440680"/>
            <a:ext cx="137160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PHISHING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424160" y="-2377440"/>
            <a:ext cx="3474720" cy="3474720"/>
          </a:xfrm>
          <a:prstGeom prst="ellipse">
            <a:avLst/>
          </a:prstGeom>
          <a:solidFill>
            <a:srgbClr val="13273F"/>
          </a:solidFill>
          <a:ln/>
        </p:spPr>
      </p:sp>
      <p:sp>
        <p:nvSpPr>
          <p:cNvPr id="3" name="Shape 1"/>
          <p:cNvSpPr/>
          <p:nvPr/>
        </p:nvSpPr>
        <p:spPr>
          <a:xfrm>
            <a:off x="-2011680" y="6309360"/>
            <a:ext cx="2926080" cy="2926080"/>
          </a:xfrm>
          <a:prstGeom prst="ellipse">
            <a:avLst/>
          </a:prstGeom>
          <a:solidFill>
            <a:srgbClr val="13273F"/>
          </a:solidFill>
          <a:ln/>
        </p:spPr>
      </p:sp>
      <p:sp>
        <p:nvSpPr>
          <p:cNvPr id="4" name="Text 2"/>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FD9C9"/>
                </a:solidFill>
                <a:latin typeface="Calibri" pitchFamily="34" charset="0"/>
                <a:ea typeface="Calibri" pitchFamily="34" charset="-122"/>
                <a:cs typeface="Calibri" pitchFamily="34" charset="-120"/>
              </a:rPr>
              <a:t>OBJECTIVES</a:t>
            </a:r>
            <a:endParaRPr lang="en-US" sz="1300" dirty="0"/>
          </a:p>
        </p:txBody>
      </p:sp>
      <p:sp>
        <p:nvSpPr>
          <p:cNvPr id="5" name="Text 3"/>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Project Objectives</a:t>
            </a:r>
            <a:endParaRPr lang="en-US" sz="2800" dirty="0"/>
          </a:p>
        </p:txBody>
      </p:sp>
      <p:sp>
        <p:nvSpPr>
          <p:cNvPr id="6" name="Text 4"/>
          <p:cNvSpPr/>
          <p:nvPr/>
        </p:nvSpPr>
        <p:spPr>
          <a:xfrm>
            <a:off x="11247120" y="6473952"/>
            <a:ext cx="457200" cy="228600"/>
          </a:xfrm>
          <a:prstGeom prst="rect">
            <a:avLst/>
          </a:prstGeom>
          <a:noFill/>
          <a:ln/>
        </p:spPr>
        <p:txBody>
          <a:bodyPr wrap="square" lIns="0" tIns="0" rIns="0" bIns="0" rtlCol="0" anchor="ctr"/>
          <a:lstStyle/>
          <a:p>
            <a:pPr algn="r" indent="0" marL="0">
              <a:buNone/>
            </a:pPr>
            <a:r>
              <a:rPr lang="en-US" sz="900" dirty="0">
                <a:solidFill>
                  <a:srgbClr val="8598AD"/>
                </a:solidFill>
                <a:latin typeface="Calibri" pitchFamily="34" charset="0"/>
                <a:ea typeface="Calibri" pitchFamily="34" charset="-122"/>
                <a:cs typeface="Calibri" pitchFamily="34" charset="-120"/>
              </a:rPr>
              <a:t>4</a:t>
            </a:r>
            <a:endParaRPr lang="en-US" sz="900" dirty="0"/>
          </a:p>
        </p:txBody>
      </p:sp>
      <p:sp>
        <p:nvSpPr>
          <p:cNvPr id="8" name="Shape 5"/>
          <p:cNvSpPr/>
          <p:nvPr/>
        </p:nvSpPr>
        <p:spPr>
          <a:xfrm>
            <a:off x="548640" y="1645920"/>
            <a:ext cx="2651760" cy="2926080"/>
          </a:xfrm>
          <a:prstGeom prst="roundRect">
            <a:avLst>
              <a:gd name="adj" fmla="val 3448"/>
            </a:avLst>
          </a:prstGeom>
          <a:solidFill>
            <a:srgbClr val="13273F"/>
          </a:solidFill>
          <a:ln/>
        </p:spPr>
      </p:sp>
      <p:sp>
        <p:nvSpPr>
          <p:cNvPr id="9" name="Shape 6"/>
          <p:cNvSpPr/>
          <p:nvPr/>
        </p:nvSpPr>
        <p:spPr>
          <a:xfrm>
            <a:off x="777240" y="1874520"/>
            <a:ext cx="502920" cy="502920"/>
          </a:xfrm>
          <a:prstGeom prst="ellipse">
            <a:avLst/>
          </a:prstGeom>
          <a:solidFill>
            <a:srgbClr val="2FD9C9"/>
          </a:solidFill>
          <a:ln/>
        </p:spPr>
      </p:sp>
      <p:sp>
        <p:nvSpPr>
          <p:cNvPr id="10" name="Text 7"/>
          <p:cNvSpPr/>
          <p:nvPr/>
        </p:nvSpPr>
        <p:spPr>
          <a:xfrm>
            <a:off x="777240" y="1874520"/>
            <a:ext cx="502920" cy="502920"/>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777240" y="2560320"/>
            <a:ext cx="22402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Extract URL Features</a:t>
            </a:r>
            <a:endParaRPr lang="en-US" sz="1600" dirty="0"/>
          </a:p>
        </p:txBody>
      </p:sp>
      <p:sp>
        <p:nvSpPr>
          <p:cNvPr id="12" name="Text 9"/>
          <p:cNvSpPr/>
          <p:nvPr/>
        </p:nvSpPr>
        <p:spPr>
          <a:xfrm>
            <a:off x="777240" y="3063240"/>
            <a:ext cx="2240280" cy="1417320"/>
          </a:xfrm>
          <a:prstGeom prst="rect">
            <a:avLst/>
          </a:prstGeom>
          <a:noFill/>
          <a:ln/>
        </p:spPr>
        <p:txBody>
          <a:bodyPr wrap="square" lIns="0" tIns="0" rIns="0" bIns="0" rtlCol="0" anchor="t"/>
          <a:lstStyle/>
          <a:p>
            <a:pPr indent="0" marL="0">
              <a:lnSpc>
                <a:spcPct val="125000"/>
              </a:lnSpc>
              <a:buNone/>
            </a:pPr>
            <a:r>
              <a:rPr lang="en-US" sz="1150" dirty="0">
                <a:solidFill>
                  <a:srgbClr val="D7E1EC"/>
                </a:solidFill>
                <a:latin typeface="Calibri" pitchFamily="34" charset="0"/>
                <a:ea typeface="Calibri" pitchFamily="34" charset="-122"/>
                <a:cs typeface="Calibri" pitchFamily="34" charset="-120"/>
              </a:rPr>
              <a:t>Derive lexical and structural features — length, special characters, keywords, domain structure, tokens — using NLP techniques.</a:t>
            </a:r>
            <a:endParaRPr lang="en-US" sz="1150" dirty="0"/>
          </a:p>
        </p:txBody>
      </p:sp>
      <p:sp>
        <p:nvSpPr>
          <p:cNvPr id="13" name="Shape 10"/>
          <p:cNvSpPr/>
          <p:nvPr/>
        </p:nvSpPr>
        <p:spPr>
          <a:xfrm>
            <a:off x="3355848" y="1645920"/>
            <a:ext cx="2651760" cy="2926080"/>
          </a:xfrm>
          <a:prstGeom prst="roundRect">
            <a:avLst>
              <a:gd name="adj" fmla="val 3448"/>
            </a:avLst>
          </a:prstGeom>
          <a:solidFill>
            <a:srgbClr val="13273F"/>
          </a:solidFill>
          <a:ln/>
        </p:spPr>
      </p:sp>
      <p:sp>
        <p:nvSpPr>
          <p:cNvPr id="14" name="Shape 11"/>
          <p:cNvSpPr/>
          <p:nvPr/>
        </p:nvSpPr>
        <p:spPr>
          <a:xfrm>
            <a:off x="3584448" y="1874520"/>
            <a:ext cx="502920" cy="502920"/>
          </a:xfrm>
          <a:prstGeom prst="ellipse">
            <a:avLst/>
          </a:prstGeom>
          <a:solidFill>
            <a:srgbClr val="2FD9C9"/>
          </a:solidFill>
          <a:ln/>
        </p:spPr>
      </p:sp>
      <p:sp>
        <p:nvSpPr>
          <p:cNvPr id="15" name="Text 12"/>
          <p:cNvSpPr/>
          <p:nvPr/>
        </p:nvSpPr>
        <p:spPr>
          <a:xfrm>
            <a:off x="3584448" y="1874520"/>
            <a:ext cx="502920" cy="502920"/>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16" name="Text 13"/>
          <p:cNvSpPr/>
          <p:nvPr/>
        </p:nvSpPr>
        <p:spPr>
          <a:xfrm>
            <a:off x="3584448" y="2560320"/>
            <a:ext cx="22402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Train a Classifier</a:t>
            </a:r>
            <a:endParaRPr lang="en-US" sz="1600" dirty="0"/>
          </a:p>
        </p:txBody>
      </p:sp>
      <p:sp>
        <p:nvSpPr>
          <p:cNvPr id="17" name="Text 14"/>
          <p:cNvSpPr/>
          <p:nvPr/>
        </p:nvSpPr>
        <p:spPr>
          <a:xfrm>
            <a:off x="3584448" y="3063240"/>
            <a:ext cx="2240280" cy="1417320"/>
          </a:xfrm>
          <a:prstGeom prst="rect">
            <a:avLst/>
          </a:prstGeom>
          <a:noFill/>
          <a:ln/>
        </p:spPr>
        <p:txBody>
          <a:bodyPr wrap="square" lIns="0" tIns="0" rIns="0" bIns="0" rtlCol="0" anchor="t"/>
          <a:lstStyle/>
          <a:p>
            <a:pPr indent="0" marL="0">
              <a:lnSpc>
                <a:spcPct val="125000"/>
              </a:lnSpc>
              <a:buNone/>
            </a:pPr>
            <a:r>
              <a:rPr lang="en-US" sz="1150" dirty="0">
                <a:solidFill>
                  <a:srgbClr val="D7E1EC"/>
                </a:solidFill>
                <a:latin typeface="Calibri" pitchFamily="34" charset="0"/>
                <a:ea typeface="Calibri" pitchFamily="34" charset="-122"/>
                <a:cs typeface="Calibri" pitchFamily="34" charset="-120"/>
              </a:rPr>
              <a:t>Train a Random Forest model for supervised binary classification: legitimate vs. phishing.</a:t>
            </a:r>
            <a:endParaRPr lang="en-US" sz="1150" dirty="0"/>
          </a:p>
        </p:txBody>
      </p:sp>
      <p:sp>
        <p:nvSpPr>
          <p:cNvPr id="18" name="Shape 15"/>
          <p:cNvSpPr/>
          <p:nvPr/>
        </p:nvSpPr>
        <p:spPr>
          <a:xfrm>
            <a:off x="6163056" y="1645920"/>
            <a:ext cx="2651760" cy="2926080"/>
          </a:xfrm>
          <a:prstGeom prst="roundRect">
            <a:avLst>
              <a:gd name="adj" fmla="val 3448"/>
            </a:avLst>
          </a:prstGeom>
          <a:solidFill>
            <a:srgbClr val="13273F"/>
          </a:solidFill>
          <a:ln/>
        </p:spPr>
      </p:sp>
      <p:sp>
        <p:nvSpPr>
          <p:cNvPr id="19" name="Shape 16"/>
          <p:cNvSpPr/>
          <p:nvPr/>
        </p:nvSpPr>
        <p:spPr>
          <a:xfrm>
            <a:off x="6391656" y="1874520"/>
            <a:ext cx="502920" cy="502920"/>
          </a:xfrm>
          <a:prstGeom prst="ellipse">
            <a:avLst/>
          </a:prstGeom>
          <a:solidFill>
            <a:srgbClr val="2FD9C9"/>
          </a:solidFill>
          <a:ln/>
        </p:spPr>
      </p:sp>
      <p:sp>
        <p:nvSpPr>
          <p:cNvPr id="20" name="Text 17"/>
          <p:cNvSpPr/>
          <p:nvPr/>
        </p:nvSpPr>
        <p:spPr>
          <a:xfrm>
            <a:off x="6391656" y="1874520"/>
            <a:ext cx="502920" cy="502920"/>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21" name="Text 18"/>
          <p:cNvSpPr/>
          <p:nvPr/>
        </p:nvSpPr>
        <p:spPr>
          <a:xfrm>
            <a:off x="6391656" y="2560320"/>
            <a:ext cx="22402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Minimize Errors</a:t>
            </a:r>
            <a:endParaRPr lang="en-US" sz="1600" dirty="0"/>
          </a:p>
        </p:txBody>
      </p:sp>
      <p:sp>
        <p:nvSpPr>
          <p:cNvPr id="22" name="Text 19"/>
          <p:cNvSpPr/>
          <p:nvPr/>
        </p:nvSpPr>
        <p:spPr>
          <a:xfrm>
            <a:off x="6391656" y="3063240"/>
            <a:ext cx="2240280" cy="1417320"/>
          </a:xfrm>
          <a:prstGeom prst="rect">
            <a:avLst/>
          </a:prstGeom>
          <a:noFill/>
          <a:ln/>
        </p:spPr>
        <p:txBody>
          <a:bodyPr wrap="square" lIns="0" tIns="0" rIns="0" bIns="0" rtlCol="0" anchor="t"/>
          <a:lstStyle/>
          <a:p>
            <a:pPr indent="0" marL="0">
              <a:lnSpc>
                <a:spcPct val="125000"/>
              </a:lnSpc>
              <a:buNone/>
            </a:pPr>
            <a:r>
              <a:rPr lang="en-US" sz="1150" dirty="0">
                <a:solidFill>
                  <a:srgbClr val="D7E1EC"/>
                </a:solidFill>
                <a:latin typeface="Calibri" pitchFamily="34" charset="0"/>
                <a:ea typeface="Calibri" pitchFamily="34" charset="-122"/>
                <a:cs typeface="Calibri" pitchFamily="34" charset="-120"/>
              </a:rPr>
              <a:t>Aim for high detection accuracy while keeping the false-positive rate low.</a:t>
            </a:r>
            <a:endParaRPr lang="en-US" sz="1150" dirty="0"/>
          </a:p>
        </p:txBody>
      </p:sp>
      <p:sp>
        <p:nvSpPr>
          <p:cNvPr id="23" name="Shape 20"/>
          <p:cNvSpPr/>
          <p:nvPr/>
        </p:nvSpPr>
        <p:spPr>
          <a:xfrm>
            <a:off x="8970264" y="1645920"/>
            <a:ext cx="2651760" cy="2926080"/>
          </a:xfrm>
          <a:prstGeom prst="roundRect">
            <a:avLst>
              <a:gd name="adj" fmla="val 3448"/>
            </a:avLst>
          </a:prstGeom>
          <a:solidFill>
            <a:srgbClr val="13273F"/>
          </a:solidFill>
          <a:ln/>
        </p:spPr>
      </p:sp>
      <p:sp>
        <p:nvSpPr>
          <p:cNvPr id="24" name="Shape 21"/>
          <p:cNvSpPr/>
          <p:nvPr/>
        </p:nvSpPr>
        <p:spPr>
          <a:xfrm>
            <a:off x="9198864" y="1874520"/>
            <a:ext cx="502920" cy="502920"/>
          </a:xfrm>
          <a:prstGeom prst="ellipse">
            <a:avLst/>
          </a:prstGeom>
          <a:solidFill>
            <a:srgbClr val="2FD9C9"/>
          </a:solidFill>
          <a:ln/>
        </p:spPr>
      </p:sp>
      <p:sp>
        <p:nvSpPr>
          <p:cNvPr id="25" name="Text 22"/>
          <p:cNvSpPr/>
          <p:nvPr/>
        </p:nvSpPr>
        <p:spPr>
          <a:xfrm>
            <a:off x="9198864" y="1874520"/>
            <a:ext cx="502920" cy="502920"/>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26" name="Text 23"/>
          <p:cNvSpPr/>
          <p:nvPr/>
        </p:nvSpPr>
        <p:spPr>
          <a:xfrm>
            <a:off x="9198864" y="2560320"/>
            <a:ext cx="22402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Make It Usable</a:t>
            </a:r>
            <a:endParaRPr lang="en-US" sz="1600" dirty="0"/>
          </a:p>
        </p:txBody>
      </p:sp>
      <p:sp>
        <p:nvSpPr>
          <p:cNvPr id="27" name="Text 24"/>
          <p:cNvSpPr/>
          <p:nvPr/>
        </p:nvSpPr>
        <p:spPr>
          <a:xfrm>
            <a:off x="9198864" y="3063240"/>
            <a:ext cx="2240280" cy="1417320"/>
          </a:xfrm>
          <a:prstGeom prst="rect">
            <a:avLst/>
          </a:prstGeom>
          <a:noFill/>
          <a:ln/>
        </p:spPr>
        <p:txBody>
          <a:bodyPr wrap="square" lIns="0" tIns="0" rIns="0" bIns="0" rtlCol="0" anchor="t"/>
          <a:lstStyle/>
          <a:p>
            <a:pPr indent="0" marL="0">
              <a:lnSpc>
                <a:spcPct val="125000"/>
              </a:lnSpc>
              <a:buNone/>
            </a:pPr>
            <a:r>
              <a:rPr lang="en-US" sz="1150" dirty="0">
                <a:solidFill>
                  <a:srgbClr val="D7E1EC"/>
                </a:solidFill>
                <a:latin typeface="Calibri" pitchFamily="34" charset="0"/>
                <a:ea typeface="Calibri" pitchFamily="34" charset="-122"/>
                <a:cs typeface="Calibri" pitchFamily="34" charset="-120"/>
              </a:rPr>
              <a:t>Deliver the model through a web application, PhishingLens, so users can check links before visiting them.</a:t>
            </a:r>
            <a:endParaRPr lang="en-US" sz="1150" dirty="0"/>
          </a:p>
        </p:txBody>
      </p:sp>
      <p:sp>
        <p:nvSpPr>
          <p:cNvPr id="28" name="Shape 25"/>
          <p:cNvSpPr/>
          <p:nvPr/>
        </p:nvSpPr>
        <p:spPr>
          <a:xfrm>
            <a:off x="548640" y="4937760"/>
            <a:ext cx="11064240" cy="868680"/>
          </a:xfrm>
          <a:prstGeom prst="roundRect">
            <a:avLst>
              <a:gd name="adj" fmla="val 10526"/>
            </a:avLst>
          </a:prstGeom>
          <a:solidFill>
            <a:srgbClr val="1B3552"/>
          </a:solidFill>
          <a:ln w="12700">
            <a:solidFill>
              <a:srgbClr val="2FD9C9"/>
            </a:solidFill>
            <a:prstDash val="solid"/>
          </a:ln>
        </p:spPr>
      </p:sp>
      <p:sp>
        <p:nvSpPr>
          <p:cNvPr id="29" name="Text 26"/>
          <p:cNvSpPr/>
          <p:nvPr/>
        </p:nvSpPr>
        <p:spPr>
          <a:xfrm>
            <a:off x="822960" y="4937760"/>
            <a:ext cx="10515600" cy="868680"/>
          </a:xfrm>
          <a:prstGeom prst="rect">
            <a:avLst/>
          </a:prstGeom>
          <a:noFill/>
          <a:ln/>
        </p:spPr>
        <p:txBody>
          <a:bodyPr wrap="square" lIns="0" tIns="0" rIns="0" bIns="0" rtlCol="0" anchor="ctr"/>
          <a:lstStyle/>
          <a:p>
            <a:pPr indent="0" marL="0">
              <a:lnSpc>
                <a:spcPct val="115000"/>
              </a:lnSpc>
              <a:buNone/>
            </a:pPr>
            <a:r>
              <a:rPr lang="en-US" sz="1300" b="1" dirty="0">
                <a:solidFill>
                  <a:srgbClr val="2FD9C9"/>
                </a:solidFill>
                <a:latin typeface="Calibri" pitchFamily="34" charset="0"/>
                <a:ea typeface="Calibri" pitchFamily="34" charset="-122"/>
                <a:cs typeface="Calibri" pitchFamily="34" charset="-120"/>
              </a:rPr>
              <a:t>Outcome:  </a:t>
            </a:r>
            <a:pPr indent="0" marL="0">
              <a:lnSpc>
                <a:spcPct val="115000"/>
              </a:lnSpc>
              <a:buNone/>
            </a:pPr>
            <a:r>
              <a:rPr lang="en-US" sz="1250" dirty="0">
                <a:solidFill>
                  <a:srgbClr val="D7E1EC"/>
                </a:solidFill>
                <a:latin typeface="Calibri" pitchFamily="34" charset="0"/>
                <a:ea typeface="Calibri" pitchFamily="34" charset="-122"/>
                <a:cs typeface="Calibri" pitchFamily="34" charset="-120"/>
              </a:rPr>
              <a:t>A working demonstration of supervised Machine Learning applied to a real cybersecurity problem.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424160" y="-2377440"/>
            <a:ext cx="3474720" cy="3474720"/>
          </a:xfrm>
          <a:prstGeom prst="ellipse">
            <a:avLst/>
          </a:prstGeom>
          <a:solidFill>
            <a:srgbClr val="13273F"/>
          </a:solidFill>
          <a:ln/>
        </p:spPr>
      </p:sp>
      <p:sp>
        <p:nvSpPr>
          <p:cNvPr id="3" name="Shape 1"/>
          <p:cNvSpPr/>
          <p:nvPr/>
        </p:nvSpPr>
        <p:spPr>
          <a:xfrm>
            <a:off x="-2011680" y="6309360"/>
            <a:ext cx="2926080" cy="2926080"/>
          </a:xfrm>
          <a:prstGeom prst="ellipse">
            <a:avLst/>
          </a:prstGeom>
          <a:solidFill>
            <a:srgbClr val="13273F"/>
          </a:solidFill>
          <a:ln/>
        </p:spPr>
      </p:sp>
      <p:sp>
        <p:nvSpPr>
          <p:cNvPr id="4" name="Text 2"/>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FD9C9"/>
                </a:solidFill>
                <a:latin typeface="Calibri" pitchFamily="34" charset="0"/>
                <a:ea typeface="Calibri" pitchFamily="34" charset="-122"/>
                <a:cs typeface="Calibri" pitchFamily="34" charset="-120"/>
              </a:rPr>
              <a:t>METHODOLOGY</a:t>
            </a:r>
            <a:endParaRPr lang="en-US" sz="1300" dirty="0"/>
          </a:p>
        </p:txBody>
      </p:sp>
      <p:sp>
        <p:nvSpPr>
          <p:cNvPr id="5" name="Text 3"/>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ML Pipeline &amp; Methodology</a:t>
            </a:r>
            <a:endParaRPr lang="en-US" sz="2800" dirty="0"/>
          </a:p>
        </p:txBody>
      </p:sp>
      <p:sp>
        <p:nvSpPr>
          <p:cNvPr id="6" name="Text 4"/>
          <p:cNvSpPr/>
          <p:nvPr/>
        </p:nvSpPr>
        <p:spPr>
          <a:xfrm>
            <a:off x="11247120" y="6473952"/>
            <a:ext cx="457200" cy="228600"/>
          </a:xfrm>
          <a:prstGeom prst="rect">
            <a:avLst/>
          </a:prstGeom>
          <a:noFill/>
          <a:ln/>
        </p:spPr>
        <p:txBody>
          <a:bodyPr wrap="square" lIns="0" tIns="0" rIns="0" bIns="0" rtlCol="0" anchor="ctr"/>
          <a:lstStyle/>
          <a:p>
            <a:pPr algn="r" indent="0" marL="0">
              <a:buNone/>
            </a:pPr>
            <a:r>
              <a:rPr lang="en-US" sz="900" dirty="0">
                <a:solidFill>
                  <a:srgbClr val="8598AD"/>
                </a:solidFill>
                <a:latin typeface="Calibri" pitchFamily="34" charset="0"/>
                <a:ea typeface="Calibri" pitchFamily="34" charset="-122"/>
                <a:cs typeface="Calibri" pitchFamily="34" charset="-120"/>
              </a:rPr>
              <a:t>5</a:t>
            </a:r>
            <a:endParaRPr lang="en-US" sz="900" dirty="0"/>
          </a:p>
        </p:txBody>
      </p:sp>
      <p:sp>
        <p:nvSpPr>
          <p:cNvPr id="8" name="Shape 5"/>
          <p:cNvSpPr/>
          <p:nvPr/>
        </p:nvSpPr>
        <p:spPr>
          <a:xfrm>
            <a:off x="548640" y="1508760"/>
            <a:ext cx="1645920" cy="822960"/>
          </a:xfrm>
          <a:prstGeom prst="roundRect">
            <a:avLst>
              <a:gd name="adj" fmla="val 10000"/>
            </a:avLst>
          </a:prstGeom>
          <a:solidFill>
            <a:srgbClr val="1B3552"/>
          </a:solidFill>
          <a:ln w="12700">
            <a:solidFill>
              <a:srgbClr val="2A4A6B"/>
            </a:solidFill>
            <a:prstDash val="solid"/>
          </a:ln>
        </p:spPr>
      </p:sp>
      <p:sp>
        <p:nvSpPr>
          <p:cNvPr id="9" name="Text 6"/>
          <p:cNvSpPr/>
          <p:nvPr/>
        </p:nvSpPr>
        <p:spPr>
          <a:xfrm>
            <a:off x="621792" y="1508760"/>
            <a:ext cx="1499616" cy="82296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Input</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URL</a:t>
            </a:r>
            <a:endParaRPr lang="en-US" sz="1100" dirty="0"/>
          </a:p>
        </p:txBody>
      </p:sp>
      <p:sp>
        <p:nvSpPr>
          <p:cNvPr id="10" name="Shape 7"/>
          <p:cNvSpPr/>
          <p:nvPr/>
        </p:nvSpPr>
        <p:spPr>
          <a:xfrm>
            <a:off x="2212848" y="1837944"/>
            <a:ext cx="164592" cy="164592"/>
          </a:xfrm>
          <a:prstGeom prst="rightArrow">
            <a:avLst/>
          </a:prstGeom>
          <a:solidFill>
            <a:srgbClr val="2FD9C9"/>
          </a:solidFill>
          <a:ln/>
        </p:spPr>
      </p:sp>
      <p:sp>
        <p:nvSpPr>
          <p:cNvPr id="11" name="Shape 8"/>
          <p:cNvSpPr/>
          <p:nvPr/>
        </p:nvSpPr>
        <p:spPr>
          <a:xfrm>
            <a:off x="2395728" y="1508760"/>
            <a:ext cx="1645920" cy="822960"/>
          </a:xfrm>
          <a:prstGeom prst="roundRect">
            <a:avLst>
              <a:gd name="adj" fmla="val 10000"/>
            </a:avLst>
          </a:prstGeom>
          <a:solidFill>
            <a:srgbClr val="1B3552"/>
          </a:solidFill>
          <a:ln w="12700">
            <a:solidFill>
              <a:srgbClr val="2A4A6B"/>
            </a:solidFill>
            <a:prstDash val="solid"/>
          </a:ln>
        </p:spPr>
      </p:sp>
      <p:sp>
        <p:nvSpPr>
          <p:cNvPr id="12" name="Text 9"/>
          <p:cNvSpPr/>
          <p:nvPr/>
        </p:nvSpPr>
        <p:spPr>
          <a:xfrm>
            <a:off x="2468880" y="1508760"/>
            <a:ext cx="1499616" cy="82296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URL</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Preprocessing</a:t>
            </a:r>
            <a:endParaRPr lang="en-US" sz="1100" dirty="0"/>
          </a:p>
        </p:txBody>
      </p:sp>
      <p:sp>
        <p:nvSpPr>
          <p:cNvPr id="13" name="Shape 10"/>
          <p:cNvSpPr/>
          <p:nvPr/>
        </p:nvSpPr>
        <p:spPr>
          <a:xfrm>
            <a:off x="4059936" y="1837944"/>
            <a:ext cx="164592" cy="164592"/>
          </a:xfrm>
          <a:prstGeom prst="rightArrow">
            <a:avLst/>
          </a:prstGeom>
          <a:solidFill>
            <a:srgbClr val="2FD9C9"/>
          </a:solidFill>
          <a:ln/>
        </p:spPr>
      </p:sp>
      <p:sp>
        <p:nvSpPr>
          <p:cNvPr id="14" name="Shape 11"/>
          <p:cNvSpPr/>
          <p:nvPr/>
        </p:nvSpPr>
        <p:spPr>
          <a:xfrm>
            <a:off x="4242816" y="1508760"/>
            <a:ext cx="1645920" cy="822960"/>
          </a:xfrm>
          <a:prstGeom prst="roundRect">
            <a:avLst>
              <a:gd name="adj" fmla="val 10000"/>
            </a:avLst>
          </a:prstGeom>
          <a:solidFill>
            <a:srgbClr val="1B3552"/>
          </a:solidFill>
          <a:ln w="12700">
            <a:solidFill>
              <a:srgbClr val="2A4A6B"/>
            </a:solidFill>
            <a:prstDash val="solid"/>
          </a:ln>
        </p:spPr>
      </p:sp>
      <p:sp>
        <p:nvSpPr>
          <p:cNvPr id="15" name="Text 12"/>
          <p:cNvSpPr/>
          <p:nvPr/>
        </p:nvSpPr>
        <p:spPr>
          <a:xfrm>
            <a:off x="4315968" y="1508760"/>
            <a:ext cx="1499616" cy="82296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NLP Feature</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Extraction</a:t>
            </a:r>
            <a:endParaRPr lang="en-US" sz="1100" dirty="0"/>
          </a:p>
        </p:txBody>
      </p:sp>
      <p:sp>
        <p:nvSpPr>
          <p:cNvPr id="16" name="Shape 13"/>
          <p:cNvSpPr/>
          <p:nvPr/>
        </p:nvSpPr>
        <p:spPr>
          <a:xfrm>
            <a:off x="5907024" y="1837944"/>
            <a:ext cx="164592" cy="164592"/>
          </a:xfrm>
          <a:prstGeom prst="rightArrow">
            <a:avLst/>
          </a:prstGeom>
          <a:solidFill>
            <a:srgbClr val="2FD9C9"/>
          </a:solidFill>
          <a:ln/>
        </p:spPr>
      </p:sp>
      <p:sp>
        <p:nvSpPr>
          <p:cNvPr id="17" name="Shape 14"/>
          <p:cNvSpPr/>
          <p:nvPr/>
        </p:nvSpPr>
        <p:spPr>
          <a:xfrm>
            <a:off x="6089904" y="1508760"/>
            <a:ext cx="1645920" cy="822960"/>
          </a:xfrm>
          <a:prstGeom prst="roundRect">
            <a:avLst>
              <a:gd name="adj" fmla="val 10000"/>
            </a:avLst>
          </a:prstGeom>
          <a:solidFill>
            <a:srgbClr val="1B3552"/>
          </a:solidFill>
          <a:ln w="12700">
            <a:solidFill>
              <a:srgbClr val="2A4A6B"/>
            </a:solidFill>
            <a:prstDash val="solid"/>
          </a:ln>
        </p:spPr>
      </p:sp>
      <p:sp>
        <p:nvSpPr>
          <p:cNvPr id="18" name="Text 15"/>
          <p:cNvSpPr/>
          <p:nvPr/>
        </p:nvSpPr>
        <p:spPr>
          <a:xfrm>
            <a:off x="6163056" y="1508760"/>
            <a:ext cx="1499616" cy="82296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Engineering</a:t>
            </a:r>
            <a:endParaRPr lang="en-US" sz="1100" dirty="0"/>
          </a:p>
        </p:txBody>
      </p:sp>
      <p:sp>
        <p:nvSpPr>
          <p:cNvPr id="19" name="Shape 16"/>
          <p:cNvSpPr/>
          <p:nvPr/>
        </p:nvSpPr>
        <p:spPr>
          <a:xfrm>
            <a:off x="7754112" y="1837944"/>
            <a:ext cx="164592" cy="164592"/>
          </a:xfrm>
          <a:prstGeom prst="rightArrow">
            <a:avLst/>
          </a:prstGeom>
          <a:solidFill>
            <a:srgbClr val="2FD9C9"/>
          </a:solidFill>
          <a:ln/>
        </p:spPr>
      </p:sp>
      <p:sp>
        <p:nvSpPr>
          <p:cNvPr id="20" name="Shape 17"/>
          <p:cNvSpPr/>
          <p:nvPr/>
        </p:nvSpPr>
        <p:spPr>
          <a:xfrm>
            <a:off x="7936992" y="1508760"/>
            <a:ext cx="1645920" cy="822960"/>
          </a:xfrm>
          <a:prstGeom prst="roundRect">
            <a:avLst>
              <a:gd name="adj" fmla="val 10000"/>
            </a:avLst>
          </a:prstGeom>
          <a:solidFill>
            <a:srgbClr val="2FD9C9"/>
          </a:solidFill>
          <a:ln/>
        </p:spPr>
      </p:sp>
      <p:sp>
        <p:nvSpPr>
          <p:cNvPr id="21" name="Text 18"/>
          <p:cNvSpPr/>
          <p:nvPr/>
        </p:nvSpPr>
        <p:spPr>
          <a:xfrm>
            <a:off x="8010144" y="1508760"/>
            <a:ext cx="1499616" cy="822960"/>
          </a:xfrm>
          <a:prstGeom prst="rect">
            <a:avLst/>
          </a:prstGeom>
          <a:noFill/>
          <a:ln/>
        </p:spPr>
        <p:txBody>
          <a:bodyPr wrap="square" lIns="0" tIns="0" rIns="0" bIns="0" rtlCol="0" anchor="ctr"/>
          <a:lstStyle/>
          <a:p>
            <a:pPr algn="ctr" indent="0" marL="0">
              <a:lnSpc>
                <a:spcPct val="105000"/>
              </a:lnSpc>
              <a:buNone/>
            </a:pPr>
            <a:r>
              <a:rPr lang="en-US" sz="1100" b="1" dirty="0">
                <a:solidFill>
                  <a:srgbClr val="0A1628"/>
                </a:solidFill>
                <a:latin typeface="Calibri" pitchFamily="34" charset="0"/>
                <a:ea typeface="Calibri" pitchFamily="34" charset="-122"/>
                <a:cs typeface="Calibri" pitchFamily="34" charset="-120"/>
              </a:rPr>
              <a:t>Random Forest</a:t>
            </a:r>
            <a:endParaRPr lang="en-US" sz="1100" dirty="0"/>
          </a:p>
          <a:p>
            <a:pPr algn="ctr" indent="0" marL="0">
              <a:lnSpc>
                <a:spcPct val="105000"/>
              </a:lnSpc>
              <a:buNone/>
            </a:pPr>
            <a:r>
              <a:rPr lang="en-US" sz="1100" b="1" dirty="0">
                <a:solidFill>
                  <a:srgbClr val="0A1628"/>
                </a:solidFill>
                <a:latin typeface="Calibri" pitchFamily="34" charset="0"/>
                <a:ea typeface="Calibri" pitchFamily="34" charset="-122"/>
                <a:cs typeface="Calibri" pitchFamily="34" charset="-120"/>
              </a:rPr>
              <a:t>Classifier</a:t>
            </a:r>
            <a:endParaRPr lang="en-US" sz="1100" dirty="0"/>
          </a:p>
        </p:txBody>
      </p:sp>
      <p:sp>
        <p:nvSpPr>
          <p:cNvPr id="22" name="Shape 19"/>
          <p:cNvSpPr/>
          <p:nvPr/>
        </p:nvSpPr>
        <p:spPr>
          <a:xfrm>
            <a:off x="9601200" y="1837944"/>
            <a:ext cx="164592" cy="164592"/>
          </a:xfrm>
          <a:prstGeom prst="rightArrow">
            <a:avLst/>
          </a:prstGeom>
          <a:solidFill>
            <a:srgbClr val="2FD9C9"/>
          </a:solidFill>
          <a:ln/>
        </p:spPr>
      </p:sp>
      <p:sp>
        <p:nvSpPr>
          <p:cNvPr id="23" name="Shape 20"/>
          <p:cNvSpPr/>
          <p:nvPr/>
        </p:nvSpPr>
        <p:spPr>
          <a:xfrm>
            <a:off x="9784080" y="1508760"/>
            <a:ext cx="1645920" cy="822960"/>
          </a:xfrm>
          <a:prstGeom prst="roundRect">
            <a:avLst>
              <a:gd name="adj" fmla="val 10000"/>
            </a:avLst>
          </a:prstGeom>
          <a:solidFill>
            <a:srgbClr val="1B3552"/>
          </a:solidFill>
          <a:ln w="12700">
            <a:solidFill>
              <a:srgbClr val="2A4A6B"/>
            </a:solidFill>
            <a:prstDash val="solid"/>
          </a:ln>
        </p:spPr>
      </p:sp>
      <p:sp>
        <p:nvSpPr>
          <p:cNvPr id="24" name="Text 21"/>
          <p:cNvSpPr/>
          <p:nvPr/>
        </p:nvSpPr>
        <p:spPr>
          <a:xfrm>
            <a:off x="9857232" y="1508760"/>
            <a:ext cx="1499616" cy="82296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Predicted</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Class</a:t>
            </a:r>
            <a:endParaRPr lang="en-US" sz="1100" dirty="0"/>
          </a:p>
        </p:txBody>
      </p:sp>
      <p:sp>
        <p:nvSpPr>
          <p:cNvPr id="25" name="Shape 22"/>
          <p:cNvSpPr/>
          <p:nvPr/>
        </p:nvSpPr>
        <p:spPr>
          <a:xfrm>
            <a:off x="9372600" y="2441448"/>
            <a:ext cx="1188720" cy="329184"/>
          </a:xfrm>
          <a:prstGeom prst="roundRect">
            <a:avLst>
              <a:gd name="adj" fmla="val 50000"/>
            </a:avLst>
          </a:prstGeom>
          <a:solidFill>
            <a:srgbClr val="2FD9C9"/>
          </a:solidFill>
          <a:ln/>
        </p:spPr>
      </p:sp>
      <p:sp>
        <p:nvSpPr>
          <p:cNvPr id="26" name="Text 23"/>
          <p:cNvSpPr/>
          <p:nvPr/>
        </p:nvSpPr>
        <p:spPr>
          <a:xfrm>
            <a:off x="9372600" y="2441448"/>
            <a:ext cx="1188720" cy="329184"/>
          </a:xfrm>
          <a:prstGeom prst="rect">
            <a:avLst/>
          </a:prstGeom>
          <a:noFill/>
          <a:ln/>
        </p:spPr>
        <p:txBody>
          <a:bodyPr wrap="square" lIns="0" tIns="0" rIns="0" bIns="0" rtlCol="0" anchor="ctr"/>
          <a:lstStyle/>
          <a:p>
            <a:pPr algn="ctr" indent="0" marL="0">
              <a:buNone/>
            </a:pPr>
            <a:r>
              <a:rPr lang="en-US" sz="900" b="1" dirty="0">
                <a:solidFill>
                  <a:srgbClr val="0A1628"/>
                </a:solidFill>
                <a:latin typeface="Calibri" pitchFamily="34" charset="0"/>
                <a:ea typeface="Calibri" pitchFamily="34" charset="-122"/>
                <a:cs typeface="Calibri" pitchFamily="34" charset="-120"/>
              </a:rPr>
              <a:t>LEGITIMATE</a:t>
            </a:r>
            <a:endParaRPr lang="en-US" sz="900" dirty="0"/>
          </a:p>
        </p:txBody>
      </p:sp>
      <p:sp>
        <p:nvSpPr>
          <p:cNvPr id="27" name="Shape 24"/>
          <p:cNvSpPr/>
          <p:nvPr/>
        </p:nvSpPr>
        <p:spPr>
          <a:xfrm>
            <a:off x="10652760" y="2441448"/>
            <a:ext cx="1188720" cy="329184"/>
          </a:xfrm>
          <a:prstGeom prst="roundRect">
            <a:avLst>
              <a:gd name="adj" fmla="val 50000"/>
            </a:avLst>
          </a:prstGeom>
          <a:solidFill>
            <a:srgbClr val="FF5C5C"/>
          </a:solidFill>
          <a:ln/>
        </p:spPr>
      </p:sp>
      <p:sp>
        <p:nvSpPr>
          <p:cNvPr id="28" name="Text 25"/>
          <p:cNvSpPr/>
          <p:nvPr/>
        </p:nvSpPr>
        <p:spPr>
          <a:xfrm>
            <a:off x="10652760" y="2441448"/>
            <a:ext cx="118872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PHISHING</a:t>
            </a:r>
            <a:endParaRPr lang="en-US" sz="900" dirty="0"/>
          </a:p>
        </p:txBody>
      </p:sp>
      <p:sp>
        <p:nvSpPr>
          <p:cNvPr id="29" name="Shape 26"/>
          <p:cNvSpPr/>
          <p:nvPr/>
        </p:nvSpPr>
        <p:spPr>
          <a:xfrm>
            <a:off x="548640" y="3017520"/>
            <a:ext cx="5760720" cy="2286000"/>
          </a:xfrm>
          <a:prstGeom prst="roundRect">
            <a:avLst>
              <a:gd name="adj" fmla="val 4000"/>
            </a:avLst>
          </a:prstGeom>
          <a:solidFill>
            <a:srgbClr val="13273F"/>
          </a:solidFill>
          <a:ln/>
        </p:spPr>
      </p:sp>
      <p:sp>
        <p:nvSpPr>
          <p:cNvPr id="30" name="Text 27"/>
          <p:cNvSpPr/>
          <p:nvPr/>
        </p:nvSpPr>
        <p:spPr>
          <a:xfrm>
            <a:off x="822960" y="3172968"/>
            <a:ext cx="5303520" cy="320040"/>
          </a:xfrm>
          <a:prstGeom prst="rect">
            <a:avLst/>
          </a:prstGeom>
          <a:noFill/>
          <a:ln/>
        </p:spPr>
        <p:txBody>
          <a:bodyPr wrap="square" lIns="0" tIns="0" rIns="0" bIns="0" rtlCol="0" anchor="ctr"/>
          <a:lstStyle/>
          <a:p>
            <a:pPr indent="0" marL="0">
              <a:buNone/>
            </a:pPr>
            <a:r>
              <a:rPr lang="en-US" sz="1300" b="1" dirty="0">
                <a:solidFill>
                  <a:srgbClr val="2FD9C9"/>
                </a:solidFill>
                <a:latin typeface="Calibri" pitchFamily="34" charset="0"/>
                <a:ea typeface="Calibri" pitchFamily="34" charset="-122"/>
                <a:cs typeface="Calibri" pitchFamily="34" charset="-120"/>
              </a:rPr>
              <a:t>NLP-Based Feature Extraction</a:t>
            </a:r>
            <a:endParaRPr lang="en-US" sz="1300" dirty="0"/>
          </a:p>
        </p:txBody>
      </p:sp>
      <p:sp>
        <p:nvSpPr>
          <p:cNvPr id="31" name="Shape 28"/>
          <p:cNvSpPr/>
          <p:nvPr/>
        </p:nvSpPr>
        <p:spPr>
          <a:xfrm>
            <a:off x="777240" y="3703320"/>
            <a:ext cx="1691640" cy="548640"/>
          </a:xfrm>
          <a:prstGeom prst="roundRect">
            <a:avLst>
              <a:gd name="adj" fmla="val 13333"/>
            </a:avLst>
          </a:prstGeom>
          <a:solidFill>
            <a:srgbClr val="0A1628"/>
          </a:solidFill>
          <a:ln w="9525">
            <a:solidFill>
              <a:srgbClr val="2A4A6B"/>
            </a:solidFill>
            <a:prstDash val="solid"/>
          </a:ln>
        </p:spPr>
      </p:sp>
      <p:sp>
        <p:nvSpPr>
          <p:cNvPr id="32" name="Text 29"/>
          <p:cNvSpPr/>
          <p:nvPr/>
        </p:nvSpPr>
        <p:spPr>
          <a:xfrm>
            <a:off x="777240" y="3703320"/>
            <a:ext cx="1691640" cy="548640"/>
          </a:xfrm>
          <a:prstGeom prst="rect">
            <a:avLst/>
          </a:prstGeom>
          <a:noFill/>
          <a:ln/>
        </p:spPr>
        <p:txBody>
          <a:bodyPr wrap="square" lIns="0" tIns="0" rIns="0" bIns="0" rtlCol="0" anchor="ctr"/>
          <a:lstStyle/>
          <a:p>
            <a:pPr algn="ctr" indent="0" marL="0">
              <a:buNone/>
            </a:pPr>
            <a:r>
              <a:rPr lang="en-US" sz="1050" dirty="0">
                <a:solidFill>
                  <a:srgbClr val="D7E1EC"/>
                </a:solidFill>
                <a:latin typeface="Calibri" pitchFamily="34" charset="0"/>
                <a:ea typeface="Calibri" pitchFamily="34" charset="-122"/>
                <a:cs typeface="Calibri" pitchFamily="34" charset="-120"/>
              </a:rPr>
              <a:t>URL length</a:t>
            </a:r>
            <a:endParaRPr lang="en-US" sz="1050" dirty="0"/>
          </a:p>
        </p:txBody>
      </p:sp>
      <p:sp>
        <p:nvSpPr>
          <p:cNvPr id="33" name="Shape 30"/>
          <p:cNvSpPr/>
          <p:nvPr/>
        </p:nvSpPr>
        <p:spPr>
          <a:xfrm>
            <a:off x="2606040" y="3703320"/>
            <a:ext cx="1691640" cy="548640"/>
          </a:xfrm>
          <a:prstGeom prst="roundRect">
            <a:avLst>
              <a:gd name="adj" fmla="val 13333"/>
            </a:avLst>
          </a:prstGeom>
          <a:solidFill>
            <a:srgbClr val="0A1628"/>
          </a:solidFill>
          <a:ln w="9525">
            <a:solidFill>
              <a:srgbClr val="2A4A6B"/>
            </a:solidFill>
            <a:prstDash val="solid"/>
          </a:ln>
        </p:spPr>
      </p:sp>
      <p:sp>
        <p:nvSpPr>
          <p:cNvPr id="34" name="Text 31"/>
          <p:cNvSpPr/>
          <p:nvPr/>
        </p:nvSpPr>
        <p:spPr>
          <a:xfrm>
            <a:off x="2606040" y="3703320"/>
            <a:ext cx="1691640" cy="548640"/>
          </a:xfrm>
          <a:prstGeom prst="rect">
            <a:avLst/>
          </a:prstGeom>
          <a:noFill/>
          <a:ln/>
        </p:spPr>
        <p:txBody>
          <a:bodyPr wrap="square" lIns="0" tIns="0" rIns="0" bIns="0" rtlCol="0" anchor="ctr"/>
          <a:lstStyle/>
          <a:p>
            <a:pPr algn="ctr" indent="0" marL="0">
              <a:buNone/>
            </a:pPr>
            <a:r>
              <a:rPr lang="en-US" sz="1050" dirty="0">
                <a:solidFill>
                  <a:srgbClr val="D7E1EC"/>
                </a:solidFill>
                <a:latin typeface="Calibri" pitchFamily="34" charset="0"/>
                <a:ea typeface="Calibri" pitchFamily="34" charset="-122"/>
                <a:cs typeface="Calibri" pitchFamily="34" charset="-120"/>
              </a:rPr>
              <a:t>Special characters</a:t>
            </a:r>
            <a:endParaRPr lang="en-US" sz="1050" dirty="0"/>
          </a:p>
        </p:txBody>
      </p:sp>
      <p:sp>
        <p:nvSpPr>
          <p:cNvPr id="35" name="Shape 32"/>
          <p:cNvSpPr/>
          <p:nvPr/>
        </p:nvSpPr>
        <p:spPr>
          <a:xfrm>
            <a:off x="4434840" y="3703320"/>
            <a:ext cx="1691640" cy="548640"/>
          </a:xfrm>
          <a:prstGeom prst="roundRect">
            <a:avLst>
              <a:gd name="adj" fmla="val 13333"/>
            </a:avLst>
          </a:prstGeom>
          <a:solidFill>
            <a:srgbClr val="0A1628"/>
          </a:solidFill>
          <a:ln w="9525">
            <a:solidFill>
              <a:srgbClr val="2A4A6B"/>
            </a:solidFill>
            <a:prstDash val="solid"/>
          </a:ln>
        </p:spPr>
      </p:sp>
      <p:sp>
        <p:nvSpPr>
          <p:cNvPr id="36" name="Text 33"/>
          <p:cNvSpPr/>
          <p:nvPr/>
        </p:nvSpPr>
        <p:spPr>
          <a:xfrm>
            <a:off x="4434840" y="3703320"/>
            <a:ext cx="1691640" cy="548640"/>
          </a:xfrm>
          <a:prstGeom prst="rect">
            <a:avLst/>
          </a:prstGeom>
          <a:noFill/>
          <a:ln/>
        </p:spPr>
        <p:txBody>
          <a:bodyPr wrap="square" lIns="0" tIns="0" rIns="0" bIns="0" rtlCol="0" anchor="ctr"/>
          <a:lstStyle/>
          <a:p>
            <a:pPr algn="ctr" indent="0" marL="0">
              <a:buNone/>
            </a:pPr>
            <a:r>
              <a:rPr lang="en-US" sz="1050" dirty="0">
                <a:solidFill>
                  <a:srgbClr val="D7E1EC"/>
                </a:solidFill>
                <a:latin typeface="Calibri" pitchFamily="34" charset="0"/>
                <a:ea typeface="Calibri" pitchFamily="34" charset="-122"/>
                <a:cs typeface="Calibri" pitchFamily="34" charset="-120"/>
              </a:rPr>
              <a:t>Suspicious keywords</a:t>
            </a:r>
            <a:endParaRPr lang="en-US" sz="1050" dirty="0"/>
          </a:p>
        </p:txBody>
      </p:sp>
      <p:sp>
        <p:nvSpPr>
          <p:cNvPr id="37" name="Shape 34"/>
          <p:cNvSpPr/>
          <p:nvPr/>
        </p:nvSpPr>
        <p:spPr>
          <a:xfrm>
            <a:off x="777240" y="4434840"/>
            <a:ext cx="1691640" cy="548640"/>
          </a:xfrm>
          <a:prstGeom prst="roundRect">
            <a:avLst>
              <a:gd name="adj" fmla="val 13333"/>
            </a:avLst>
          </a:prstGeom>
          <a:solidFill>
            <a:srgbClr val="0A1628"/>
          </a:solidFill>
          <a:ln w="9525">
            <a:solidFill>
              <a:srgbClr val="2A4A6B"/>
            </a:solidFill>
            <a:prstDash val="solid"/>
          </a:ln>
        </p:spPr>
      </p:sp>
      <p:sp>
        <p:nvSpPr>
          <p:cNvPr id="38" name="Text 35"/>
          <p:cNvSpPr/>
          <p:nvPr/>
        </p:nvSpPr>
        <p:spPr>
          <a:xfrm>
            <a:off x="777240" y="4434840"/>
            <a:ext cx="1691640" cy="548640"/>
          </a:xfrm>
          <a:prstGeom prst="rect">
            <a:avLst/>
          </a:prstGeom>
          <a:noFill/>
          <a:ln/>
        </p:spPr>
        <p:txBody>
          <a:bodyPr wrap="square" lIns="0" tIns="0" rIns="0" bIns="0" rtlCol="0" anchor="ctr"/>
          <a:lstStyle/>
          <a:p>
            <a:pPr algn="ctr" indent="0" marL="0">
              <a:buNone/>
            </a:pPr>
            <a:r>
              <a:rPr lang="en-US" sz="1050" dirty="0">
                <a:solidFill>
                  <a:srgbClr val="D7E1EC"/>
                </a:solidFill>
                <a:latin typeface="Calibri" pitchFamily="34" charset="0"/>
                <a:ea typeface="Calibri" pitchFamily="34" charset="-122"/>
                <a:cs typeface="Calibri" pitchFamily="34" charset="-120"/>
              </a:rPr>
              <a:t>Domain structure</a:t>
            </a:r>
            <a:endParaRPr lang="en-US" sz="1050" dirty="0"/>
          </a:p>
        </p:txBody>
      </p:sp>
      <p:sp>
        <p:nvSpPr>
          <p:cNvPr id="39" name="Shape 36"/>
          <p:cNvSpPr/>
          <p:nvPr/>
        </p:nvSpPr>
        <p:spPr>
          <a:xfrm>
            <a:off x="2606040" y="4434840"/>
            <a:ext cx="1691640" cy="548640"/>
          </a:xfrm>
          <a:prstGeom prst="roundRect">
            <a:avLst>
              <a:gd name="adj" fmla="val 13333"/>
            </a:avLst>
          </a:prstGeom>
          <a:solidFill>
            <a:srgbClr val="0A1628"/>
          </a:solidFill>
          <a:ln w="9525">
            <a:solidFill>
              <a:srgbClr val="2A4A6B"/>
            </a:solidFill>
            <a:prstDash val="solid"/>
          </a:ln>
        </p:spPr>
      </p:sp>
      <p:sp>
        <p:nvSpPr>
          <p:cNvPr id="40" name="Text 37"/>
          <p:cNvSpPr/>
          <p:nvPr/>
        </p:nvSpPr>
        <p:spPr>
          <a:xfrm>
            <a:off x="2606040" y="4434840"/>
            <a:ext cx="1691640" cy="548640"/>
          </a:xfrm>
          <a:prstGeom prst="rect">
            <a:avLst/>
          </a:prstGeom>
          <a:noFill/>
          <a:ln/>
        </p:spPr>
        <p:txBody>
          <a:bodyPr wrap="square" lIns="0" tIns="0" rIns="0" bIns="0" rtlCol="0" anchor="ctr"/>
          <a:lstStyle/>
          <a:p>
            <a:pPr algn="ctr" indent="0" marL="0">
              <a:buNone/>
            </a:pPr>
            <a:r>
              <a:rPr lang="en-US" sz="1050" dirty="0">
                <a:solidFill>
                  <a:srgbClr val="D7E1EC"/>
                </a:solidFill>
                <a:latin typeface="Calibri" pitchFamily="34" charset="0"/>
                <a:ea typeface="Calibri" pitchFamily="34" charset="-122"/>
                <a:cs typeface="Calibri" pitchFamily="34" charset="-120"/>
              </a:rPr>
              <a:t>Token patterns</a:t>
            </a:r>
            <a:endParaRPr lang="en-US" sz="1050" dirty="0"/>
          </a:p>
        </p:txBody>
      </p:sp>
      <p:sp>
        <p:nvSpPr>
          <p:cNvPr id="41" name="Shape 38"/>
          <p:cNvSpPr/>
          <p:nvPr/>
        </p:nvSpPr>
        <p:spPr>
          <a:xfrm>
            <a:off x="4434840" y="4434840"/>
            <a:ext cx="1691640" cy="548640"/>
          </a:xfrm>
          <a:prstGeom prst="roundRect">
            <a:avLst>
              <a:gd name="adj" fmla="val 13333"/>
            </a:avLst>
          </a:prstGeom>
          <a:solidFill>
            <a:srgbClr val="0A1628"/>
          </a:solidFill>
          <a:ln w="9525">
            <a:solidFill>
              <a:srgbClr val="2A4A6B"/>
            </a:solidFill>
            <a:prstDash val="solid"/>
          </a:ln>
        </p:spPr>
      </p:sp>
      <p:sp>
        <p:nvSpPr>
          <p:cNvPr id="42" name="Text 39"/>
          <p:cNvSpPr/>
          <p:nvPr/>
        </p:nvSpPr>
        <p:spPr>
          <a:xfrm>
            <a:off x="4434840" y="4434840"/>
            <a:ext cx="1691640" cy="548640"/>
          </a:xfrm>
          <a:prstGeom prst="rect">
            <a:avLst/>
          </a:prstGeom>
          <a:noFill/>
          <a:ln/>
        </p:spPr>
        <p:txBody>
          <a:bodyPr wrap="square" lIns="0" tIns="0" rIns="0" bIns="0" rtlCol="0" anchor="ctr"/>
          <a:lstStyle/>
          <a:p>
            <a:pPr algn="ctr" indent="0" marL="0">
              <a:buNone/>
            </a:pPr>
            <a:r>
              <a:rPr lang="en-US" sz="1050" dirty="0">
                <a:solidFill>
                  <a:srgbClr val="D7E1EC"/>
                </a:solidFill>
                <a:latin typeface="Calibri" pitchFamily="34" charset="0"/>
                <a:ea typeface="Calibri" pitchFamily="34" charset="-122"/>
                <a:cs typeface="Calibri" pitchFamily="34" charset="-120"/>
              </a:rPr>
              <a:t>Lexical features</a:t>
            </a:r>
            <a:endParaRPr lang="en-US" sz="1050" dirty="0"/>
          </a:p>
        </p:txBody>
      </p:sp>
      <p:sp>
        <p:nvSpPr>
          <p:cNvPr id="43" name="Shape 40"/>
          <p:cNvSpPr/>
          <p:nvPr/>
        </p:nvSpPr>
        <p:spPr>
          <a:xfrm>
            <a:off x="6492240" y="3017520"/>
            <a:ext cx="5120640" cy="2286000"/>
          </a:xfrm>
          <a:prstGeom prst="roundRect">
            <a:avLst>
              <a:gd name="adj" fmla="val 4000"/>
            </a:avLst>
          </a:prstGeom>
          <a:solidFill>
            <a:srgbClr val="13273F"/>
          </a:solidFill>
          <a:ln/>
        </p:spPr>
      </p:sp>
      <p:sp>
        <p:nvSpPr>
          <p:cNvPr id="44" name="Text 41"/>
          <p:cNvSpPr/>
          <p:nvPr/>
        </p:nvSpPr>
        <p:spPr>
          <a:xfrm>
            <a:off x="6766560" y="3172968"/>
            <a:ext cx="2743200" cy="320040"/>
          </a:xfrm>
          <a:prstGeom prst="rect">
            <a:avLst/>
          </a:prstGeom>
          <a:noFill/>
          <a:ln/>
        </p:spPr>
        <p:txBody>
          <a:bodyPr wrap="square" lIns="0" tIns="0" rIns="0" bIns="0" rtlCol="0" anchor="ctr"/>
          <a:lstStyle/>
          <a:p>
            <a:pPr indent="0" marL="0">
              <a:buNone/>
            </a:pPr>
            <a:r>
              <a:rPr lang="en-US" sz="1300" b="1" dirty="0">
                <a:solidFill>
                  <a:srgbClr val="2FD9C9"/>
                </a:solidFill>
                <a:latin typeface="Calibri" pitchFamily="34" charset="0"/>
                <a:ea typeface="Calibri" pitchFamily="34" charset="-122"/>
                <a:cs typeface="Calibri" pitchFamily="34" charset="-120"/>
              </a:rPr>
              <a:t>Why Random Forest?</a:t>
            </a:r>
            <a:endParaRPr lang="en-US" sz="1300" dirty="0"/>
          </a:p>
        </p:txBody>
      </p:sp>
      <p:sp>
        <p:nvSpPr>
          <p:cNvPr id="45" name="Shape 42"/>
          <p:cNvSpPr/>
          <p:nvPr/>
        </p:nvSpPr>
        <p:spPr>
          <a:xfrm>
            <a:off x="6766560" y="3584448"/>
            <a:ext cx="2834640" cy="329184"/>
          </a:xfrm>
          <a:prstGeom prst="roundRect">
            <a:avLst>
              <a:gd name="adj" fmla="val 50000"/>
            </a:avLst>
          </a:prstGeom>
          <a:solidFill>
            <a:srgbClr val="1B3552"/>
          </a:solidFill>
          <a:ln/>
        </p:spPr>
      </p:sp>
      <p:sp>
        <p:nvSpPr>
          <p:cNvPr id="46" name="Text 43"/>
          <p:cNvSpPr/>
          <p:nvPr/>
        </p:nvSpPr>
        <p:spPr>
          <a:xfrm>
            <a:off x="6766560" y="3584448"/>
            <a:ext cx="2834640" cy="329184"/>
          </a:xfrm>
          <a:prstGeom prst="rect">
            <a:avLst/>
          </a:prstGeom>
          <a:noFill/>
          <a:ln/>
        </p:spPr>
        <p:txBody>
          <a:bodyPr wrap="square" lIns="0" tIns="0" rIns="0" bIns="0" rtlCol="0" anchor="ctr"/>
          <a:lstStyle/>
          <a:p>
            <a:pPr algn="ctr" indent="0" marL="0">
              <a:buNone/>
            </a:pPr>
            <a:r>
              <a:rPr lang="en-US" sz="950" b="1" dirty="0">
                <a:solidFill>
                  <a:srgbClr val="2FD9C9"/>
                </a:solidFill>
                <a:latin typeface="Calibri" pitchFamily="34" charset="0"/>
                <a:ea typeface="Calibri" pitchFamily="34" charset="-122"/>
                <a:cs typeface="Calibri" pitchFamily="34" charset="-120"/>
              </a:rPr>
              <a:t>Supervised Binary Classification</a:t>
            </a:r>
            <a:endParaRPr lang="en-US" sz="950" dirty="0"/>
          </a:p>
        </p:txBody>
      </p:sp>
      <p:sp>
        <p:nvSpPr>
          <p:cNvPr id="47" name="Shape 44"/>
          <p:cNvSpPr/>
          <p:nvPr/>
        </p:nvSpPr>
        <p:spPr>
          <a:xfrm>
            <a:off x="6766560" y="4242816"/>
            <a:ext cx="91440" cy="91440"/>
          </a:xfrm>
          <a:prstGeom prst="ellipse">
            <a:avLst/>
          </a:prstGeom>
          <a:solidFill>
            <a:srgbClr val="2FD9C9"/>
          </a:solidFill>
          <a:ln/>
        </p:spPr>
      </p:sp>
      <p:sp>
        <p:nvSpPr>
          <p:cNvPr id="48" name="Text 45"/>
          <p:cNvSpPr/>
          <p:nvPr/>
        </p:nvSpPr>
        <p:spPr>
          <a:xfrm>
            <a:off x="7022592" y="4160520"/>
            <a:ext cx="4407408" cy="329184"/>
          </a:xfrm>
          <a:prstGeom prst="rect">
            <a:avLst/>
          </a:prstGeom>
          <a:noFill/>
          <a:ln/>
        </p:spPr>
        <p:txBody>
          <a:bodyPr wrap="square" lIns="0" tIns="0" rIns="0" bIns="0" rtlCol="0" anchor="t"/>
          <a:lstStyle/>
          <a:p>
            <a:pPr indent="0" marL="0">
              <a:lnSpc>
                <a:spcPct val="115000"/>
              </a:lnSpc>
              <a:buNone/>
            </a:pPr>
            <a:r>
              <a:rPr lang="en-US" sz="1200" dirty="0">
                <a:solidFill>
                  <a:srgbClr val="D7E1EC"/>
                </a:solidFill>
                <a:latin typeface="Calibri" pitchFamily="34" charset="0"/>
                <a:ea typeface="Calibri" pitchFamily="34" charset="-122"/>
                <a:cs typeface="Calibri" pitchFamily="34" charset="-120"/>
              </a:rPr>
              <a:t>Bagging + feature subsampling reduce variance</a:t>
            </a:r>
            <a:endParaRPr lang="en-US" sz="1200" dirty="0"/>
          </a:p>
        </p:txBody>
      </p:sp>
      <p:sp>
        <p:nvSpPr>
          <p:cNvPr id="49" name="Shape 46"/>
          <p:cNvSpPr/>
          <p:nvPr/>
        </p:nvSpPr>
        <p:spPr>
          <a:xfrm>
            <a:off x="6766560" y="4626864"/>
            <a:ext cx="91440" cy="91440"/>
          </a:xfrm>
          <a:prstGeom prst="ellipse">
            <a:avLst/>
          </a:prstGeom>
          <a:solidFill>
            <a:srgbClr val="2FD9C9"/>
          </a:solidFill>
          <a:ln/>
        </p:spPr>
      </p:sp>
      <p:sp>
        <p:nvSpPr>
          <p:cNvPr id="50" name="Text 47"/>
          <p:cNvSpPr/>
          <p:nvPr/>
        </p:nvSpPr>
        <p:spPr>
          <a:xfrm>
            <a:off x="7022592" y="4544568"/>
            <a:ext cx="4407408" cy="329184"/>
          </a:xfrm>
          <a:prstGeom prst="rect">
            <a:avLst/>
          </a:prstGeom>
          <a:noFill/>
          <a:ln/>
        </p:spPr>
        <p:txBody>
          <a:bodyPr wrap="square" lIns="0" tIns="0" rIns="0" bIns="0" rtlCol="0" anchor="t"/>
          <a:lstStyle/>
          <a:p>
            <a:pPr indent="0" marL="0">
              <a:lnSpc>
                <a:spcPct val="115000"/>
              </a:lnSpc>
              <a:buNone/>
            </a:pPr>
            <a:r>
              <a:rPr lang="en-US" sz="1200" dirty="0">
                <a:solidFill>
                  <a:srgbClr val="D7E1EC"/>
                </a:solidFill>
                <a:latin typeface="Calibri" pitchFamily="34" charset="0"/>
                <a:ea typeface="Calibri" pitchFamily="34" charset="-122"/>
                <a:cs typeface="Calibri" pitchFamily="34" charset="-120"/>
              </a:rPr>
              <a:t>Strong on tabular, hand-crafted URL features</a:t>
            </a:r>
            <a:endParaRPr lang="en-US" sz="1200" dirty="0"/>
          </a:p>
        </p:txBody>
      </p:sp>
      <p:sp>
        <p:nvSpPr>
          <p:cNvPr id="51" name="Shape 48"/>
          <p:cNvSpPr/>
          <p:nvPr/>
        </p:nvSpPr>
        <p:spPr>
          <a:xfrm>
            <a:off x="6766560" y="5010912"/>
            <a:ext cx="91440" cy="91440"/>
          </a:xfrm>
          <a:prstGeom prst="ellipse">
            <a:avLst/>
          </a:prstGeom>
          <a:solidFill>
            <a:srgbClr val="2FD9C9"/>
          </a:solidFill>
          <a:ln/>
        </p:spPr>
      </p:sp>
      <p:sp>
        <p:nvSpPr>
          <p:cNvPr id="52" name="Text 49"/>
          <p:cNvSpPr/>
          <p:nvPr/>
        </p:nvSpPr>
        <p:spPr>
          <a:xfrm>
            <a:off x="7022592" y="4928616"/>
            <a:ext cx="4407408" cy="329184"/>
          </a:xfrm>
          <a:prstGeom prst="rect">
            <a:avLst/>
          </a:prstGeom>
          <a:noFill/>
          <a:ln/>
        </p:spPr>
        <p:txBody>
          <a:bodyPr wrap="square" lIns="0" tIns="0" rIns="0" bIns="0" rtlCol="0" anchor="t"/>
          <a:lstStyle/>
          <a:p>
            <a:pPr indent="0" marL="0">
              <a:lnSpc>
                <a:spcPct val="115000"/>
              </a:lnSpc>
              <a:buNone/>
            </a:pPr>
            <a:r>
              <a:rPr lang="en-US" sz="1200" dirty="0">
                <a:solidFill>
                  <a:srgbClr val="D7E1EC"/>
                </a:solidFill>
                <a:latin typeface="Calibri" pitchFamily="34" charset="0"/>
                <a:ea typeface="Calibri" pitchFamily="34" charset="-122"/>
                <a:cs typeface="Calibri" pitchFamily="34" charset="-120"/>
              </a:rPr>
              <a:t>Feature importance shows which URL traits matter</a:t>
            </a:r>
            <a:endParaRPr lang="en-US" sz="1200" dirty="0"/>
          </a:p>
        </p:txBody>
      </p:sp>
      <p:sp>
        <p:nvSpPr>
          <p:cNvPr id="53" name="Shape 50"/>
          <p:cNvSpPr/>
          <p:nvPr/>
        </p:nvSpPr>
        <p:spPr>
          <a:xfrm>
            <a:off x="548640" y="5532120"/>
            <a:ext cx="11064240" cy="594360"/>
          </a:xfrm>
          <a:prstGeom prst="roundRect">
            <a:avLst>
              <a:gd name="adj" fmla="val 15385"/>
            </a:avLst>
          </a:prstGeom>
          <a:solidFill>
            <a:srgbClr val="1B3552"/>
          </a:solidFill>
          <a:ln w="12700">
            <a:solidFill>
              <a:srgbClr val="2FD9C9"/>
            </a:solidFill>
            <a:prstDash val="solid"/>
          </a:ln>
        </p:spPr>
      </p:sp>
      <p:sp>
        <p:nvSpPr>
          <p:cNvPr id="54" name="Text 51"/>
          <p:cNvSpPr/>
          <p:nvPr/>
        </p:nvSpPr>
        <p:spPr>
          <a:xfrm>
            <a:off x="822960" y="5532120"/>
            <a:ext cx="10515600" cy="594360"/>
          </a:xfrm>
          <a:prstGeom prst="rect">
            <a:avLst/>
          </a:prstGeom>
          <a:noFill/>
          <a:ln/>
        </p:spPr>
        <p:txBody>
          <a:bodyPr wrap="square" lIns="0" tIns="0" rIns="0" bIns="0" rtlCol="0" anchor="ctr"/>
          <a:lstStyle/>
          <a:p>
            <a:pPr indent="0" marL="0">
              <a:lnSpc>
                <a:spcPct val="115000"/>
              </a:lnSpc>
              <a:buNone/>
            </a:pPr>
            <a:r>
              <a:rPr lang="en-US" sz="1200" b="1" dirty="0">
                <a:solidFill>
                  <a:srgbClr val="2FD9C9"/>
                </a:solidFill>
                <a:latin typeface="Calibri" pitchFamily="34" charset="0"/>
                <a:ea typeface="Calibri" pitchFamily="34" charset="-122"/>
                <a:cs typeface="Calibri" pitchFamily="34" charset="-120"/>
              </a:rPr>
              <a:t>Output:  </a:t>
            </a:r>
            <a:pPr indent="0" marL="0">
              <a:lnSpc>
                <a:spcPct val="115000"/>
              </a:lnSpc>
              <a:buNone/>
            </a:pPr>
            <a:r>
              <a:rPr lang="en-US" sz="1200" dirty="0">
                <a:solidFill>
                  <a:srgbClr val="D7E1EC"/>
                </a:solidFill>
                <a:latin typeface="Calibri" pitchFamily="34" charset="0"/>
                <a:ea typeface="Calibri" pitchFamily="34" charset="-122"/>
                <a:cs typeface="Calibri" pitchFamily="34" charset="-120"/>
              </a:rPr>
              <a:t>a class label (LEGITIMATE / PHISHING) with a model probability — an estimate, not certainty.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424160" y="-2377440"/>
            <a:ext cx="3474720" cy="3474720"/>
          </a:xfrm>
          <a:prstGeom prst="ellipse">
            <a:avLst/>
          </a:prstGeom>
          <a:solidFill>
            <a:srgbClr val="13273F"/>
          </a:solidFill>
          <a:ln/>
        </p:spPr>
      </p:sp>
      <p:sp>
        <p:nvSpPr>
          <p:cNvPr id="3" name="Shape 1"/>
          <p:cNvSpPr/>
          <p:nvPr/>
        </p:nvSpPr>
        <p:spPr>
          <a:xfrm>
            <a:off x="-2011680" y="6309360"/>
            <a:ext cx="2926080" cy="2926080"/>
          </a:xfrm>
          <a:prstGeom prst="ellipse">
            <a:avLst/>
          </a:prstGeom>
          <a:solidFill>
            <a:srgbClr val="13273F"/>
          </a:solidFill>
          <a:ln/>
        </p:spPr>
      </p:sp>
      <p:sp>
        <p:nvSpPr>
          <p:cNvPr id="4" name="Text 2"/>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FD9C9"/>
                </a:solidFill>
                <a:latin typeface="Calibri" pitchFamily="34" charset="0"/>
                <a:ea typeface="Calibri" pitchFamily="34" charset="-122"/>
                <a:cs typeface="Calibri" pitchFamily="34" charset="-120"/>
              </a:rPr>
              <a:t>SYSTEM DESIGN</a:t>
            </a:r>
            <a:endParaRPr lang="en-US" sz="1300" dirty="0"/>
          </a:p>
        </p:txBody>
      </p:sp>
      <p:sp>
        <p:nvSpPr>
          <p:cNvPr id="5" name="Text 3"/>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System Architecture</a:t>
            </a:r>
            <a:endParaRPr lang="en-US" sz="2800" dirty="0"/>
          </a:p>
        </p:txBody>
      </p:sp>
      <p:sp>
        <p:nvSpPr>
          <p:cNvPr id="6" name="Text 4"/>
          <p:cNvSpPr/>
          <p:nvPr/>
        </p:nvSpPr>
        <p:spPr>
          <a:xfrm>
            <a:off x="11247120" y="6473952"/>
            <a:ext cx="457200" cy="228600"/>
          </a:xfrm>
          <a:prstGeom prst="rect">
            <a:avLst/>
          </a:prstGeom>
          <a:noFill/>
          <a:ln/>
        </p:spPr>
        <p:txBody>
          <a:bodyPr wrap="square" lIns="0" tIns="0" rIns="0" bIns="0" rtlCol="0" anchor="ctr"/>
          <a:lstStyle/>
          <a:p>
            <a:pPr algn="r" indent="0" marL="0">
              <a:buNone/>
            </a:pPr>
            <a:r>
              <a:rPr lang="en-US" sz="900" dirty="0">
                <a:solidFill>
                  <a:srgbClr val="8598AD"/>
                </a:solidFill>
                <a:latin typeface="Calibri" pitchFamily="34" charset="0"/>
                <a:ea typeface="Calibri" pitchFamily="34" charset="-122"/>
                <a:cs typeface="Calibri" pitchFamily="34" charset="-120"/>
              </a:rPr>
              <a:t>6</a:t>
            </a:r>
            <a:endParaRPr lang="en-US" sz="900" dirty="0"/>
          </a:p>
        </p:txBody>
      </p:sp>
      <p:sp>
        <p:nvSpPr>
          <p:cNvPr id="8" name="Shape 5"/>
          <p:cNvSpPr/>
          <p:nvPr/>
        </p:nvSpPr>
        <p:spPr>
          <a:xfrm>
            <a:off x="548640" y="1554480"/>
            <a:ext cx="3200400" cy="1691640"/>
          </a:xfrm>
          <a:prstGeom prst="roundRect">
            <a:avLst>
              <a:gd name="adj" fmla="val 5405"/>
            </a:avLst>
          </a:prstGeom>
          <a:solidFill>
            <a:srgbClr val="13273F"/>
          </a:solidFill>
          <a:ln w="12700">
            <a:solidFill>
              <a:srgbClr val="2A4A6B"/>
            </a:solidFill>
            <a:prstDash val="solid"/>
          </a:ln>
        </p:spPr>
      </p:sp>
      <p:sp>
        <p:nvSpPr>
          <p:cNvPr id="9" name="Text 6"/>
          <p:cNvSpPr/>
          <p:nvPr/>
        </p:nvSpPr>
        <p:spPr>
          <a:xfrm>
            <a:off x="749808" y="1691640"/>
            <a:ext cx="283464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Frontend (Browser)</a:t>
            </a:r>
            <a:endParaRPr lang="en-US" sz="1400" dirty="0"/>
          </a:p>
        </p:txBody>
      </p:sp>
      <p:sp>
        <p:nvSpPr>
          <p:cNvPr id="10" name="Text 7"/>
          <p:cNvSpPr/>
          <p:nvPr/>
        </p:nvSpPr>
        <p:spPr>
          <a:xfrm>
            <a:off x="749808" y="2029968"/>
            <a:ext cx="2834640" cy="256032"/>
          </a:xfrm>
          <a:prstGeom prst="rect">
            <a:avLst/>
          </a:prstGeom>
          <a:noFill/>
          <a:ln/>
        </p:spPr>
        <p:txBody>
          <a:bodyPr wrap="square" lIns="0" tIns="0" rIns="0" bIns="0" rtlCol="0" anchor="ctr"/>
          <a:lstStyle/>
          <a:p>
            <a:pPr indent="0" marL="0">
              <a:buNone/>
            </a:pPr>
            <a:r>
              <a:rPr lang="en-US" sz="950" dirty="0">
                <a:solidFill>
                  <a:srgbClr val="8598AD"/>
                </a:solidFill>
                <a:latin typeface="Courier New" pitchFamily="34" charset="0"/>
                <a:ea typeface="Courier New" pitchFamily="34" charset="-122"/>
                <a:cs typeface="Courier New" pitchFamily="34" charset="-120"/>
              </a:rPr>
              <a:t>index.html · js/app.js</a:t>
            </a:r>
            <a:endParaRPr lang="en-US" sz="950" dirty="0"/>
          </a:p>
        </p:txBody>
      </p:sp>
      <p:sp>
        <p:nvSpPr>
          <p:cNvPr id="11" name="Text 8"/>
          <p:cNvSpPr/>
          <p:nvPr/>
        </p:nvSpPr>
        <p:spPr>
          <a:xfrm>
            <a:off x="749808" y="2359152"/>
            <a:ext cx="2834640" cy="795528"/>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URL scan, bulk scan, compare, link extraction, reports and watchlist UI.</a:t>
            </a:r>
            <a:endParaRPr lang="en-US" sz="1100" dirty="0"/>
          </a:p>
        </p:txBody>
      </p:sp>
      <p:sp>
        <p:nvSpPr>
          <p:cNvPr id="12" name="Shape 9"/>
          <p:cNvSpPr/>
          <p:nvPr/>
        </p:nvSpPr>
        <p:spPr>
          <a:xfrm>
            <a:off x="4480560" y="1554480"/>
            <a:ext cx="3291840" cy="1691640"/>
          </a:xfrm>
          <a:prstGeom prst="roundRect">
            <a:avLst>
              <a:gd name="adj" fmla="val 5405"/>
            </a:avLst>
          </a:prstGeom>
          <a:solidFill>
            <a:srgbClr val="1B3552"/>
          </a:solidFill>
          <a:ln w="12700">
            <a:solidFill>
              <a:srgbClr val="2FD9C9"/>
            </a:solidFill>
            <a:prstDash val="solid"/>
          </a:ln>
        </p:spPr>
      </p:sp>
      <p:sp>
        <p:nvSpPr>
          <p:cNvPr id="13" name="Text 10"/>
          <p:cNvSpPr/>
          <p:nvPr/>
        </p:nvSpPr>
        <p:spPr>
          <a:xfrm>
            <a:off x="4681728" y="1691640"/>
            <a:ext cx="2926080" cy="320040"/>
          </a:xfrm>
          <a:prstGeom prst="rect">
            <a:avLst/>
          </a:prstGeom>
          <a:noFill/>
          <a:ln/>
        </p:spPr>
        <p:txBody>
          <a:bodyPr wrap="square" lIns="0" tIns="0" rIns="0" bIns="0" rtlCol="0" anchor="ctr"/>
          <a:lstStyle/>
          <a:p>
            <a:pPr indent="0" marL="0">
              <a:buNone/>
            </a:pPr>
            <a:r>
              <a:rPr lang="en-US" sz="1400" b="1" dirty="0">
                <a:solidFill>
                  <a:srgbClr val="2FD9C9"/>
                </a:solidFill>
                <a:latin typeface="Cambria" pitchFamily="34" charset="0"/>
                <a:ea typeface="Cambria" pitchFamily="34" charset="-122"/>
                <a:cs typeface="Cambria" pitchFamily="34" charset="-120"/>
              </a:rPr>
              <a:t>FastAPI Backend</a:t>
            </a:r>
            <a:endParaRPr lang="en-US" sz="1400" dirty="0"/>
          </a:p>
        </p:txBody>
      </p:sp>
      <p:sp>
        <p:nvSpPr>
          <p:cNvPr id="14" name="Text 11"/>
          <p:cNvSpPr/>
          <p:nvPr/>
        </p:nvSpPr>
        <p:spPr>
          <a:xfrm>
            <a:off x="4681728" y="2029968"/>
            <a:ext cx="2926080" cy="256032"/>
          </a:xfrm>
          <a:prstGeom prst="rect">
            <a:avLst/>
          </a:prstGeom>
          <a:noFill/>
          <a:ln/>
        </p:spPr>
        <p:txBody>
          <a:bodyPr wrap="square" lIns="0" tIns="0" rIns="0" bIns="0" rtlCol="0" anchor="ctr"/>
          <a:lstStyle/>
          <a:p>
            <a:pPr indent="0" marL="0">
              <a:buNone/>
            </a:pPr>
            <a:r>
              <a:rPr lang="en-US" sz="950" dirty="0">
                <a:solidFill>
                  <a:srgbClr val="8598AD"/>
                </a:solidFill>
                <a:latin typeface="Courier New" pitchFamily="34" charset="0"/>
                <a:ea typeface="Courier New" pitchFamily="34" charset="-122"/>
                <a:cs typeface="Courier New" pitchFamily="34" charset="-120"/>
              </a:rPr>
              <a:t>backend/main.py</a:t>
            </a:r>
            <a:endParaRPr lang="en-US" sz="950" dirty="0"/>
          </a:p>
        </p:txBody>
      </p:sp>
      <p:sp>
        <p:nvSpPr>
          <p:cNvPr id="15" name="Text 12"/>
          <p:cNvSpPr/>
          <p:nvPr/>
        </p:nvSpPr>
        <p:spPr>
          <a:xfrm>
            <a:off x="4681728" y="2359152"/>
            <a:ext cx="2926080" cy="795528"/>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Serves the UI and exposes POST /api/v1/analyze for ML scoring.</a:t>
            </a:r>
            <a:endParaRPr lang="en-US" sz="1100" dirty="0"/>
          </a:p>
        </p:txBody>
      </p:sp>
      <p:sp>
        <p:nvSpPr>
          <p:cNvPr id="16" name="Shape 13"/>
          <p:cNvSpPr/>
          <p:nvPr/>
        </p:nvSpPr>
        <p:spPr>
          <a:xfrm>
            <a:off x="8503920" y="1554480"/>
            <a:ext cx="3108960" cy="1691640"/>
          </a:xfrm>
          <a:prstGeom prst="roundRect">
            <a:avLst>
              <a:gd name="adj" fmla="val 5405"/>
            </a:avLst>
          </a:prstGeom>
          <a:solidFill>
            <a:srgbClr val="13273F"/>
          </a:solidFill>
          <a:ln w="12700">
            <a:solidFill>
              <a:srgbClr val="2A4A6B"/>
            </a:solidFill>
            <a:prstDash val="solid"/>
          </a:ln>
        </p:spPr>
      </p:sp>
      <p:sp>
        <p:nvSpPr>
          <p:cNvPr id="17" name="Text 14"/>
          <p:cNvSpPr/>
          <p:nvPr/>
        </p:nvSpPr>
        <p:spPr>
          <a:xfrm>
            <a:off x="8705088" y="1691640"/>
            <a:ext cx="274320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ML Engine</a:t>
            </a:r>
            <a:endParaRPr lang="en-US" sz="1400" dirty="0"/>
          </a:p>
        </p:txBody>
      </p:sp>
      <p:sp>
        <p:nvSpPr>
          <p:cNvPr id="18" name="Text 15"/>
          <p:cNvSpPr/>
          <p:nvPr/>
        </p:nvSpPr>
        <p:spPr>
          <a:xfrm>
            <a:off x="8705088" y="2029968"/>
            <a:ext cx="2743200" cy="256032"/>
          </a:xfrm>
          <a:prstGeom prst="rect">
            <a:avLst/>
          </a:prstGeom>
          <a:noFill/>
          <a:ln/>
        </p:spPr>
        <p:txBody>
          <a:bodyPr wrap="square" lIns="0" tIns="0" rIns="0" bIns="0" rtlCol="0" anchor="ctr"/>
          <a:lstStyle/>
          <a:p>
            <a:pPr indent="0" marL="0">
              <a:buNone/>
            </a:pPr>
            <a:r>
              <a:rPr lang="en-US" sz="950" dirty="0">
                <a:solidFill>
                  <a:srgbClr val="8598AD"/>
                </a:solidFill>
                <a:latin typeface="Courier New" pitchFamily="34" charset="0"/>
                <a:ea typeface="Courier New" pitchFamily="34" charset="-122"/>
                <a:cs typeface="Courier New" pitchFamily="34" charset="-120"/>
              </a:rPr>
              <a:t>NLP features → Random Forest</a:t>
            </a:r>
            <a:endParaRPr lang="en-US" sz="950" dirty="0"/>
          </a:p>
        </p:txBody>
      </p:sp>
      <p:sp>
        <p:nvSpPr>
          <p:cNvPr id="19" name="Text 16"/>
          <p:cNvSpPr/>
          <p:nvPr/>
        </p:nvSpPr>
        <p:spPr>
          <a:xfrm>
            <a:off x="8705088" y="2359152"/>
            <a:ext cx="2743200" cy="795528"/>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Extracts URL features and returns a class and probability.</a:t>
            </a:r>
            <a:endParaRPr lang="en-US" sz="1100" dirty="0"/>
          </a:p>
        </p:txBody>
      </p:sp>
      <p:sp>
        <p:nvSpPr>
          <p:cNvPr id="20" name="Shape 17"/>
          <p:cNvSpPr/>
          <p:nvPr/>
        </p:nvSpPr>
        <p:spPr>
          <a:xfrm>
            <a:off x="3794760" y="2299716"/>
            <a:ext cx="640080" cy="201168"/>
          </a:xfrm>
          <a:prstGeom prst="rightArrow">
            <a:avLst/>
          </a:prstGeom>
          <a:solidFill>
            <a:srgbClr val="2FD9C9"/>
          </a:solidFill>
          <a:ln/>
        </p:spPr>
      </p:sp>
      <p:sp>
        <p:nvSpPr>
          <p:cNvPr id="21" name="Shape 18"/>
          <p:cNvSpPr/>
          <p:nvPr/>
        </p:nvSpPr>
        <p:spPr>
          <a:xfrm>
            <a:off x="7818120" y="2299716"/>
            <a:ext cx="640080" cy="201168"/>
          </a:xfrm>
          <a:prstGeom prst="rightArrow">
            <a:avLst/>
          </a:prstGeom>
          <a:solidFill>
            <a:srgbClr val="2FD9C9"/>
          </a:solidFill>
          <a:ln/>
        </p:spPr>
      </p:sp>
      <p:sp>
        <p:nvSpPr>
          <p:cNvPr id="22" name="Shape 19"/>
          <p:cNvSpPr/>
          <p:nvPr/>
        </p:nvSpPr>
        <p:spPr>
          <a:xfrm>
            <a:off x="548640" y="3931920"/>
            <a:ext cx="3200400" cy="1691640"/>
          </a:xfrm>
          <a:prstGeom prst="roundRect">
            <a:avLst>
              <a:gd name="adj" fmla="val 5405"/>
            </a:avLst>
          </a:prstGeom>
          <a:solidFill>
            <a:srgbClr val="13273F"/>
          </a:solidFill>
          <a:ln w="12700">
            <a:solidFill>
              <a:srgbClr val="2A4A6B"/>
            </a:solidFill>
            <a:prstDash val="solid"/>
          </a:ln>
        </p:spPr>
      </p:sp>
      <p:sp>
        <p:nvSpPr>
          <p:cNvPr id="23" name="Text 20"/>
          <p:cNvSpPr/>
          <p:nvPr/>
        </p:nvSpPr>
        <p:spPr>
          <a:xfrm>
            <a:off x="749808" y="4069080"/>
            <a:ext cx="283464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Browser Storage</a:t>
            </a:r>
            <a:endParaRPr lang="en-US" sz="1400" dirty="0"/>
          </a:p>
        </p:txBody>
      </p:sp>
      <p:sp>
        <p:nvSpPr>
          <p:cNvPr id="24" name="Text 21"/>
          <p:cNvSpPr/>
          <p:nvPr/>
        </p:nvSpPr>
        <p:spPr>
          <a:xfrm>
            <a:off x="749808" y="4407408"/>
            <a:ext cx="2834640" cy="256032"/>
          </a:xfrm>
          <a:prstGeom prst="rect">
            <a:avLst/>
          </a:prstGeom>
          <a:noFill/>
          <a:ln/>
        </p:spPr>
        <p:txBody>
          <a:bodyPr wrap="square" lIns="0" tIns="0" rIns="0" bIns="0" rtlCol="0" anchor="ctr"/>
          <a:lstStyle/>
          <a:p>
            <a:pPr indent="0" marL="0">
              <a:buNone/>
            </a:pPr>
            <a:r>
              <a:rPr lang="en-US" sz="950" dirty="0">
                <a:solidFill>
                  <a:srgbClr val="8598AD"/>
                </a:solidFill>
                <a:latin typeface="Courier New" pitchFamily="34" charset="0"/>
                <a:ea typeface="Courier New" pitchFamily="34" charset="-122"/>
                <a:cs typeface="Courier New" pitchFamily="34" charset="-120"/>
              </a:rPr>
              <a:t>localStorage</a:t>
            </a:r>
            <a:endParaRPr lang="en-US" sz="950" dirty="0"/>
          </a:p>
        </p:txBody>
      </p:sp>
      <p:sp>
        <p:nvSpPr>
          <p:cNvPr id="25" name="Text 22"/>
          <p:cNvSpPr/>
          <p:nvPr/>
        </p:nvSpPr>
        <p:spPr>
          <a:xfrm>
            <a:off x="749808" y="4736592"/>
            <a:ext cx="2834640" cy="795528"/>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Scan history and watchlist are kept in this browser only.</a:t>
            </a:r>
            <a:endParaRPr lang="en-US" sz="1100" dirty="0"/>
          </a:p>
        </p:txBody>
      </p:sp>
      <p:sp>
        <p:nvSpPr>
          <p:cNvPr id="26" name="Shape 23"/>
          <p:cNvSpPr/>
          <p:nvPr/>
        </p:nvSpPr>
        <p:spPr>
          <a:xfrm>
            <a:off x="4480560" y="3931920"/>
            <a:ext cx="3291840" cy="1691640"/>
          </a:xfrm>
          <a:prstGeom prst="roundRect">
            <a:avLst>
              <a:gd name="adj" fmla="val 5405"/>
            </a:avLst>
          </a:prstGeom>
          <a:solidFill>
            <a:srgbClr val="1B3552"/>
          </a:solidFill>
          <a:ln w="12700">
            <a:solidFill>
              <a:srgbClr val="2FD9C9"/>
            </a:solidFill>
            <a:prstDash val="solid"/>
          </a:ln>
        </p:spPr>
      </p:sp>
      <p:sp>
        <p:nvSpPr>
          <p:cNvPr id="27" name="Text 24"/>
          <p:cNvSpPr/>
          <p:nvPr/>
        </p:nvSpPr>
        <p:spPr>
          <a:xfrm>
            <a:off x="4681728" y="4069080"/>
            <a:ext cx="2926080" cy="320040"/>
          </a:xfrm>
          <a:prstGeom prst="rect">
            <a:avLst/>
          </a:prstGeom>
          <a:noFill/>
          <a:ln/>
        </p:spPr>
        <p:txBody>
          <a:bodyPr wrap="square" lIns="0" tIns="0" rIns="0" bIns="0" rtlCol="0" anchor="ctr"/>
          <a:lstStyle/>
          <a:p>
            <a:pPr indent="0" marL="0">
              <a:buNone/>
            </a:pPr>
            <a:r>
              <a:rPr lang="en-US" sz="1400" b="1" dirty="0">
                <a:solidFill>
                  <a:srgbClr val="2FD9C9"/>
                </a:solidFill>
                <a:latin typeface="Cambria" pitchFamily="34" charset="0"/>
                <a:ea typeface="Cambria" pitchFamily="34" charset="-122"/>
                <a:cs typeface="Cambria" pitchFamily="34" charset="-120"/>
              </a:rPr>
              <a:t>Intelligence Add-on</a:t>
            </a:r>
            <a:endParaRPr lang="en-US" sz="1400" dirty="0"/>
          </a:p>
        </p:txBody>
      </p:sp>
      <p:sp>
        <p:nvSpPr>
          <p:cNvPr id="28" name="Text 25"/>
          <p:cNvSpPr/>
          <p:nvPr/>
        </p:nvSpPr>
        <p:spPr>
          <a:xfrm>
            <a:off x="4681728" y="4407408"/>
            <a:ext cx="2926080" cy="256032"/>
          </a:xfrm>
          <a:prstGeom prst="rect">
            <a:avLst/>
          </a:prstGeom>
          <a:noFill/>
          <a:ln/>
        </p:spPr>
        <p:txBody>
          <a:bodyPr wrap="square" lIns="0" tIns="0" rIns="0" bIns="0" rtlCol="0" anchor="ctr"/>
          <a:lstStyle/>
          <a:p>
            <a:pPr indent="0" marL="0">
              <a:buNone/>
            </a:pPr>
            <a:r>
              <a:rPr lang="en-US" sz="950" dirty="0">
                <a:solidFill>
                  <a:srgbClr val="8598AD"/>
                </a:solidFill>
                <a:latin typeface="Courier New" pitchFamily="34" charset="0"/>
                <a:ea typeface="Courier New" pitchFamily="34" charset="-122"/>
                <a:cs typeface="Courier New" pitchFamily="34" charset="-120"/>
              </a:rPr>
              <a:t>backend_addon/domain_intelligence.py</a:t>
            </a:r>
            <a:endParaRPr lang="en-US" sz="950" dirty="0"/>
          </a:p>
        </p:txBody>
      </p:sp>
      <p:sp>
        <p:nvSpPr>
          <p:cNvPr id="29" name="Text 26"/>
          <p:cNvSpPr/>
          <p:nvPr/>
        </p:nvSpPr>
        <p:spPr>
          <a:xfrm>
            <a:off x="4681728" y="4736592"/>
            <a:ext cx="2926080" cy="795528"/>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Routes: /api/v1/intelligence and /api/v1/breach-check.</a:t>
            </a:r>
            <a:endParaRPr lang="en-US" sz="1100" dirty="0"/>
          </a:p>
        </p:txBody>
      </p:sp>
      <p:sp>
        <p:nvSpPr>
          <p:cNvPr id="30" name="Shape 27"/>
          <p:cNvSpPr/>
          <p:nvPr/>
        </p:nvSpPr>
        <p:spPr>
          <a:xfrm>
            <a:off x="8503920" y="3931920"/>
            <a:ext cx="3108960" cy="1691640"/>
          </a:xfrm>
          <a:prstGeom prst="roundRect">
            <a:avLst>
              <a:gd name="adj" fmla="val 5405"/>
            </a:avLst>
          </a:prstGeom>
          <a:solidFill>
            <a:srgbClr val="13273F"/>
          </a:solidFill>
          <a:ln w="12700">
            <a:solidFill>
              <a:srgbClr val="2A4A6B"/>
            </a:solidFill>
            <a:prstDash val="solid"/>
          </a:ln>
        </p:spPr>
      </p:sp>
      <p:sp>
        <p:nvSpPr>
          <p:cNvPr id="31" name="Text 28"/>
          <p:cNvSpPr/>
          <p:nvPr/>
        </p:nvSpPr>
        <p:spPr>
          <a:xfrm>
            <a:off x="8705088" y="4069080"/>
            <a:ext cx="274320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External Signals</a:t>
            </a:r>
            <a:endParaRPr lang="en-US" sz="1400" dirty="0"/>
          </a:p>
        </p:txBody>
      </p:sp>
      <p:sp>
        <p:nvSpPr>
          <p:cNvPr id="32" name="Text 29"/>
          <p:cNvSpPr/>
          <p:nvPr/>
        </p:nvSpPr>
        <p:spPr>
          <a:xfrm>
            <a:off x="8705088" y="4407408"/>
            <a:ext cx="2743200" cy="256032"/>
          </a:xfrm>
          <a:prstGeom prst="rect">
            <a:avLst/>
          </a:prstGeom>
          <a:noFill/>
          <a:ln/>
        </p:spPr>
        <p:txBody>
          <a:bodyPr wrap="square" lIns="0" tIns="0" rIns="0" bIns="0" rtlCol="0" anchor="ctr"/>
          <a:lstStyle/>
          <a:p>
            <a:pPr indent="0" marL="0">
              <a:buNone/>
            </a:pPr>
            <a:r>
              <a:rPr lang="en-US" sz="950" dirty="0">
                <a:solidFill>
                  <a:srgbClr val="8598AD"/>
                </a:solidFill>
                <a:latin typeface="Courier New" pitchFamily="34" charset="0"/>
                <a:ea typeface="Courier New" pitchFamily="34" charset="-122"/>
                <a:cs typeface="Courier New" pitchFamily="34" charset="-120"/>
              </a:rPr>
              <a:t>optional, best-effort</a:t>
            </a:r>
            <a:endParaRPr lang="en-US" sz="950" dirty="0"/>
          </a:p>
        </p:txBody>
      </p:sp>
      <p:sp>
        <p:nvSpPr>
          <p:cNvPr id="33" name="Text 30"/>
          <p:cNvSpPr/>
          <p:nvPr/>
        </p:nvSpPr>
        <p:spPr>
          <a:xfrm>
            <a:off x="8705088" y="4736592"/>
            <a:ext cx="2743200" cy="795528"/>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DNS · RDAP · TLS · redirects · URLhaus · HIBP (API keys optional).</a:t>
            </a:r>
            <a:endParaRPr lang="en-US" sz="1100" dirty="0"/>
          </a:p>
        </p:txBody>
      </p:sp>
      <p:sp>
        <p:nvSpPr>
          <p:cNvPr id="34" name="Shape 31"/>
          <p:cNvSpPr/>
          <p:nvPr/>
        </p:nvSpPr>
        <p:spPr>
          <a:xfrm>
            <a:off x="6025896" y="3337560"/>
            <a:ext cx="201168" cy="502920"/>
          </a:xfrm>
          <a:prstGeom prst="upArrow">
            <a:avLst/>
          </a:prstGeom>
          <a:solidFill>
            <a:srgbClr val="2FD9C9"/>
          </a:solidFill>
          <a:ln/>
        </p:spPr>
      </p:sp>
      <p:sp>
        <p:nvSpPr>
          <p:cNvPr id="35" name="Shape 32"/>
          <p:cNvSpPr/>
          <p:nvPr/>
        </p:nvSpPr>
        <p:spPr>
          <a:xfrm>
            <a:off x="7818120" y="4677156"/>
            <a:ext cx="640080" cy="201168"/>
          </a:xfrm>
          <a:prstGeom prst="rightArrow">
            <a:avLst/>
          </a:prstGeom>
          <a:solidFill>
            <a:srgbClr val="2FD9C9"/>
          </a:solidFill>
          <a:ln/>
        </p:spPr>
      </p:sp>
      <p:sp>
        <p:nvSpPr>
          <p:cNvPr id="36" name="Shape 33"/>
          <p:cNvSpPr/>
          <p:nvPr/>
        </p:nvSpPr>
        <p:spPr>
          <a:xfrm>
            <a:off x="2048256" y="3337560"/>
            <a:ext cx="201168" cy="502920"/>
          </a:xfrm>
          <a:prstGeom prst="downArrow">
            <a:avLst/>
          </a:prstGeom>
          <a:solidFill>
            <a:srgbClr val="2FD9C9"/>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424160" y="-2377440"/>
            <a:ext cx="3474720" cy="3474720"/>
          </a:xfrm>
          <a:prstGeom prst="ellipse">
            <a:avLst/>
          </a:prstGeom>
          <a:solidFill>
            <a:srgbClr val="13273F"/>
          </a:solidFill>
          <a:ln/>
        </p:spPr>
      </p:sp>
      <p:sp>
        <p:nvSpPr>
          <p:cNvPr id="3" name="Shape 1"/>
          <p:cNvSpPr/>
          <p:nvPr/>
        </p:nvSpPr>
        <p:spPr>
          <a:xfrm>
            <a:off x="-2011680" y="6309360"/>
            <a:ext cx="2926080" cy="2926080"/>
          </a:xfrm>
          <a:prstGeom prst="ellipse">
            <a:avLst/>
          </a:prstGeom>
          <a:solidFill>
            <a:srgbClr val="13273F"/>
          </a:solidFill>
          <a:ln/>
        </p:spPr>
      </p:sp>
      <p:sp>
        <p:nvSpPr>
          <p:cNvPr id="4" name="Text 2"/>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FD9C9"/>
                </a:solidFill>
                <a:latin typeface="Calibri" pitchFamily="34" charset="0"/>
                <a:ea typeface="Calibri" pitchFamily="34" charset="-122"/>
                <a:cs typeface="Calibri" pitchFamily="34" charset="-120"/>
              </a:rPr>
              <a:t>APPLICATION</a:t>
            </a:r>
            <a:endParaRPr lang="en-US" sz="1300" dirty="0"/>
          </a:p>
        </p:txBody>
      </p:sp>
      <p:sp>
        <p:nvSpPr>
          <p:cNvPr id="5" name="Text 3"/>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PhishingLens Features</a:t>
            </a:r>
            <a:endParaRPr lang="en-US" sz="2800" dirty="0"/>
          </a:p>
        </p:txBody>
      </p:sp>
      <p:sp>
        <p:nvSpPr>
          <p:cNvPr id="6" name="Text 4"/>
          <p:cNvSpPr/>
          <p:nvPr/>
        </p:nvSpPr>
        <p:spPr>
          <a:xfrm>
            <a:off x="11247120" y="6473952"/>
            <a:ext cx="457200" cy="228600"/>
          </a:xfrm>
          <a:prstGeom prst="rect">
            <a:avLst/>
          </a:prstGeom>
          <a:noFill/>
          <a:ln/>
        </p:spPr>
        <p:txBody>
          <a:bodyPr wrap="square" lIns="0" tIns="0" rIns="0" bIns="0" rtlCol="0" anchor="ctr"/>
          <a:lstStyle/>
          <a:p>
            <a:pPr algn="r" indent="0" marL="0">
              <a:buNone/>
            </a:pPr>
            <a:r>
              <a:rPr lang="en-US" sz="900" dirty="0">
                <a:solidFill>
                  <a:srgbClr val="8598AD"/>
                </a:solidFill>
                <a:latin typeface="Calibri" pitchFamily="34" charset="0"/>
                <a:ea typeface="Calibri" pitchFamily="34" charset="-122"/>
                <a:cs typeface="Calibri" pitchFamily="34" charset="-120"/>
              </a:rPr>
              <a:t>7</a:t>
            </a:r>
            <a:endParaRPr lang="en-US" sz="900" dirty="0"/>
          </a:p>
        </p:txBody>
      </p:sp>
      <p:sp>
        <p:nvSpPr>
          <p:cNvPr id="8" name="Shape 5"/>
          <p:cNvSpPr/>
          <p:nvPr/>
        </p:nvSpPr>
        <p:spPr>
          <a:xfrm>
            <a:off x="548640" y="1600200"/>
            <a:ext cx="2651760" cy="2011680"/>
          </a:xfrm>
          <a:prstGeom prst="roundRect">
            <a:avLst>
              <a:gd name="adj" fmla="val 4545"/>
            </a:avLst>
          </a:prstGeom>
          <a:solidFill>
            <a:srgbClr val="13273F"/>
          </a:solidFill>
          <a:ln/>
        </p:spPr>
      </p:sp>
      <p:sp>
        <p:nvSpPr>
          <p:cNvPr id="9" name="Shape 6"/>
          <p:cNvSpPr/>
          <p:nvPr/>
        </p:nvSpPr>
        <p:spPr>
          <a:xfrm>
            <a:off x="749808" y="1783080"/>
            <a:ext cx="402336" cy="402336"/>
          </a:xfrm>
          <a:prstGeom prst="ellipse">
            <a:avLst/>
          </a:prstGeom>
          <a:solidFill>
            <a:srgbClr val="2FD9C9"/>
          </a:solidFill>
          <a:ln/>
        </p:spPr>
      </p:sp>
      <p:sp>
        <p:nvSpPr>
          <p:cNvPr id="10" name="Text 7"/>
          <p:cNvSpPr/>
          <p:nvPr/>
        </p:nvSpPr>
        <p:spPr>
          <a:xfrm>
            <a:off x="749808" y="1783080"/>
            <a:ext cx="402336" cy="402336"/>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749808" y="2313432"/>
            <a:ext cx="228600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Single URL Scan</a:t>
            </a:r>
            <a:endParaRPr lang="en-US" sz="1400" dirty="0"/>
          </a:p>
        </p:txBody>
      </p:sp>
      <p:sp>
        <p:nvSpPr>
          <p:cNvPr id="12" name="Text 9"/>
          <p:cNvSpPr/>
          <p:nvPr/>
        </p:nvSpPr>
        <p:spPr>
          <a:xfrm>
            <a:off x="749808" y="2697480"/>
            <a:ext cx="2286000" cy="822960"/>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Check one URL with the Random Forest model via /api/v1/analyze.</a:t>
            </a:r>
            <a:endParaRPr lang="en-US" sz="1100" dirty="0"/>
          </a:p>
        </p:txBody>
      </p:sp>
      <p:sp>
        <p:nvSpPr>
          <p:cNvPr id="13" name="Shape 10"/>
          <p:cNvSpPr/>
          <p:nvPr/>
        </p:nvSpPr>
        <p:spPr>
          <a:xfrm>
            <a:off x="3355848" y="1600200"/>
            <a:ext cx="2651760" cy="2011680"/>
          </a:xfrm>
          <a:prstGeom prst="roundRect">
            <a:avLst>
              <a:gd name="adj" fmla="val 4545"/>
            </a:avLst>
          </a:prstGeom>
          <a:solidFill>
            <a:srgbClr val="13273F"/>
          </a:solidFill>
          <a:ln/>
        </p:spPr>
      </p:sp>
      <p:sp>
        <p:nvSpPr>
          <p:cNvPr id="14" name="Shape 11"/>
          <p:cNvSpPr/>
          <p:nvPr/>
        </p:nvSpPr>
        <p:spPr>
          <a:xfrm>
            <a:off x="3557016" y="1783080"/>
            <a:ext cx="402336" cy="402336"/>
          </a:xfrm>
          <a:prstGeom prst="ellipse">
            <a:avLst/>
          </a:prstGeom>
          <a:solidFill>
            <a:srgbClr val="2FD9C9"/>
          </a:solidFill>
          <a:ln/>
        </p:spPr>
      </p:sp>
      <p:sp>
        <p:nvSpPr>
          <p:cNvPr id="15" name="Text 12"/>
          <p:cNvSpPr/>
          <p:nvPr/>
        </p:nvSpPr>
        <p:spPr>
          <a:xfrm>
            <a:off x="3557016" y="1783080"/>
            <a:ext cx="402336" cy="402336"/>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16" name="Text 13"/>
          <p:cNvSpPr/>
          <p:nvPr/>
        </p:nvSpPr>
        <p:spPr>
          <a:xfrm>
            <a:off x="3557016" y="2313432"/>
            <a:ext cx="228600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Bulk Scan</a:t>
            </a:r>
            <a:endParaRPr lang="en-US" sz="1400" dirty="0"/>
          </a:p>
        </p:txBody>
      </p:sp>
      <p:sp>
        <p:nvSpPr>
          <p:cNvPr id="17" name="Text 14"/>
          <p:cNvSpPr/>
          <p:nvPr/>
        </p:nvSpPr>
        <p:spPr>
          <a:xfrm>
            <a:off x="3557016" y="2697480"/>
            <a:ext cx="2286000" cy="822960"/>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Scan up to 50 URLs per run and export the results as CSV.</a:t>
            </a:r>
            <a:endParaRPr lang="en-US" sz="1100" dirty="0"/>
          </a:p>
        </p:txBody>
      </p:sp>
      <p:sp>
        <p:nvSpPr>
          <p:cNvPr id="18" name="Shape 15"/>
          <p:cNvSpPr/>
          <p:nvPr/>
        </p:nvSpPr>
        <p:spPr>
          <a:xfrm>
            <a:off x="6163056" y="1600200"/>
            <a:ext cx="2651760" cy="2011680"/>
          </a:xfrm>
          <a:prstGeom prst="roundRect">
            <a:avLst>
              <a:gd name="adj" fmla="val 4545"/>
            </a:avLst>
          </a:prstGeom>
          <a:solidFill>
            <a:srgbClr val="13273F"/>
          </a:solidFill>
          <a:ln/>
        </p:spPr>
      </p:sp>
      <p:sp>
        <p:nvSpPr>
          <p:cNvPr id="19" name="Shape 16"/>
          <p:cNvSpPr/>
          <p:nvPr/>
        </p:nvSpPr>
        <p:spPr>
          <a:xfrm>
            <a:off x="6364224" y="1783080"/>
            <a:ext cx="402336" cy="402336"/>
          </a:xfrm>
          <a:prstGeom prst="ellipse">
            <a:avLst/>
          </a:prstGeom>
          <a:solidFill>
            <a:srgbClr val="2FD9C9"/>
          </a:solidFill>
          <a:ln/>
        </p:spPr>
      </p:sp>
      <p:sp>
        <p:nvSpPr>
          <p:cNvPr id="20" name="Text 17"/>
          <p:cNvSpPr/>
          <p:nvPr/>
        </p:nvSpPr>
        <p:spPr>
          <a:xfrm>
            <a:off x="6364224" y="1783080"/>
            <a:ext cx="402336" cy="402336"/>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21" name="Text 18"/>
          <p:cNvSpPr/>
          <p:nvPr/>
        </p:nvSpPr>
        <p:spPr>
          <a:xfrm>
            <a:off x="6364224" y="2313432"/>
            <a:ext cx="228600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Compare URLs</a:t>
            </a:r>
            <a:endParaRPr lang="en-US" sz="1400" dirty="0"/>
          </a:p>
        </p:txBody>
      </p:sp>
      <p:sp>
        <p:nvSpPr>
          <p:cNvPr id="22" name="Text 19"/>
          <p:cNvSpPr/>
          <p:nvPr/>
        </p:nvSpPr>
        <p:spPr>
          <a:xfrm>
            <a:off x="6364224" y="2697480"/>
            <a:ext cx="2286000" cy="822960"/>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Score several URLs with the same model and view them side by side.</a:t>
            </a:r>
            <a:endParaRPr lang="en-US" sz="1100" dirty="0"/>
          </a:p>
        </p:txBody>
      </p:sp>
      <p:sp>
        <p:nvSpPr>
          <p:cNvPr id="23" name="Shape 20"/>
          <p:cNvSpPr/>
          <p:nvPr/>
        </p:nvSpPr>
        <p:spPr>
          <a:xfrm>
            <a:off x="8970264" y="1600200"/>
            <a:ext cx="2651760" cy="2011680"/>
          </a:xfrm>
          <a:prstGeom prst="roundRect">
            <a:avLst>
              <a:gd name="adj" fmla="val 4545"/>
            </a:avLst>
          </a:prstGeom>
          <a:solidFill>
            <a:srgbClr val="13273F"/>
          </a:solidFill>
          <a:ln/>
        </p:spPr>
      </p:sp>
      <p:sp>
        <p:nvSpPr>
          <p:cNvPr id="24" name="Shape 21"/>
          <p:cNvSpPr/>
          <p:nvPr/>
        </p:nvSpPr>
        <p:spPr>
          <a:xfrm>
            <a:off x="9171432" y="1783080"/>
            <a:ext cx="402336" cy="402336"/>
          </a:xfrm>
          <a:prstGeom prst="ellipse">
            <a:avLst/>
          </a:prstGeom>
          <a:solidFill>
            <a:srgbClr val="2FD9C9"/>
          </a:solidFill>
          <a:ln/>
        </p:spPr>
      </p:sp>
      <p:sp>
        <p:nvSpPr>
          <p:cNvPr id="25" name="Text 22"/>
          <p:cNvSpPr/>
          <p:nvPr/>
        </p:nvSpPr>
        <p:spPr>
          <a:xfrm>
            <a:off x="9171432" y="1783080"/>
            <a:ext cx="402336" cy="402336"/>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26" name="Text 23"/>
          <p:cNvSpPr/>
          <p:nvPr/>
        </p:nvSpPr>
        <p:spPr>
          <a:xfrm>
            <a:off x="9171432" y="2313432"/>
            <a:ext cx="228600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Link Extraction</a:t>
            </a:r>
            <a:endParaRPr lang="en-US" sz="1400" dirty="0"/>
          </a:p>
        </p:txBody>
      </p:sp>
      <p:sp>
        <p:nvSpPr>
          <p:cNvPr id="27" name="Text 24"/>
          <p:cNvSpPr/>
          <p:nvPr/>
        </p:nvSpPr>
        <p:spPr>
          <a:xfrm>
            <a:off x="9171432" y="2697480"/>
            <a:ext cx="2286000" cy="822960"/>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Pull URLs from .txt, .csv, and .eml files (up to 2 MB), locally in the browser.</a:t>
            </a:r>
            <a:endParaRPr lang="en-US" sz="1100" dirty="0"/>
          </a:p>
        </p:txBody>
      </p:sp>
      <p:sp>
        <p:nvSpPr>
          <p:cNvPr id="28" name="Shape 25"/>
          <p:cNvSpPr/>
          <p:nvPr/>
        </p:nvSpPr>
        <p:spPr>
          <a:xfrm>
            <a:off x="548640" y="3794760"/>
            <a:ext cx="2651760" cy="2011680"/>
          </a:xfrm>
          <a:prstGeom prst="roundRect">
            <a:avLst>
              <a:gd name="adj" fmla="val 4545"/>
            </a:avLst>
          </a:prstGeom>
          <a:solidFill>
            <a:srgbClr val="13273F"/>
          </a:solidFill>
          <a:ln/>
        </p:spPr>
      </p:sp>
      <p:sp>
        <p:nvSpPr>
          <p:cNvPr id="29" name="Shape 26"/>
          <p:cNvSpPr/>
          <p:nvPr/>
        </p:nvSpPr>
        <p:spPr>
          <a:xfrm>
            <a:off x="749808" y="3977640"/>
            <a:ext cx="402336" cy="402336"/>
          </a:xfrm>
          <a:prstGeom prst="ellipse">
            <a:avLst/>
          </a:prstGeom>
          <a:solidFill>
            <a:srgbClr val="2FD9C9"/>
          </a:solidFill>
          <a:ln/>
        </p:spPr>
      </p:sp>
      <p:sp>
        <p:nvSpPr>
          <p:cNvPr id="30" name="Text 27"/>
          <p:cNvSpPr/>
          <p:nvPr/>
        </p:nvSpPr>
        <p:spPr>
          <a:xfrm>
            <a:off x="749808" y="3977640"/>
            <a:ext cx="402336" cy="402336"/>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5</a:t>
            </a:r>
            <a:endParaRPr lang="en-US" sz="1400" dirty="0"/>
          </a:p>
        </p:txBody>
      </p:sp>
      <p:sp>
        <p:nvSpPr>
          <p:cNvPr id="31" name="Text 28"/>
          <p:cNvSpPr/>
          <p:nvPr/>
        </p:nvSpPr>
        <p:spPr>
          <a:xfrm>
            <a:off x="749808" y="4507992"/>
            <a:ext cx="228600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QR Extraction</a:t>
            </a:r>
            <a:endParaRPr lang="en-US" sz="1400" dirty="0"/>
          </a:p>
        </p:txBody>
      </p:sp>
      <p:sp>
        <p:nvSpPr>
          <p:cNvPr id="32" name="Text 29"/>
          <p:cNvSpPr/>
          <p:nvPr/>
        </p:nvSpPr>
        <p:spPr>
          <a:xfrm>
            <a:off x="749808" y="4892040"/>
            <a:ext cx="2286000" cy="822960"/>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Read links from QR codes using the browser's BarcodeDetector.</a:t>
            </a:r>
            <a:endParaRPr lang="en-US" sz="1100" dirty="0"/>
          </a:p>
        </p:txBody>
      </p:sp>
      <p:sp>
        <p:nvSpPr>
          <p:cNvPr id="33" name="Shape 30"/>
          <p:cNvSpPr/>
          <p:nvPr/>
        </p:nvSpPr>
        <p:spPr>
          <a:xfrm>
            <a:off x="3355848" y="3794760"/>
            <a:ext cx="2651760" cy="2011680"/>
          </a:xfrm>
          <a:prstGeom prst="roundRect">
            <a:avLst>
              <a:gd name="adj" fmla="val 4545"/>
            </a:avLst>
          </a:prstGeom>
          <a:solidFill>
            <a:srgbClr val="13273F"/>
          </a:solidFill>
          <a:ln/>
        </p:spPr>
      </p:sp>
      <p:sp>
        <p:nvSpPr>
          <p:cNvPr id="34" name="Shape 31"/>
          <p:cNvSpPr/>
          <p:nvPr/>
        </p:nvSpPr>
        <p:spPr>
          <a:xfrm>
            <a:off x="3557016" y="3977640"/>
            <a:ext cx="402336" cy="402336"/>
          </a:xfrm>
          <a:prstGeom prst="ellipse">
            <a:avLst/>
          </a:prstGeom>
          <a:solidFill>
            <a:srgbClr val="2FD9C9"/>
          </a:solidFill>
          <a:ln/>
        </p:spPr>
      </p:sp>
      <p:sp>
        <p:nvSpPr>
          <p:cNvPr id="35" name="Text 32"/>
          <p:cNvSpPr/>
          <p:nvPr/>
        </p:nvSpPr>
        <p:spPr>
          <a:xfrm>
            <a:off x="3557016" y="3977640"/>
            <a:ext cx="402336" cy="402336"/>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6</a:t>
            </a:r>
            <a:endParaRPr lang="en-US" sz="1400" dirty="0"/>
          </a:p>
        </p:txBody>
      </p:sp>
      <p:sp>
        <p:nvSpPr>
          <p:cNvPr id="36" name="Text 33"/>
          <p:cNvSpPr/>
          <p:nvPr/>
        </p:nvSpPr>
        <p:spPr>
          <a:xfrm>
            <a:off x="3557016" y="4507992"/>
            <a:ext cx="228600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Live Domain Intelligence</a:t>
            </a:r>
            <a:endParaRPr lang="en-US" sz="1400" dirty="0"/>
          </a:p>
        </p:txBody>
      </p:sp>
      <p:sp>
        <p:nvSpPr>
          <p:cNvPr id="37" name="Text 34"/>
          <p:cNvSpPr/>
          <p:nvPr/>
        </p:nvSpPr>
        <p:spPr>
          <a:xfrm>
            <a:off x="3557016" y="4892040"/>
            <a:ext cx="2286000" cy="822960"/>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DNS, RDAP, TLS, safe redirect trace, and optional URLhaus reputation.</a:t>
            </a:r>
            <a:endParaRPr lang="en-US" sz="1100" dirty="0"/>
          </a:p>
        </p:txBody>
      </p:sp>
      <p:sp>
        <p:nvSpPr>
          <p:cNvPr id="38" name="Shape 35"/>
          <p:cNvSpPr/>
          <p:nvPr/>
        </p:nvSpPr>
        <p:spPr>
          <a:xfrm>
            <a:off x="6163056" y="3794760"/>
            <a:ext cx="2651760" cy="2011680"/>
          </a:xfrm>
          <a:prstGeom prst="roundRect">
            <a:avLst>
              <a:gd name="adj" fmla="val 4545"/>
            </a:avLst>
          </a:prstGeom>
          <a:solidFill>
            <a:srgbClr val="13273F"/>
          </a:solidFill>
          <a:ln/>
        </p:spPr>
      </p:sp>
      <p:sp>
        <p:nvSpPr>
          <p:cNvPr id="39" name="Shape 36"/>
          <p:cNvSpPr/>
          <p:nvPr/>
        </p:nvSpPr>
        <p:spPr>
          <a:xfrm>
            <a:off x="6364224" y="3977640"/>
            <a:ext cx="402336" cy="402336"/>
          </a:xfrm>
          <a:prstGeom prst="ellipse">
            <a:avLst/>
          </a:prstGeom>
          <a:solidFill>
            <a:srgbClr val="2FD9C9"/>
          </a:solidFill>
          <a:ln/>
        </p:spPr>
      </p:sp>
      <p:sp>
        <p:nvSpPr>
          <p:cNvPr id="40" name="Text 37"/>
          <p:cNvSpPr/>
          <p:nvPr/>
        </p:nvSpPr>
        <p:spPr>
          <a:xfrm>
            <a:off x="6364224" y="3977640"/>
            <a:ext cx="402336" cy="402336"/>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7</a:t>
            </a:r>
            <a:endParaRPr lang="en-US" sz="1400" dirty="0"/>
          </a:p>
        </p:txBody>
      </p:sp>
      <p:sp>
        <p:nvSpPr>
          <p:cNvPr id="41" name="Text 38"/>
          <p:cNvSpPr/>
          <p:nvPr/>
        </p:nvSpPr>
        <p:spPr>
          <a:xfrm>
            <a:off x="6364224" y="4507992"/>
            <a:ext cx="228600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Email Breach Lookup</a:t>
            </a:r>
            <a:endParaRPr lang="en-US" sz="1400" dirty="0"/>
          </a:p>
        </p:txBody>
      </p:sp>
      <p:sp>
        <p:nvSpPr>
          <p:cNvPr id="42" name="Text 39"/>
          <p:cNvSpPr/>
          <p:nvPr/>
        </p:nvSpPr>
        <p:spPr>
          <a:xfrm>
            <a:off x="6364224" y="4892040"/>
            <a:ext cx="2286000" cy="822960"/>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Optional known-breach check, only after explicit user consent.</a:t>
            </a:r>
            <a:endParaRPr lang="en-US" sz="1100" dirty="0"/>
          </a:p>
        </p:txBody>
      </p:sp>
      <p:sp>
        <p:nvSpPr>
          <p:cNvPr id="43" name="Shape 40"/>
          <p:cNvSpPr/>
          <p:nvPr/>
        </p:nvSpPr>
        <p:spPr>
          <a:xfrm>
            <a:off x="8970264" y="3794760"/>
            <a:ext cx="2651760" cy="2011680"/>
          </a:xfrm>
          <a:prstGeom prst="roundRect">
            <a:avLst>
              <a:gd name="adj" fmla="val 4545"/>
            </a:avLst>
          </a:prstGeom>
          <a:solidFill>
            <a:srgbClr val="13273F"/>
          </a:solidFill>
          <a:ln/>
        </p:spPr>
      </p:sp>
      <p:sp>
        <p:nvSpPr>
          <p:cNvPr id="44" name="Shape 41"/>
          <p:cNvSpPr/>
          <p:nvPr/>
        </p:nvSpPr>
        <p:spPr>
          <a:xfrm>
            <a:off x="9171432" y="3977640"/>
            <a:ext cx="402336" cy="402336"/>
          </a:xfrm>
          <a:prstGeom prst="ellipse">
            <a:avLst/>
          </a:prstGeom>
          <a:solidFill>
            <a:srgbClr val="2FD9C9"/>
          </a:solidFill>
          <a:ln/>
        </p:spPr>
      </p:sp>
      <p:sp>
        <p:nvSpPr>
          <p:cNvPr id="45" name="Text 42"/>
          <p:cNvSpPr/>
          <p:nvPr/>
        </p:nvSpPr>
        <p:spPr>
          <a:xfrm>
            <a:off x="9171432" y="3977640"/>
            <a:ext cx="402336" cy="402336"/>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8</a:t>
            </a:r>
            <a:endParaRPr lang="en-US" sz="1400" dirty="0"/>
          </a:p>
        </p:txBody>
      </p:sp>
      <p:sp>
        <p:nvSpPr>
          <p:cNvPr id="46" name="Text 43"/>
          <p:cNvSpPr/>
          <p:nvPr/>
        </p:nvSpPr>
        <p:spPr>
          <a:xfrm>
            <a:off x="9171432" y="4507992"/>
            <a:ext cx="228600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Reports &amp; Watchlist</a:t>
            </a:r>
            <a:endParaRPr lang="en-US" sz="1400" dirty="0"/>
          </a:p>
        </p:txBody>
      </p:sp>
      <p:sp>
        <p:nvSpPr>
          <p:cNvPr id="47" name="Text 44"/>
          <p:cNvSpPr/>
          <p:nvPr/>
        </p:nvSpPr>
        <p:spPr>
          <a:xfrm>
            <a:off x="9171432" y="4892040"/>
            <a:ext cx="2286000" cy="822960"/>
          </a:xfrm>
          <a:prstGeom prst="rect">
            <a:avLst/>
          </a:prstGeom>
          <a:noFill/>
          <a:ln/>
        </p:spPr>
        <p:txBody>
          <a:bodyPr wrap="square" lIns="0" tIns="0" rIns="0" bIns="0" rtlCol="0" anchor="t"/>
          <a:lstStyle/>
          <a:p>
            <a:pPr indent="0" marL="0">
              <a:lnSpc>
                <a:spcPct val="120000"/>
              </a:lnSpc>
              <a:buNone/>
            </a:pPr>
            <a:r>
              <a:rPr lang="en-US" sz="1100" dirty="0">
                <a:solidFill>
                  <a:srgbClr val="D7E1EC"/>
                </a:solidFill>
                <a:latin typeface="Calibri" pitchFamily="34" charset="0"/>
                <a:ea typeface="Calibri" pitchFamily="34" charset="-122"/>
                <a:cs typeface="Calibri" pitchFamily="34" charset="-120"/>
              </a:rPr>
              <a:t>Export JSON/TXT/CSV reports and keep a browser-local watchlist.</a:t>
            </a:r>
            <a:endParaRPr lang="en-US" sz="1100" dirty="0"/>
          </a:p>
        </p:txBody>
      </p:sp>
      <p:sp>
        <p:nvSpPr>
          <p:cNvPr id="48" name="Text 45"/>
          <p:cNvSpPr/>
          <p:nvPr/>
        </p:nvSpPr>
        <p:spPr>
          <a:xfrm>
            <a:off x="548640" y="6035040"/>
            <a:ext cx="10515600" cy="274320"/>
          </a:xfrm>
          <a:prstGeom prst="rect">
            <a:avLst/>
          </a:prstGeom>
          <a:noFill/>
          <a:ln/>
        </p:spPr>
        <p:txBody>
          <a:bodyPr wrap="square" lIns="0" tIns="0" rIns="0" bIns="0" rtlCol="0" anchor="ctr"/>
          <a:lstStyle/>
          <a:p>
            <a:pPr indent="0" marL="0">
              <a:buNone/>
            </a:pPr>
            <a:r>
              <a:rPr lang="en-US" sz="1050" i="1" dirty="0">
                <a:solidFill>
                  <a:srgbClr val="8598AD"/>
                </a:solidFill>
                <a:latin typeface="Calibri" pitchFamily="34" charset="0"/>
                <a:ea typeface="Calibri" pitchFamily="34" charset="-122"/>
                <a:cs typeface="Calibri" pitchFamily="34" charset="-120"/>
              </a:rPr>
              <a:t>ML scoring for scans, bulk runs, and comparisons all use the same /api/v1/analyze endpoint.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424160" y="-2377440"/>
            <a:ext cx="3474720" cy="3474720"/>
          </a:xfrm>
          <a:prstGeom prst="ellipse">
            <a:avLst/>
          </a:prstGeom>
          <a:solidFill>
            <a:srgbClr val="13273F"/>
          </a:solidFill>
          <a:ln/>
        </p:spPr>
      </p:sp>
      <p:sp>
        <p:nvSpPr>
          <p:cNvPr id="3" name="Shape 1"/>
          <p:cNvSpPr/>
          <p:nvPr/>
        </p:nvSpPr>
        <p:spPr>
          <a:xfrm>
            <a:off x="-2011680" y="6309360"/>
            <a:ext cx="2926080" cy="2926080"/>
          </a:xfrm>
          <a:prstGeom prst="ellipse">
            <a:avLst/>
          </a:prstGeom>
          <a:solidFill>
            <a:srgbClr val="13273F"/>
          </a:solidFill>
          <a:ln/>
        </p:spPr>
      </p:sp>
      <p:sp>
        <p:nvSpPr>
          <p:cNvPr id="4" name="Text 2"/>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FD9C9"/>
                </a:solidFill>
                <a:latin typeface="Calibri" pitchFamily="34" charset="0"/>
                <a:ea typeface="Calibri" pitchFamily="34" charset="-122"/>
                <a:cs typeface="Calibri" pitchFamily="34" charset="-120"/>
              </a:rPr>
              <a:t>EXTENDED INTELLIGENCE</a:t>
            </a:r>
            <a:endParaRPr lang="en-US" sz="1300" dirty="0"/>
          </a:p>
        </p:txBody>
      </p:sp>
      <p:sp>
        <p:nvSpPr>
          <p:cNvPr id="5" name="Text 3"/>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Live Domain Intelligence &amp; Breach Check</a:t>
            </a:r>
            <a:endParaRPr lang="en-US" sz="2800" dirty="0"/>
          </a:p>
        </p:txBody>
      </p:sp>
      <p:sp>
        <p:nvSpPr>
          <p:cNvPr id="6" name="Text 4"/>
          <p:cNvSpPr/>
          <p:nvPr/>
        </p:nvSpPr>
        <p:spPr>
          <a:xfrm>
            <a:off x="11247120" y="6473952"/>
            <a:ext cx="457200" cy="228600"/>
          </a:xfrm>
          <a:prstGeom prst="rect">
            <a:avLst/>
          </a:prstGeom>
          <a:noFill/>
          <a:ln/>
        </p:spPr>
        <p:txBody>
          <a:bodyPr wrap="square" lIns="0" tIns="0" rIns="0" bIns="0" rtlCol="0" anchor="ctr"/>
          <a:lstStyle/>
          <a:p>
            <a:pPr algn="r" indent="0" marL="0">
              <a:buNone/>
            </a:pPr>
            <a:r>
              <a:rPr lang="en-US" sz="900" dirty="0">
                <a:solidFill>
                  <a:srgbClr val="8598AD"/>
                </a:solidFill>
                <a:latin typeface="Calibri" pitchFamily="34" charset="0"/>
                <a:ea typeface="Calibri" pitchFamily="34" charset="-122"/>
                <a:cs typeface="Calibri" pitchFamily="34" charset="-120"/>
              </a:rPr>
              <a:t>8</a:t>
            </a:r>
            <a:endParaRPr lang="en-US" sz="900" dirty="0"/>
          </a:p>
        </p:txBody>
      </p:sp>
      <p:sp>
        <p:nvSpPr>
          <p:cNvPr id="8" name="Text 5"/>
          <p:cNvSpPr/>
          <p:nvPr/>
        </p:nvSpPr>
        <p:spPr>
          <a:xfrm>
            <a:off x="731520" y="1463040"/>
            <a:ext cx="2194560" cy="274320"/>
          </a:xfrm>
          <a:prstGeom prst="rect">
            <a:avLst/>
          </a:prstGeom>
          <a:noFill/>
          <a:ln/>
        </p:spPr>
        <p:txBody>
          <a:bodyPr wrap="square" lIns="0" tIns="0" rIns="0" bIns="0" rtlCol="0" anchor="ctr"/>
          <a:lstStyle/>
          <a:p>
            <a:pPr indent="0" marL="0">
              <a:buNone/>
            </a:pPr>
            <a:r>
              <a:rPr lang="en-US" sz="1000" b="1" spc="100" kern="0" dirty="0">
                <a:solidFill>
                  <a:srgbClr val="8598AD"/>
                </a:solidFill>
                <a:latin typeface="Calibri" pitchFamily="34" charset="0"/>
                <a:ea typeface="Calibri" pitchFamily="34" charset="-122"/>
                <a:cs typeface="Calibri" pitchFamily="34" charset="-120"/>
              </a:rPr>
              <a:t>SIGNAL</a:t>
            </a:r>
            <a:endParaRPr lang="en-US" sz="1000" dirty="0"/>
          </a:p>
        </p:txBody>
      </p:sp>
      <p:sp>
        <p:nvSpPr>
          <p:cNvPr id="9" name="Text 6"/>
          <p:cNvSpPr/>
          <p:nvPr/>
        </p:nvSpPr>
        <p:spPr>
          <a:xfrm>
            <a:off x="3108960" y="1463040"/>
            <a:ext cx="3657600" cy="274320"/>
          </a:xfrm>
          <a:prstGeom prst="rect">
            <a:avLst/>
          </a:prstGeom>
          <a:noFill/>
          <a:ln/>
        </p:spPr>
        <p:txBody>
          <a:bodyPr wrap="square" lIns="0" tIns="0" rIns="0" bIns="0" rtlCol="0" anchor="ctr"/>
          <a:lstStyle/>
          <a:p>
            <a:pPr indent="0" marL="0">
              <a:buNone/>
            </a:pPr>
            <a:r>
              <a:rPr lang="en-US" sz="1000" b="1" spc="100" kern="0" dirty="0">
                <a:solidFill>
                  <a:srgbClr val="8598AD"/>
                </a:solidFill>
                <a:latin typeface="Calibri" pitchFamily="34" charset="0"/>
                <a:ea typeface="Calibri" pitchFamily="34" charset="-122"/>
                <a:cs typeface="Calibri" pitchFamily="34" charset="-120"/>
              </a:rPr>
              <a:t>WHAT IT CHECKS</a:t>
            </a:r>
            <a:endParaRPr lang="en-US" sz="1000" dirty="0"/>
          </a:p>
        </p:txBody>
      </p:sp>
      <p:sp>
        <p:nvSpPr>
          <p:cNvPr id="10" name="Text 7"/>
          <p:cNvSpPr/>
          <p:nvPr/>
        </p:nvSpPr>
        <p:spPr>
          <a:xfrm>
            <a:off x="6949440" y="1463040"/>
            <a:ext cx="1737360" cy="274320"/>
          </a:xfrm>
          <a:prstGeom prst="rect">
            <a:avLst/>
          </a:prstGeom>
          <a:noFill/>
          <a:ln/>
        </p:spPr>
        <p:txBody>
          <a:bodyPr wrap="square" lIns="0" tIns="0" rIns="0" bIns="0" rtlCol="0" anchor="ctr"/>
          <a:lstStyle/>
          <a:p>
            <a:pPr indent="0" marL="0">
              <a:buNone/>
            </a:pPr>
            <a:r>
              <a:rPr lang="en-US" sz="1000" b="1" spc="100" kern="0" dirty="0">
                <a:solidFill>
                  <a:srgbClr val="8598AD"/>
                </a:solidFill>
                <a:latin typeface="Calibri" pitchFamily="34" charset="0"/>
                <a:ea typeface="Calibri" pitchFamily="34" charset="-122"/>
                <a:cs typeface="Calibri" pitchFamily="34" charset="-120"/>
              </a:rPr>
              <a:t>REQUIRES</a:t>
            </a:r>
            <a:endParaRPr lang="en-US" sz="1000" dirty="0"/>
          </a:p>
        </p:txBody>
      </p:sp>
      <p:sp>
        <p:nvSpPr>
          <p:cNvPr id="11" name="Shape 8"/>
          <p:cNvSpPr/>
          <p:nvPr/>
        </p:nvSpPr>
        <p:spPr>
          <a:xfrm>
            <a:off x="548640" y="1783080"/>
            <a:ext cx="8138160" cy="566928"/>
          </a:xfrm>
          <a:prstGeom prst="roundRect">
            <a:avLst>
              <a:gd name="adj" fmla="val 16129"/>
            </a:avLst>
          </a:prstGeom>
          <a:solidFill>
            <a:srgbClr val="13273F"/>
          </a:solidFill>
          <a:ln/>
        </p:spPr>
      </p:sp>
      <p:sp>
        <p:nvSpPr>
          <p:cNvPr id="12" name="Text 9"/>
          <p:cNvSpPr/>
          <p:nvPr/>
        </p:nvSpPr>
        <p:spPr>
          <a:xfrm>
            <a:off x="731520" y="1783080"/>
            <a:ext cx="228600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RDAP Registration</a:t>
            </a:r>
            <a:endParaRPr lang="en-US" sz="1250" dirty="0"/>
          </a:p>
        </p:txBody>
      </p:sp>
      <p:sp>
        <p:nvSpPr>
          <p:cNvPr id="13" name="Text 10"/>
          <p:cNvSpPr/>
          <p:nvPr/>
        </p:nvSpPr>
        <p:spPr>
          <a:xfrm>
            <a:off x="3108960" y="1783080"/>
            <a:ext cx="3749040" cy="566928"/>
          </a:xfrm>
          <a:prstGeom prst="rect">
            <a:avLst/>
          </a:prstGeom>
          <a:noFill/>
          <a:ln/>
        </p:spPr>
        <p:txBody>
          <a:bodyPr wrap="square" lIns="0" tIns="0" rIns="0" bIns="0" rtlCol="0" anchor="ctr"/>
          <a:lstStyle/>
          <a:p>
            <a:pPr indent="0" marL="0">
              <a:buNone/>
            </a:pPr>
            <a:r>
              <a:rPr lang="en-US" sz="1150" dirty="0">
                <a:solidFill>
                  <a:srgbClr val="D7E1EC"/>
                </a:solidFill>
                <a:latin typeface="Calibri" pitchFamily="34" charset="0"/>
                <a:ea typeface="Calibri" pitchFamily="34" charset="-122"/>
                <a:cs typeface="Calibri" pitchFamily="34" charset="-120"/>
              </a:rPr>
              <a:t>Domain registration details</a:t>
            </a:r>
            <a:endParaRPr lang="en-US" sz="1150" dirty="0"/>
          </a:p>
        </p:txBody>
      </p:sp>
      <p:sp>
        <p:nvSpPr>
          <p:cNvPr id="14" name="Shape 11"/>
          <p:cNvSpPr/>
          <p:nvPr/>
        </p:nvSpPr>
        <p:spPr>
          <a:xfrm>
            <a:off x="6903720" y="1911096"/>
            <a:ext cx="1645920" cy="310896"/>
          </a:xfrm>
          <a:prstGeom prst="roundRect">
            <a:avLst>
              <a:gd name="adj" fmla="val 50000"/>
            </a:avLst>
          </a:prstGeom>
          <a:solidFill>
            <a:srgbClr val="2FD9C9"/>
          </a:solidFill>
          <a:ln/>
        </p:spPr>
      </p:sp>
      <p:sp>
        <p:nvSpPr>
          <p:cNvPr id="15" name="Text 12"/>
          <p:cNvSpPr/>
          <p:nvPr/>
        </p:nvSpPr>
        <p:spPr>
          <a:xfrm>
            <a:off x="6903720" y="1911096"/>
            <a:ext cx="1645920" cy="310896"/>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No key</a:t>
            </a:r>
            <a:endParaRPr lang="en-US" sz="800" dirty="0"/>
          </a:p>
        </p:txBody>
      </p:sp>
      <p:sp>
        <p:nvSpPr>
          <p:cNvPr id="16" name="Shape 13"/>
          <p:cNvSpPr/>
          <p:nvPr/>
        </p:nvSpPr>
        <p:spPr>
          <a:xfrm>
            <a:off x="548640" y="2441448"/>
            <a:ext cx="8138160" cy="566928"/>
          </a:xfrm>
          <a:prstGeom prst="roundRect">
            <a:avLst>
              <a:gd name="adj" fmla="val 16129"/>
            </a:avLst>
          </a:prstGeom>
          <a:solidFill>
            <a:srgbClr val="13273F"/>
          </a:solidFill>
          <a:ln/>
        </p:spPr>
      </p:sp>
      <p:sp>
        <p:nvSpPr>
          <p:cNvPr id="17" name="Text 14"/>
          <p:cNvSpPr/>
          <p:nvPr/>
        </p:nvSpPr>
        <p:spPr>
          <a:xfrm>
            <a:off x="731520" y="2441448"/>
            <a:ext cx="228600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DNS</a:t>
            </a:r>
            <a:endParaRPr lang="en-US" sz="1250" dirty="0"/>
          </a:p>
        </p:txBody>
      </p:sp>
      <p:sp>
        <p:nvSpPr>
          <p:cNvPr id="18" name="Text 15"/>
          <p:cNvSpPr/>
          <p:nvPr/>
        </p:nvSpPr>
        <p:spPr>
          <a:xfrm>
            <a:off x="3108960" y="2441448"/>
            <a:ext cx="3749040" cy="566928"/>
          </a:xfrm>
          <a:prstGeom prst="rect">
            <a:avLst/>
          </a:prstGeom>
          <a:noFill/>
          <a:ln/>
        </p:spPr>
        <p:txBody>
          <a:bodyPr wrap="square" lIns="0" tIns="0" rIns="0" bIns="0" rtlCol="0" anchor="ctr"/>
          <a:lstStyle/>
          <a:p>
            <a:pPr indent="0" marL="0">
              <a:buNone/>
            </a:pPr>
            <a:r>
              <a:rPr lang="en-US" sz="1150" dirty="0">
                <a:solidFill>
                  <a:srgbClr val="D7E1EC"/>
                </a:solidFill>
                <a:latin typeface="Calibri" pitchFamily="34" charset="0"/>
                <a:ea typeface="Calibri" pitchFamily="34" charset="-122"/>
                <a:cs typeface="Calibri" pitchFamily="34" charset="-120"/>
              </a:rPr>
              <a:t>Whether and how the domain resolves</a:t>
            </a:r>
            <a:endParaRPr lang="en-US" sz="1150" dirty="0"/>
          </a:p>
        </p:txBody>
      </p:sp>
      <p:sp>
        <p:nvSpPr>
          <p:cNvPr id="19" name="Shape 16"/>
          <p:cNvSpPr/>
          <p:nvPr/>
        </p:nvSpPr>
        <p:spPr>
          <a:xfrm>
            <a:off x="6903720" y="2569464"/>
            <a:ext cx="1645920" cy="310896"/>
          </a:xfrm>
          <a:prstGeom prst="roundRect">
            <a:avLst>
              <a:gd name="adj" fmla="val 50000"/>
            </a:avLst>
          </a:prstGeom>
          <a:solidFill>
            <a:srgbClr val="2FD9C9"/>
          </a:solidFill>
          <a:ln/>
        </p:spPr>
      </p:sp>
      <p:sp>
        <p:nvSpPr>
          <p:cNvPr id="20" name="Text 17"/>
          <p:cNvSpPr/>
          <p:nvPr/>
        </p:nvSpPr>
        <p:spPr>
          <a:xfrm>
            <a:off x="6903720" y="2569464"/>
            <a:ext cx="1645920" cy="310896"/>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No key</a:t>
            </a:r>
            <a:endParaRPr lang="en-US" sz="800" dirty="0"/>
          </a:p>
        </p:txBody>
      </p:sp>
      <p:sp>
        <p:nvSpPr>
          <p:cNvPr id="21" name="Shape 18"/>
          <p:cNvSpPr/>
          <p:nvPr/>
        </p:nvSpPr>
        <p:spPr>
          <a:xfrm>
            <a:off x="548640" y="3099816"/>
            <a:ext cx="8138160" cy="566928"/>
          </a:xfrm>
          <a:prstGeom prst="roundRect">
            <a:avLst>
              <a:gd name="adj" fmla="val 16129"/>
            </a:avLst>
          </a:prstGeom>
          <a:solidFill>
            <a:srgbClr val="13273F"/>
          </a:solidFill>
          <a:ln/>
        </p:spPr>
      </p:sp>
      <p:sp>
        <p:nvSpPr>
          <p:cNvPr id="22" name="Text 19"/>
          <p:cNvSpPr/>
          <p:nvPr/>
        </p:nvSpPr>
        <p:spPr>
          <a:xfrm>
            <a:off x="731520" y="3099816"/>
            <a:ext cx="228600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TLS Certificate</a:t>
            </a:r>
            <a:endParaRPr lang="en-US" sz="1250" dirty="0"/>
          </a:p>
        </p:txBody>
      </p:sp>
      <p:sp>
        <p:nvSpPr>
          <p:cNvPr id="23" name="Text 20"/>
          <p:cNvSpPr/>
          <p:nvPr/>
        </p:nvSpPr>
        <p:spPr>
          <a:xfrm>
            <a:off x="3108960" y="3099816"/>
            <a:ext cx="3749040" cy="566928"/>
          </a:xfrm>
          <a:prstGeom prst="rect">
            <a:avLst/>
          </a:prstGeom>
          <a:noFill/>
          <a:ln/>
        </p:spPr>
        <p:txBody>
          <a:bodyPr wrap="square" lIns="0" tIns="0" rIns="0" bIns="0" rtlCol="0" anchor="ctr"/>
          <a:lstStyle/>
          <a:p>
            <a:pPr indent="0" marL="0">
              <a:buNone/>
            </a:pPr>
            <a:r>
              <a:rPr lang="en-US" sz="1150" dirty="0">
                <a:solidFill>
                  <a:srgbClr val="D7E1EC"/>
                </a:solidFill>
                <a:latin typeface="Calibri" pitchFamily="34" charset="0"/>
                <a:ea typeface="Calibri" pitchFamily="34" charset="-122"/>
                <a:cs typeface="Calibri" pitchFamily="34" charset="-120"/>
              </a:rPr>
              <a:t>Certificate details for the site</a:t>
            </a:r>
            <a:endParaRPr lang="en-US" sz="1150" dirty="0"/>
          </a:p>
        </p:txBody>
      </p:sp>
      <p:sp>
        <p:nvSpPr>
          <p:cNvPr id="24" name="Shape 21"/>
          <p:cNvSpPr/>
          <p:nvPr/>
        </p:nvSpPr>
        <p:spPr>
          <a:xfrm>
            <a:off x="6903720" y="3227832"/>
            <a:ext cx="1645920" cy="310896"/>
          </a:xfrm>
          <a:prstGeom prst="roundRect">
            <a:avLst>
              <a:gd name="adj" fmla="val 50000"/>
            </a:avLst>
          </a:prstGeom>
          <a:solidFill>
            <a:srgbClr val="2FD9C9"/>
          </a:solidFill>
          <a:ln/>
        </p:spPr>
      </p:sp>
      <p:sp>
        <p:nvSpPr>
          <p:cNvPr id="25" name="Text 22"/>
          <p:cNvSpPr/>
          <p:nvPr/>
        </p:nvSpPr>
        <p:spPr>
          <a:xfrm>
            <a:off x="6903720" y="3227832"/>
            <a:ext cx="1645920" cy="310896"/>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No key</a:t>
            </a:r>
            <a:endParaRPr lang="en-US" sz="800" dirty="0"/>
          </a:p>
        </p:txBody>
      </p:sp>
      <p:sp>
        <p:nvSpPr>
          <p:cNvPr id="26" name="Shape 23"/>
          <p:cNvSpPr/>
          <p:nvPr/>
        </p:nvSpPr>
        <p:spPr>
          <a:xfrm>
            <a:off x="548640" y="3758184"/>
            <a:ext cx="8138160" cy="566928"/>
          </a:xfrm>
          <a:prstGeom prst="roundRect">
            <a:avLst>
              <a:gd name="adj" fmla="val 16129"/>
            </a:avLst>
          </a:prstGeom>
          <a:solidFill>
            <a:srgbClr val="13273F"/>
          </a:solidFill>
          <a:ln/>
        </p:spPr>
      </p:sp>
      <p:sp>
        <p:nvSpPr>
          <p:cNvPr id="27" name="Text 24"/>
          <p:cNvSpPr/>
          <p:nvPr/>
        </p:nvSpPr>
        <p:spPr>
          <a:xfrm>
            <a:off x="731520" y="3758184"/>
            <a:ext cx="228600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Safe Redirects</a:t>
            </a:r>
            <a:endParaRPr lang="en-US" sz="1250" dirty="0"/>
          </a:p>
        </p:txBody>
      </p:sp>
      <p:sp>
        <p:nvSpPr>
          <p:cNvPr id="28" name="Text 25"/>
          <p:cNvSpPr/>
          <p:nvPr/>
        </p:nvSpPr>
        <p:spPr>
          <a:xfrm>
            <a:off x="3108960" y="3758184"/>
            <a:ext cx="3749040" cy="566928"/>
          </a:xfrm>
          <a:prstGeom prst="rect">
            <a:avLst/>
          </a:prstGeom>
          <a:noFill/>
          <a:ln/>
        </p:spPr>
        <p:txBody>
          <a:bodyPr wrap="square" lIns="0" tIns="0" rIns="0" bIns="0" rtlCol="0" anchor="ctr"/>
          <a:lstStyle/>
          <a:p>
            <a:pPr indent="0" marL="0">
              <a:buNone/>
            </a:pPr>
            <a:r>
              <a:rPr lang="en-US" sz="1150" dirty="0">
                <a:solidFill>
                  <a:srgbClr val="D7E1EC"/>
                </a:solidFill>
                <a:latin typeface="Calibri" pitchFamily="34" charset="0"/>
                <a:ea typeface="Calibri" pitchFamily="34" charset="-122"/>
                <a:cs typeface="Calibri" pitchFamily="34" charset="-120"/>
              </a:rPr>
              <a:t>Where the URL redirects to</a:t>
            </a:r>
            <a:endParaRPr lang="en-US" sz="1150" dirty="0"/>
          </a:p>
        </p:txBody>
      </p:sp>
      <p:sp>
        <p:nvSpPr>
          <p:cNvPr id="29" name="Shape 26"/>
          <p:cNvSpPr/>
          <p:nvPr/>
        </p:nvSpPr>
        <p:spPr>
          <a:xfrm>
            <a:off x="6903720" y="3886200"/>
            <a:ext cx="1645920" cy="310896"/>
          </a:xfrm>
          <a:prstGeom prst="roundRect">
            <a:avLst>
              <a:gd name="adj" fmla="val 50000"/>
            </a:avLst>
          </a:prstGeom>
          <a:solidFill>
            <a:srgbClr val="2FD9C9"/>
          </a:solidFill>
          <a:ln/>
        </p:spPr>
      </p:sp>
      <p:sp>
        <p:nvSpPr>
          <p:cNvPr id="30" name="Text 27"/>
          <p:cNvSpPr/>
          <p:nvPr/>
        </p:nvSpPr>
        <p:spPr>
          <a:xfrm>
            <a:off x="6903720" y="3886200"/>
            <a:ext cx="1645920" cy="310896"/>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No key</a:t>
            </a:r>
            <a:endParaRPr lang="en-US" sz="800" dirty="0"/>
          </a:p>
        </p:txBody>
      </p:sp>
      <p:sp>
        <p:nvSpPr>
          <p:cNvPr id="31" name="Shape 28"/>
          <p:cNvSpPr/>
          <p:nvPr/>
        </p:nvSpPr>
        <p:spPr>
          <a:xfrm>
            <a:off x="548640" y="4416552"/>
            <a:ext cx="8138160" cy="566928"/>
          </a:xfrm>
          <a:prstGeom prst="roundRect">
            <a:avLst>
              <a:gd name="adj" fmla="val 16129"/>
            </a:avLst>
          </a:prstGeom>
          <a:solidFill>
            <a:srgbClr val="13273F"/>
          </a:solidFill>
          <a:ln/>
        </p:spPr>
      </p:sp>
      <p:sp>
        <p:nvSpPr>
          <p:cNvPr id="32" name="Text 29"/>
          <p:cNvSpPr/>
          <p:nvPr/>
        </p:nvSpPr>
        <p:spPr>
          <a:xfrm>
            <a:off x="731520" y="4416552"/>
            <a:ext cx="228600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URLhaus</a:t>
            </a:r>
            <a:endParaRPr lang="en-US" sz="1250" dirty="0"/>
          </a:p>
        </p:txBody>
      </p:sp>
      <p:sp>
        <p:nvSpPr>
          <p:cNvPr id="33" name="Text 30"/>
          <p:cNvSpPr/>
          <p:nvPr/>
        </p:nvSpPr>
        <p:spPr>
          <a:xfrm>
            <a:off x="3108960" y="4416552"/>
            <a:ext cx="3749040" cy="566928"/>
          </a:xfrm>
          <a:prstGeom prst="rect">
            <a:avLst/>
          </a:prstGeom>
          <a:noFill/>
          <a:ln/>
        </p:spPr>
        <p:txBody>
          <a:bodyPr wrap="square" lIns="0" tIns="0" rIns="0" bIns="0" rtlCol="0" anchor="ctr"/>
          <a:lstStyle/>
          <a:p>
            <a:pPr indent="0" marL="0">
              <a:buNone/>
            </a:pPr>
            <a:r>
              <a:rPr lang="en-US" sz="1150" dirty="0">
                <a:solidFill>
                  <a:srgbClr val="D7E1EC"/>
                </a:solidFill>
                <a:latin typeface="Calibri" pitchFamily="34" charset="0"/>
                <a:ea typeface="Calibri" pitchFamily="34" charset="-122"/>
                <a:cs typeface="Calibri" pitchFamily="34" charset="-120"/>
              </a:rPr>
              <a:t>Threat-feed reputation lookup</a:t>
            </a:r>
            <a:endParaRPr lang="en-US" sz="1150" dirty="0"/>
          </a:p>
        </p:txBody>
      </p:sp>
      <p:sp>
        <p:nvSpPr>
          <p:cNvPr id="34" name="Shape 31"/>
          <p:cNvSpPr/>
          <p:nvPr/>
        </p:nvSpPr>
        <p:spPr>
          <a:xfrm>
            <a:off x="6903720" y="4544568"/>
            <a:ext cx="1645920" cy="310896"/>
          </a:xfrm>
          <a:prstGeom prst="roundRect">
            <a:avLst>
              <a:gd name="adj" fmla="val 50000"/>
            </a:avLst>
          </a:prstGeom>
          <a:solidFill>
            <a:srgbClr val="1B3552"/>
          </a:solidFill>
          <a:ln/>
        </p:spPr>
      </p:sp>
      <p:sp>
        <p:nvSpPr>
          <p:cNvPr id="35" name="Text 32"/>
          <p:cNvSpPr/>
          <p:nvPr/>
        </p:nvSpPr>
        <p:spPr>
          <a:xfrm>
            <a:off x="6903720" y="4544568"/>
            <a:ext cx="1645920" cy="310896"/>
          </a:xfrm>
          <a:prstGeom prst="rect">
            <a:avLst/>
          </a:prstGeom>
          <a:noFill/>
          <a:ln/>
        </p:spPr>
        <p:txBody>
          <a:bodyPr wrap="square" lIns="0" tIns="0" rIns="0" bIns="0" rtlCol="0" anchor="ctr"/>
          <a:lstStyle/>
          <a:p>
            <a:pPr algn="ctr" indent="0" marL="0">
              <a:buNone/>
            </a:pPr>
            <a:r>
              <a:rPr lang="en-US" sz="800" b="1" dirty="0">
                <a:solidFill>
                  <a:srgbClr val="2FD9C9"/>
                </a:solidFill>
                <a:latin typeface="Calibri" pitchFamily="34" charset="0"/>
                <a:ea typeface="Calibri" pitchFamily="34" charset="-122"/>
                <a:cs typeface="Calibri" pitchFamily="34" charset="-120"/>
              </a:rPr>
              <a:t>URLHAUS_AUTH_KEY</a:t>
            </a:r>
            <a:endParaRPr lang="en-US" sz="800" dirty="0"/>
          </a:p>
        </p:txBody>
      </p:sp>
      <p:sp>
        <p:nvSpPr>
          <p:cNvPr id="36" name="Shape 33"/>
          <p:cNvSpPr/>
          <p:nvPr/>
        </p:nvSpPr>
        <p:spPr>
          <a:xfrm>
            <a:off x="548640" y="5074920"/>
            <a:ext cx="8138160" cy="566928"/>
          </a:xfrm>
          <a:prstGeom prst="roundRect">
            <a:avLst>
              <a:gd name="adj" fmla="val 16129"/>
            </a:avLst>
          </a:prstGeom>
          <a:solidFill>
            <a:srgbClr val="13273F"/>
          </a:solidFill>
          <a:ln/>
        </p:spPr>
      </p:sp>
      <p:sp>
        <p:nvSpPr>
          <p:cNvPr id="37" name="Text 34"/>
          <p:cNvSpPr/>
          <p:nvPr/>
        </p:nvSpPr>
        <p:spPr>
          <a:xfrm>
            <a:off x="731520" y="5074920"/>
            <a:ext cx="228600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Breach Lookup (HIBP)</a:t>
            </a:r>
            <a:endParaRPr lang="en-US" sz="1250" dirty="0"/>
          </a:p>
        </p:txBody>
      </p:sp>
      <p:sp>
        <p:nvSpPr>
          <p:cNvPr id="38" name="Text 35"/>
          <p:cNvSpPr/>
          <p:nvPr/>
        </p:nvSpPr>
        <p:spPr>
          <a:xfrm>
            <a:off x="3108960" y="5074920"/>
            <a:ext cx="3749040" cy="566928"/>
          </a:xfrm>
          <a:prstGeom prst="rect">
            <a:avLst/>
          </a:prstGeom>
          <a:noFill/>
          <a:ln/>
        </p:spPr>
        <p:txBody>
          <a:bodyPr wrap="square" lIns="0" tIns="0" rIns="0" bIns="0" rtlCol="0" anchor="ctr"/>
          <a:lstStyle/>
          <a:p>
            <a:pPr indent="0" marL="0">
              <a:buNone/>
            </a:pPr>
            <a:r>
              <a:rPr lang="en-US" sz="1150" dirty="0">
                <a:solidFill>
                  <a:srgbClr val="D7E1EC"/>
                </a:solidFill>
                <a:latin typeface="Calibri" pitchFamily="34" charset="0"/>
                <a:ea typeface="Calibri" pitchFamily="34" charset="-122"/>
                <a:cs typeface="Calibri" pitchFamily="34" charset="-120"/>
              </a:rPr>
              <a:t>Known breaches for a supplied email</a:t>
            </a:r>
            <a:endParaRPr lang="en-US" sz="1150" dirty="0"/>
          </a:p>
        </p:txBody>
      </p:sp>
      <p:sp>
        <p:nvSpPr>
          <p:cNvPr id="39" name="Shape 36"/>
          <p:cNvSpPr/>
          <p:nvPr/>
        </p:nvSpPr>
        <p:spPr>
          <a:xfrm>
            <a:off x="6903720" y="5202936"/>
            <a:ext cx="1645920" cy="310896"/>
          </a:xfrm>
          <a:prstGeom prst="roundRect">
            <a:avLst>
              <a:gd name="adj" fmla="val 50000"/>
            </a:avLst>
          </a:prstGeom>
          <a:solidFill>
            <a:srgbClr val="1B3552"/>
          </a:solidFill>
          <a:ln/>
        </p:spPr>
      </p:sp>
      <p:sp>
        <p:nvSpPr>
          <p:cNvPr id="40" name="Text 37"/>
          <p:cNvSpPr/>
          <p:nvPr/>
        </p:nvSpPr>
        <p:spPr>
          <a:xfrm>
            <a:off x="6903720" y="5202936"/>
            <a:ext cx="1645920" cy="310896"/>
          </a:xfrm>
          <a:prstGeom prst="rect">
            <a:avLst/>
          </a:prstGeom>
          <a:noFill/>
          <a:ln/>
        </p:spPr>
        <p:txBody>
          <a:bodyPr wrap="square" lIns="0" tIns="0" rIns="0" bIns="0" rtlCol="0" anchor="ctr"/>
          <a:lstStyle/>
          <a:p>
            <a:pPr algn="ctr" indent="0" marL="0">
              <a:buNone/>
            </a:pPr>
            <a:r>
              <a:rPr lang="en-US" sz="800" b="1" dirty="0">
                <a:solidFill>
                  <a:srgbClr val="2FD9C9"/>
                </a:solidFill>
                <a:latin typeface="Calibri" pitchFamily="34" charset="0"/>
                <a:ea typeface="Calibri" pitchFamily="34" charset="-122"/>
                <a:cs typeface="Calibri" pitchFamily="34" charset="-120"/>
              </a:rPr>
              <a:t>HIBP_API_KEY + consent</a:t>
            </a:r>
            <a:endParaRPr lang="en-US" sz="800" dirty="0"/>
          </a:p>
        </p:txBody>
      </p:sp>
      <p:sp>
        <p:nvSpPr>
          <p:cNvPr id="41" name="Shape 38"/>
          <p:cNvSpPr/>
          <p:nvPr/>
        </p:nvSpPr>
        <p:spPr>
          <a:xfrm>
            <a:off x="8915400" y="1783080"/>
            <a:ext cx="2697480" cy="3858768"/>
          </a:xfrm>
          <a:prstGeom prst="roundRect">
            <a:avLst>
              <a:gd name="adj" fmla="val 3390"/>
            </a:avLst>
          </a:prstGeom>
          <a:solidFill>
            <a:srgbClr val="1B3552"/>
          </a:solidFill>
          <a:ln w="12700">
            <a:solidFill>
              <a:srgbClr val="2FD9C9"/>
            </a:solidFill>
            <a:prstDash val="solid"/>
          </a:ln>
        </p:spPr>
      </p:sp>
      <p:sp>
        <p:nvSpPr>
          <p:cNvPr id="42" name="Text 39"/>
          <p:cNvSpPr/>
          <p:nvPr/>
        </p:nvSpPr>
        <p:spPr>
          <a:xfrm>
            <a:off x="9144000" y="1965960"/>
            <a:ext cx="2286000" cy="365760"/>
          </a:xfrm>
          <a:prstGeom prst="rect">
            <a:avLst/>
          </a:prstGeom>
          <a:noFill/>
          <a:ln/>
        </p:spPr>
        <p:txBody>
          <a:bodyPr wrap="square" lIns="0" tIns="0" rIns="0" bIns="0" rtlCol="0" anchor="ctr"/>
          <a:lstStyle/>
          <a:p>
            <a:pPr indent="0" marL="0">
              <a:buNone/>
            </a:pPr>
            <a:r>
              <a:rPr lang="en-US" sz="1400" b="1" dirty="0">
                <a:solidFill>
                  <a:srgbClr val="2FD9C9"/>
                </a:solidFill>
                <a:latin typeface="Cambria" pitchFamily="34" charset="0"/>
                <a:ea typeface="Cambria" pitchFamily="34" charset="-122"/>
                <a:cs typeface="Cambria" pitchFamily="34" charset="-120"/>
              </a:rPr>
              <a:t>Read results carefully</a:t>
            </a:r>
            <a:endParaRPr lang="en-US" sz="1400" dirty="0"/>
          </a:p>
        </p:txBody>
      </p:sp>
      <p:sp>
        <p:nvSpPr>
          <p:cNvPr id="43" name="Text 40"/>
          <p:cNvSpPr/>
          <p:nvPr/>
        </p:nvSpPr>
        <p:spPr>
          <a:xfrm>
            <a:off x="9144000" y="2423160"/>
            <a:ext cx="2286000" cy="3108960"/>
          </a:xfrm>
          <a:prstGeom prst="rect">
            <a:avLst/>
          </a:prstGeom>
          <a:noFill/>
          <a:ln/>
        </p:spPr>
        <p:txBody>
          <a:bodyPr wrap="square" lIns="0" tIns="0" rIns="0" bIns="0" rtlCol="0" anchor="t"/>
          <a:lstStyle/>
          <a:p>
            <a:pPr indent="0" marL="0">
              <a:lnSpc>
                <a:spcPct val="125000"/>
              </a:lnSpc>
              <a:buNone/>
            </a:pPr>
            <a:r>
              <a:rPr lang="en-US" sz="1150" dirty="0">
                <a:solidFill>
                  <a:srgbClr val="D7E1EC"/>
                </a:solidFill>
                <a:latin typeface="Calibri" pitchFamily="34" charset="0"/>
                <a:ea typeface="Calibri" pitchFamily="34" charset="-122"/>
                <a:cs typeface="Calibri" pitchFamily="34" charset="-120"/>
              </a:rPr>
              <a:t>Live checks are best-effort. A missing result means unknown or unavailable — it is not proof that a site is safe.</a:t>
            </a:r>
            <a:endParaRPr lang="en-US" sz="1150" dirty="0"/>
          </a:p>
          <a:p>
            <a:pPr indent="0" marL="0">
              <a:lnSpc>
                <a:spcPct val="125000"/>
              </a:lnSpc>
              <a:buNone/>
            </a:pPr>
            <a:endParaRPr lang="en-US" sz="1150" dirty="0"/>
          </a:p>
          <a:p>
            <a:pPr indent="0" marL="0">
              <a:lnSpc>
                <a:spcPct val="125000"/>
              </a:lnSpc>
              <a:buNone/>
            </a:pPr>
            <a:r>
              <a:rPr lang="en-US" sz="1150" dirty="0">
                <a:solidFill>
                  <a:srgbClr val="D7E1EC"/>
                </a:solidFill>
                <a:latin typeface="Calibri" pitchFamily="34" charset="0"/>
                <a:ea typeface="Calibri" pitchFamily="34" charset="-122"/>
                <a:cs typeface="Calibri" pitchFamily="34" charset="-120"/>
              </a:rPr>
              <a:t>The ML probability is likewise a model estimate, not a verified reputation score.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424160" y="-2377440"/>
            <a:ext cx="3474720" cy="3474720"/>
          </a:xfrm>
          <a:prstGeom prst="ellipse">
            <a:avLst/>
          </a:prstGeom>
          <a:solidFill>
            <a:srgbClr val="13273F"/>
          </a:solidFill>
          <a:ln/>
        </p:spPr>
      </p:sp>
      <p:sp>
        <p:nvSpPr>
          <p:cNvPr id="3" name="Shape 1"/>
          <p:cNvSpPr/>
          <p:nvPr/>
        </p:nvSpPr>
        <p:spPr>
          <a:xfrm>
            <a:off x="-2011680" y="6309360"/>
            <a:ext cx="2926080" cy="2926080"/>
          </a:xfrm>
          <a:prstGeom prst="ellipse">
            <a:avLst/>
          </a:prstGeom>
          <a:solidFill>
            <a:srgbClr val="13273F"/>
          </a:solidFill>
          <a:ln/>
        </p:spPr>
      </p:sp>
      <p:sp>
        <p:nvSpPr>
          <p:cNvPr id="4" name="Text 2"/>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FD9C9"/>
                </a:solidFill>
                <a:latin typeface="Calibri" pitchFamily="34" charset="0"/>
                <a:ea typeface="Calibri" pitchFamily="34" charset="-122"/>
                <a:cs typeface="Calibri" pitchFamily="34" charset="-120"/>
              </a:rPr>
              <a:t>TECHNOLOGY</a:t>
            </a:r>
            <a:endParaRPr lang="en-US" sz="1300" dirty="0"/>
          </a:p>
        </p:txBody>
      </p:sp>
      <p:sp>
        <p:nvSpPr>
          <p:cNvPr id="5" name="Text 3"/>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Technology Stack</a:t>
            </a:r>
            <a:endParaRPr lang="en-US" sz="2800" dirty="0"/>
          </a:p>
        </p:txBody>
      </p:sp>
      <p:sp>
        <p:nvSpPr>
          <p:cNvPr id="6" name="Text 4"/>
          <p:cNvSpPr/>
          <p:nvPr/>
        </p:nvSpPr>
        <p:spPr>
          <a:xfrm>
            <a:off x="11247120" y="6473952"/>
            <a:ext cx="457200" cy="228600"/>
          </a:xfrm>
          <a:prstGeom prst="rect">
            <a:avLst/>
          </a:prstGeom>
          <a:noFill/>
          <a:ln/>
        </p:spPr>
        <p:txBody>
          <a:bodyPr wrap="square" lIns="0" tIns="0" rIns="0" bIns="0" rtlCol="0" anchor="ctr"/>
          <a:lstStyle/>
          <a:p>
            <a:pPr algn="r" indent="0" marL="0">
              <a:buNone/>
            </a:pPr>
            <a:r>
              <a:rPr lang="en-US" sz="900" dirty="0">
                <a:solidFill>
                  <a:srgbClr val="8598AD"/>
                </a:solidFill>
                <a:latin typeface="Calibri" pitchFamily="34" charset="0"/>
                <a:ea typeface="Calibri" pitchFamily="34" charset="-122"/>
                <a:cs typeface="Calibri" pitchFamily="34" charset="-120"/>
              </a:rPr>
              <a:t>9</a:t>
            </a:r>
            <a:endParaRPr lang="en-US" sz="900" dirty="0"/>
          </a:p>
        </p:txBody>
      </p:sp>
      <p:sp>
        <p:nvSpPr>
          <p:cNvPr id="8" name="Shape 5"/>
          <p:cNvSpPr/>
          <p:nvPr/>
        </p:nvSpPr>
        <p:spPr>
          <a:xfrm>
            <a:off x="548640" y="1600200"/>
            <a:ext cx="3566160" cy="2057400"/>
          </a:xfrm>
          <a:prstGeom prst="roundRect">
            <a:avLst>
              <a:gd name="adj" fmla="val 4444"/>
            </a:avLst>
          </a:prstGeom>
          <a:solidFill>
            <a:srgbClr val="13273F"/>
          </a:solidFill>
          <a:ln/>
        </p:spPr>
      </p:sp>
      <p:sp>
        <p:nvSpPr>
          <p:cNvPr id="9" name="Text 6"/>
          <p:cNvSpPr/>
          <p:nvPr/>
        </p:nvSpPr>
        <p:spPr>
          <a:xfrm>
            <a:off x="777240" y="1764792"/>
            <a:ext cx="3108960" cy="365760"/>
          </a:xfrm>
          <a:prstGeom prst="rect">
            <a:avLst/>
          </a:prstGeom>
          <a:noFill/>
          <a:ln/>
        </p:spPr>
        <p:txBody>
          <a:bodyPr wrap="square" lIns="0" tIns="0" rIns="0" bIns="0" rtlCol="0" anchor="ctr"/>
          <a:lstStyle/>
          <a:p>
            <a:pPr indent="0" marL="0">
              <a:buNone/>
            </a:pPr>
            <a:r>
              <a:rPr lang="en-US" sz="1500" b="1" dirty="0">
                <a:solidFill>
                  <a:srgbClr val="2FD9C9"/>
                </a:solidFill>
                <a:latin typeface="Cambria" pitchFamily="34" charset="0"/>
                <a:ea typeface="Cambria" pitchFamily="34" charset="-122"/>
                <a:cs typeface="Cambria" pitchFamily="34" charset="-120"/>
              </a:rPr>
              <a:t>Machine Learning</a:t>
            </a:r>
            <a:endParaRPr lang="en-US" sz="1500" dirty="0"/>
          </a:p>
        </p:txBody>
      </p:sp>
      <p:sp>
        <p:nvSpPr>
          <p:cNvPr id="10" name="Shape 7"/>
          <p:cNvSpPr/>
          <p:nvPr/>
        </p:nvSpPr>
        <p:spPr>
          <a:xfrm>
            <a:off x="777240" y="2395728"/>
            <a:ext cx="91440" cy="91440"/>
          </a:xfrm>
          <a:prstGeom prst="ellipse">
            <a:avLst/>
          </a:prstGeom>
          <a:solidFill>
            <a:srgbClr val="2FD9C9"/>
          </a:solidFill>
          <a:ln/>
        </p:spPr>
      </p:sp>
      <p:sp>
        <p:nvSpPr>
          <p:cNvPr id="11" name="Text 8"/>
          <p:cNvSpPr/>
          <p:nvPr/>
        </p:nvSpPr>
        <p:spPr>
          <a:xfrm>
            <a:off x="1033272" y="231343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scikit-learn 1.9.1 — Random Forest</a:t>
            </a:r>
            <a:endParaRPr lang="en-US" sz="1150" dirty="0"/>
          </a:p>
        </p:txBody>
      </p:sp>
      <p:sp>
        <p:nvSpPr>
          <p:cNvPr id="12" name="Shape 9"/>
          <p:cNvSpPr/>
          <p:nvPr/>
        </p:nvSpPr>
        <p:spPr>
          <a:xfrm>
            <a:off x="777240" y="2807208"/>
            <a:ext cx="91440" cy="91440"/>
          </a:xfrm>
          <a:prstGeom prst="ellipse">
            <a:avLst/>
          </a:prstGeom>
          <a:solidFill>
            <a:srgbClr val="2FD9C9"/>
          </a:solidFill>
          <a:ln/>
        </p:spPr>
      </p:sp>
      <p:sp>
        <p:nvSpPr>
          <p:cNvPr id="13" name="Text 10"/>
          <p:cNvSpPr/>
          <p:nvPr/>
        </p:nvSpPr>
        <p:spPr>
          <a:xfrm>
            <a:off x="1033272" y="272491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joblib 1.6.0 — model persistence</a:t>
            </a:r>
            <a:endParaRPr lang="en-US" sz="1150" dirty="0"/>
          </a:p>
        </p:txBody>
      </p:sp>
      <p:sp>
        <p:nvSpPr>
          <p:cNvPr id="14" name="Shape 11"/>
          <p:cNvSpPr/>
          <p:nvPr/>
        </p:nvSpPr>
        <p:spPr>
          <a:xfrm>
            <a:off x="777240" y="3218688"/>
            <a:ext cx="91440" cy="91440"/>
          </a:xfrm>
          <a:prstGeom prst="ellipse">
            <a:avLst/>
          </a:prstGeom>
          <a:solidFill>
            <a:srgbClr val="2FD9C9"/>
          </a:solidFill>
          <a:ln/>
        </p:spPr>
      </p:sp>
      <p:sp>
        <p:nvSpPr>
          <p:cNvPr id="15" name="Text 12"/>
          <p:cNvSpPr/>
          <p:nvPr/>
        </p:nvSpPr>
        <p:spPr>
          <a:xfrm>
            <a:off x="1033272" y="313639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SciPy 1.18.1</a:t>
            </a:r>
            <a:endParaRPr lang="en-US" sz="1150" dirty="0"/>
          </a:p>
        </p:txBody>
      </p:sp>
      <p:sp>
        <p:nvSpPr>
          <p:cNvPr id="16" name="Shape 13"/>
          <p:cNvSpPr/>
          <p:nvPr/>
        </p:nvSpPr>
        <p:spPr>
          <a:xfrm>
            <a:off x="4297680" y="1600200"/>
            <a:ext cx="3566160" cy="2057400"/>
          </a:xfrm>
          <a:prstGeom prst="roundRect">
            <a:avLst>
              <a:gd name="adj" fmla="val 4444"/>
            </a:avLst>
          </a:prstGeom>
          <a:solidFill>
            <a:srgbClr val="13273F"/>
          </a:solidFill>
          <a:ln/>
        </p:spPr>
      </p:sp>
      <p:sp>
        <p:nvSpPr>
          <p:cNvPr id="17" name="Text 14"/>
          <p:cNvSpPr/>
          <p:nvPr/>
        </p:nvSpPr>
        <p:spPr>
          <a:xfrm>
            <a:off x="4526280" y="1764792"/>
            <a:ext cx="3108960" cy="365760"/>
          </a:xfrm>
          <a:prstGeom prst="rect">
            <a:avLst/>
          </a:prstGeom>
          <a:noFill/>
          <a:ln/>
        </p:spPr>
        <p:txBody>
          <a:bodyPr wrap="square" lIns="0" tIns="0" rIns="0" bIns="0" rtlCol="0" anchor="ctr"/>
          <a:lstStyle/>
          <a:p>
            <a:pPr indent="0" marL="0">
              <a:buNone/>
            </a:pPr>
            <a:r>
              <a:rPr lang="en-US" sz="1500" b="1" dirty="0">
                <a:solidFill>
                  <a:srgbClr val="2FD9C9"/>
                </a:solidFill>
                <a:latin typeface="Cambria" pitchFamily="34" charset="0"/>
                <a:ea typeface="Cambria" pitchFamily="34" charset="-122"/>
                <a:cs typeface="Cambria" pitchFamily="34" charset="-120"/>
              </a:rPr>
              <a:t>Data Processing</a:t>
            </a:r>
            <a:endParaRPr lang="en-US" sz="1500" dirty="0"/>
          </a:p>
        </p:txBody>
      </p:sp>
      <p:sp>
        <p:nvSpPr>
          <p:cNvPr id="18" name="Shape 15"/>
          <p:cNvSpPr/>
          <p:nvPr/>
        </p:nvSpPr>
        <p:spPr>
          <a:xfrm>
            <a:off x="4526280" y="2395728"/>
            <a:ext cx="91440" cy="91440"/>
          </a:xfrm>
          <a:prstGeom prst="ellipse">
            <a:avLst/>
          </a:prstGeom>
          <a:solidFill>
            <a:srgbClr val="2FD9C9"/>
          </a:solidFill>
          <a:ln/>
        </p:spPr>
      </p:sp>
      <p:sp>
        <p:nvSpPr>
          <p:cNvPr id="19" name="Text 16"/>
          <p:cNvSpPr/>
          <p:nvPr/>
        </p:nvSpPr>
        <p:spPr>
          <a:xfrm>
            <a:off x="4782312" y="231343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pandas 3.0.6</a:t>
            </a:r>
            <a:endParaRPr lang="en-US" sz="1150" dirty="0"/>
          </a:p>
        </p:txBody>
      </p:sp>
      <p:sp>
        <p:nvSpPr>
          <p:cNvPr id="20" name="Shape 17"/>
          <p:cNvSpPr/>
          <p:nvPr/>
        </p:nvSpPr>
        <p:spPr>
          <a:xfrm>
            <a:off x="4526280" y="2807208"/>
            <a:ext cx="91440" cy="91440"/>
          </a:xfrm>
          <a:prstGeom prst="ellipse">
            <a:avLst/>
          </a:prstGeom>
          <a:solidFill>
            <a:srgbClr val="2FD9C9"/>
          </a:solidFill>
          <a:ln/>
        </p:spPr>
      </p:sp>
      <p:sp>
        <p:nvSpPr>
          <p:cNvPr id="21" name="Text 18"/>
          <p:cNvSpPr/>
          <p:nvPr/>
        </p:nvSpPr>
        <p:spPr>
          <a:xfrm>
            <a:off x="4782312" y="272491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NumPy 2.5.3</a:t>
            </a:r>
            <a:endParaRPr lang="en-US" sz="1150" dirty="0"/>
          </a:p>
        </p:txBody>
      </p:sp>
      <p:sp>
        <p:nvSpPr>
          <p:cNvPr id="22" name="Shape 19"/>
          <p:cNvSpPr/>
          <p:nvPr/>
        </p:nvSpPr>
        <p:spPr>
          <a:xfrm>
            <a:off x="4526280" y="3218688"/>
            <a:ext cx="91440" cy="91440"/>
          </a:xfrm>
          <a:prstGeom prst="ellipse">
            <a:avLst/>
          </a:prstGeom>
          <a:solidFill>
            <a:srgbClr val="2FD9C9"/>
          </a:solidFill>
          <a:ln/>
        </p:spPr>
      </p:sp>
      <p:sp>
        <p:nvSpPr>
          <p:cNvPr id="23" name="Text 20"/>
          <p:cNvSpPr/>
          <p:nvPr/>
        </p:nvSpPr>
        <p:spPr>
          <a:xfrm>
            <a:off x="4782312" y="313639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Python (core language)</a:t>
            </a:r>
            <a:endParaRPr lang="en-US" sz="1150" dirty="0"/>
          </a:p>
        </p:txBody>
      </p:sp>
      <p:sp>
        <p:nvSpPr>
          <p:cNvPr id="24" name="Shape 21"/>
          <p:cNvSpPr/>
          <p:nvPr/>
        </p:nvSpPr>
        <p:spPr>
          <a:xfrm>
            <a:off x="8046720" y="1600200"/>
            <a:ext cx="3566160" cy="2057400"/>
          </a:xfrm>
          <a:prstGeom prst="roundRect">
            <a:avLst>
              <a:gd name="adj" fmla="val 4444"/>
            </a:avLst>
          </a:prstGeom>
          <a:solidFill>
            <a:srgbClr val="13273F"/>
          </a:solidFill>
          <a:ln/>
        </p:spPr>
      </p:sp>
      <p:sp>
        <p:nvSpPr>
          <p:cNvPr id="25" name="Text 22"/>
          <p:cNvSpPr/>
          <p:nvPr/>
        </p:nvSpPr>
        <p:spPr>
          <a:xfrm>
            <a:off x="8275320" y="1764792"/>
            <a:ext cx="3108960" cy="365760"/>
          </a:xfrm>
          <a:prstGeom prst="rect">
            <a:avLst/>
          </a:prstGeom>
          <a:noFill/>
          <a:ln/>
        </p:spPr>
        <p:txBody>
          <a:bodyPr wrap="square" lIns="0" tIns="0" rIns="0" bIns="0" rtlCol="0" anchor="ctr"/>
          <a:lstStyle/>
          <a:p>
            <a:pPr indent="0" marL="0">
              <a:buNone/>
            </a:pPr>
            <a:r>
              <a:rPr lang="en-US" sz="1500" b="1" dirty="0">
                <a:solidFill>
                  <a:srgbClr val="2FD9C9"/>
                </a:solidFill>
                <a:latin typeface="Cambria" pitchFamily="34" charset="0"/>
                <a:ea typeface="Cambria" pitchFamily="34" charset="-122"/>
                <a:cs typeface="Cambria" pitchFamily="34" charset="-120"/>
              </a:rPr>
              <a:t>URL &amp; NLP Features</a:t>
            </a:r>
            <a:endParaRPr lang="en-US" sz="1500" dirty="0"/>
          </a:p>
        </p:txBody>
      </p:sp>
      <p:sp>
        <p:nvSpPr>
          <p:cNvPr id="26" name="Shape 23"/>
          <p:cNvSpPr/>
          <p:nvPr/>
        </p:nvSpPr>
        <p:spPr>
          <a:xfrm>
            <a:off x="8275320" y="2395728"/>
            <a:ext cx="91440" cy="91440"/>
          </a:xfrm>
          <a:prstGeom prst="ellipse">
            <a:avLst/>
          </a:prstGeom>
          <a:solidFill>
            <a:srgbClr val="2FD9C9"/>
          </a:solidFill>
          <a:ln/>
        </p:spPr>
      </p:sp>
      <p:sp>
        <p:nvSpPr>
          <p:cNvPr id="27" name="Text 24"/>
          <p:cNvSpPr/>
          <p:nvPr/>
        </p:nvSpPr>
        <p:spPr>
          <a:xfrm>
            <a:off x="8531352" y="231343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tldextract 5.3.2 — domain parsing</a:t>
            </a:r>
            <a:endParaRPr lang="en-US" sz="1150" dirty="0"/>
          </a:p>
        </p:txBody>
      </p:sp>
      <p:sp>
        <p:nvSpPr>
          <p:cNvPr id="28" name="Shape 25"/>
          <p:cNvSpPr/>
          <p:nvPr/>
        </p:nvSpPr>
        <p:spPr>
          <a:xfrm>
            <a:off x="8275320" y="2807208"/>
            <a:ext cx="91440" cy="91440"/>
          </a:xfrm>
          <a:prstGeom prst="ellipse">
            <a:avLst/>
          </a:prstGeom>
          <a:solidFill>
            <a:srgbClr val="2FD9C9"/>
          </a:solidFill>
          <a:ln/>
        </p:spPr>
      </p:sp>
      <p:sp>
        <p:nvSpPr>
          <p:cNvPr id="29" name="Text 26"/>
          <p:cNvSpPr/>
          <p:nvPr/>
        </p:nvSpPr>
        <p:spPr>
          <a:xfrm>
            <a:off x="8531352" y="272491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Lexical and token-pattern features</a:t>
            </a:r>
            <a:endParaRPr lang="en-US" sz="1150" dirty="0"/>
          </a:p>
        </p:txBody>
      </p:sp>
      <p:sp>
        <p:nvSpPr>
          <p:cNvPr id="30" name="Shape 27"/>
          <p:cNvSpPr/>
          <p:nvPr/>
        </p:nvSpPr>
        <p:spPr>
          <a:xfrm>
            <a:off x="8275320" y="3218688"/>
            <a:ext cx="91440" cy="91440"/>
          </a:xfrm>
          <a:prstGeom prst="ellipse">
            <a:avLst/>
          </a:prstGeom>
          <a:solidFill>
            <a:srgbClr val="2FD9C9"/>
          </a:solidFill>
          <a:ln/>
        </p:spPr>
      </p:sp>
      <p:sp>
        <p:nvSpPr>
          <p:cNvPr id="31" name="Text 28"/>
          <p:cNvSpPr/>
          <p:nvPr/>
        </p:nvSpPr>
        <p:spPr>
          <a:xfrm>
            <a:off x="8531352" y="313639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Special-character and keyword analysis</a:t>
            </a:r>
            <a:endParaRPr lang="en-US" sz="1150" dirty="0"/>
          </a:p>
        </p:txBody>
      </p:sp>
      <p:sp>
        <p:nvSpPr>
          <p:cNvPr id="32" name="Shape 29"/>
          <p:cNvSpPr/>
          <p:nvPr/>
        </p:nvSpPr>
        <p:spPr>
          <a:xfrm>
            <a:off x="548640" y="3840480"/>
            <a:ext cx="3566160" cy="2057400"/>
          </a:xfrm>
          <a:prstGeom prst="roundRect">
            <a:avLst>
              <a:gd name="adj" fmla="val 4444"/>
            </a:avLst>
          </a:prstGeom>
          <a:solidFill>
            <a:srgbClr val="13273F"/>
          </a:solidFill>
          <a:ln/>
        </p:spPr>
      </p:sp>
      <p:sp>
        <p:nvSpPr>
          <p:cNvPr id="33" name="Text 30"/>
          <p:cNvSpPr/>
          <p:nvPr/>
        </p:nvSpPr>
        <p:spPr>
          <a:xfrm>
            <a:off x="777240" y="4005072"/>
            <a:ext cx="3108960" cy="365760"/>
          </a:xfrm>
          <a:prstGeom prst="rect">
            <a:avLst/>
          </a:prstGeom>
          <a:noFill/>
          <a:ln/>
        </p:spPr>
        <p:txBody>
          <a:bodyPr wrap="square" lIns="0" tIns="0" rIns="0" bIns="0" rtlCol="0" anchor="ctr"/>
          <a:lstStyle/>
          <a:p>
            <a:pPr indent="0" marL="0">
              <a:buNone/>
            </a:pPr>
            <a:r>
              <a:rPr lang="en-US" sz="1500" b="1" dirty="0">
                <a:solidFill>
                  <a:srgbClr val="2FD9C9"/>
                </a:solidFill>
                <a:latin typeface="Cambria" pitchFamily="34" charset="0"/>
                <a:ea typeface="Cambria" pitchFamily="34" charset="-122"/>
                <a:cs typeface="Cambria" pitchFamily="34" charset="-120"/>
              </a:rPr>
              <a:t>Visualization</a:t>
            </a:r>
            <a:endParaRPr lang="en-US" sz="1500" dirty="0"/>
          </a:p>
        </p:txBody>
      </p:sp>
      <p:sp>
        <p:nvSpPr>
          <p:cNvPr id="34" name="Shape 31"/>
          <p:cNvSpPr/>
          <p:nvPr/>
        </p:nvSpPr>
        <p:spPr>
          <a:xfrm>
            <a:off x="777240" y="4636008"/>
            <a:ext cx="91440" cy="91440"/>
          </a:xfrm>
          <a:prstGeom prst="ellipse">
            <a:avLst/>
          </a:prstGeom>
          <a:solidFill>
            <a:srgbClr val="2FD9C9"/>
          </a:solidFill>
          <a:ln/>
        </p:spPr>
      </p:sp>
      <p:sp>
        <p:nvSpPr>
          <p:cNvPr id="35" name="Text 32"/>
          <p:cNvSpPr/>
          <p:nvPr/>
        </p:nvSpPr>
        <p:spPr>
          <a:xfrm>
            <a:off x="1033272" y="455371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matplotlib 3.11.2</a:t>
            </a:r>
            <a:endParaRPr lang="en-US" sz="1150" dirty="0"/>
          </a:p>
        </p:txBody>
      </p:sp>
      <p:sp>
        <p:nvSpPr>
          <p:cNvPr id="36" name="Shape 33"/>
          <p:cNvSpPr/>
          <p:nvPr/>
        </p:nvSpPr>
        <p:spPr>
          <a:xfrm>
            <a:off x="777240" y="5047488"/>
            <a:ext cx="91440" cy="91440"/>
          </a:xfrm>
          <a:prstGeom prst="ellipse">
            <a:avLst/>
          </a:prstGeom>
          <a:solidFill>
            <a:srgbClr val="2FD9C9"/>
          </a:solidFill>
          <a:ln/>
        </p:spPr>
      </p:sp>
      <p:sp>
        <p:nvSpPr>
          <p:cNvPr id="37" name="Text 34"/>
          <p:cNvSpPr/>
          <p:nvPr/>
        </p:nvSpPr>
        <p:spPr>
          <a:xfrm>
            <a:off x="1033272" y="496519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seaborn 0.13.2</a:t>
            </a:r>
            <a:endParaRPr lang="en-US" sz="1150" dirty="0"/>
          </a:p>
        </p:txBody>
      </p:sp>
      <p:sp>
        <p:nvSpPr>
          <p:cNvPr id="38" name="Shape 35"/>
          <p:cNvSpPr/>
          <p:nvPr/>
        </p:nvSpPr>
        <p:spPr>
          <a:xfrm>
            <a:off x="777240" y="5458968"/>
            <a:ext cx="91440" cy="91440"/>
          </a:xfrm>
          <a:prstGeom prst="ellipse">
            <a:avLst/>
          </a:prstGeom>
          <a:solidFill>
            <a:srgbClr val="2FD9C9"/>
          </a:solidFill>
          <a:ln/>
        </p:spPr>
      </p:sp>
      <p:sp>
        <p:nvSpPr>
          <p:cNvPr id="39" name="Text 36"/>
          <p:cNvSpPr/>
          <p:nvPr/>
        </p:nvSpPr>
        <p:spPr>
          <a:xfrm>
            <a:off x="1033272" y="537667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Metric and confusion-matrix plots</a:t>
            </a:r>
            <a:endParaRPr lang="en-US" sz="1150" dirty="0"/>
          </a:p>
        </p:txBody>
      </p:sp>
      <p:sp>
        <p:nvSpPr>
          <p:cNvPr id="40" name="Shape 37"/>
          <p:cNvSpPr/>
          <p:nvPr/>
        </p:nvSpPr>
        <p:spPr>
          <a:xfrm>
            <a:off x="4297680" y="3840480"/>
            <a:ext cx="3566160" cy="2057400"/>
          </a:xfrm>
          <a:prstGeom prst="roundRect">
            <a:avLst>
              <a:gd name="adj" fmla="val 4444"/>
            </a:avLst>
          </a:prstGeom>
          <a:solidFill>
            <a:srgbClr val="13273F"/>
          </a:solidFill>
          <a:ln/>
        </p:spPr>
      </p:sp>
      <p:sp>
        <p:nvSpPr>
          <p:cNvPr id="41" name="Text 38"/>
          <p:cNvSpPr/>
          <p:nvPr/>
        </p:nvSpPr>
        <p:spPr>
          <a:xfrm>
            <a:off x="4526280" y="4005072"/>
            <a:ext cx="3108960" cy="365760"/>
          </a:xfrm>
          <a:prstGeom prst="rect">
            <a:avLst/>
          </a:prstGeom>
          <a:noFill/>
          <a:ln/>
        </p:spPr>
        <p:txBody>
          <a:bodyPr wrap="square" lIns="0" tIns="0" rIns="0" bIns="0" rtlCol="0" anchor="ctr"/>
          <a:lstStyle/>
          <a:p>
            <a:pPr indent="0" marL="0">
              <a:buNone/>
            </a:pPr>
            <a:r>
              <a:rPr lang="en-US" sz="1500" b="1" dirty="0">
                <a:solidFill>
                  <a:srgbClr val="2FD9C9"/>
                </a:solidFill>
                <a:latin typeface="Cambria" pitchFamily="34" charset="0"/>
                <a:ea typeface="Cambria" pitchFamily="34" charset="-122"/>
                <a:cs typeface="Cambria" pitchFamily="34" charset="-120"/>
              </a:rPr>
              <a:t>Backend</a:t>
            </a:r>
            <a:endParaRPr lang="en-US" sz="1500" dirty="0"/>
          </a:p>
        </p:txBody>
      </p:sp>
      <p:sp>
        <p:nvSpPr>
          <p:cNvPr id="42" name="Shape 39"/>
          <p:cNvSpPr/>
          <p:nvPr/>
        </p:nvSpPr>
        <p:spPr>
          <a:xfrm>
            <a:off x="4526280" y="4636008"/>
            <a:ext cx="91440" cy="91440"/>
          </a:xfrm>
          <a:prstGeom prst="ellipse">
            <a:avLst/>
          </a:prstGeom>
          <a:solidFill>
            <a:srgbClr val="2FD9C9"/>
          </a:solidFill>
          <a:ln/>
        </p:spPr>
      </p:sp>
      <p:sp>
        <p:nvSpPr>
          <p:cNvPr id="43" name="Text 40"/>
          <p:cNvSpPr/>
          <p:nvPr/>
        </p:nvSpPr>
        <p:spPr>
          <a:xfrm>
            <a:off x="4782312" y="455371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FastAPI + Uvicorn</a:t>
            </a:r>
            <a:endParaRPr lang="en-US" sz="1150" dirty="0"/>
          </a:p>
        </p:txBody>
      </p:sp>
      <p:sp>
        <p:nvSpPr>
          <p:cNvPr id="44" name="Shape 41"/>
          <p:cNvSpPr/>
          <p:nvPr/>
        </p:nvSpPr>
        <p:spPr>
          <a:xfrm>
            <a:off x="4526280" y="5047488"/>
            <a:ext cx="91440" cy="91440"/>
          </a:xfrm>
          <a:prstGeom prst="ellipse">
            <a:avLst/>
          </a:prstGeom>
          <a:solidFill>
            <a:srgbClr val="2FD9C9"/>
          </a:solidFill>
          <a:ln/>
        </p:spPr>
      </p:sp>
      <p:sp>
        <p:nvSpPr>
          <p:cNvPr id="45" name="Text 42"/>
          <p:cNvSpPr/>
          <p:nvPr/>
        </p:nvSpPr>
        <p:spPr>
          <a:xfrm>
            <a:off x="4782312" y="496519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requests 2.34.2 — HTTP client</a:t>
            </a:r>
            <a:endParaRPr lang="en-US" sz="1150" dirty="0"/>
          </a:p>
        </p:txBody>
      </p:sp>
      <p:sp>
        <p:nvSpPr>
          <p:cNvPr id="46" name="Shape 43"/>
          <p:cNvSpPr/>
          <p:nvPr/>
        </p:nvSpPr>
        <p:spPr>
          <a:xfrm>
            <a:off x="4526280" y="5458968"/>
            <a:ext cx="91440" cy="91440"/>
          </a:xfrm>
          <a:prstGeom prst="ellipse">
            <a:avLst/>
          </a:prstGeom>
          <a:solidFill>
            <a:srgbClr val="2FD9C9"/>
          </a:solidFill>
          <a:ln/>
        </p:spPr>
      </p:sp>
      <p:sp>
        <p:nvSpPr>
          <p:cNvPr id="47" name="Text 44"/>
          <p:cNvSpPr/>
          <p:nvPr/>
        </p:nvSpPr>
        <p:spPr>
          <a:xfrm>
            <a:off x="4782312" y="537667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REST endpoints under /api/v1</a:t>
            </a:r>
            <a:endParaRPr lang="en-US" sz="1150" dirty="0"/>
          </a:p>
        </p:txBody>
      </p:sp>
      <p:sp>
        <p:nvSpPr>
          <p:cNvPr id="48" name="Shape 45"/>
          <p:cNvSpPr/>
          <p:nvPr/>
        </p:nvSpPr>
        <p:spPr>
          <a:xfrm>
            <a:off x="8046720" y="3840480"/>
            <a:ext cx="3566160" cy="2057400"/>
          </a:xfrm>
          <a:prstGeom prst="roundRect">
            <a:avLst>
              <a:gd name="adj" fmla="val 4444"/>
            </a:avLst>
          </a:prstGeom>
          <a:solidFill>
            <a:srgbClr val="13273F"/>
          </a:solidFill>
          <a:ln/>
        </p:spPr>
      </p:sp>
      <p:sp>
        <p:nvSpPr>
          <p:cNvPr id="49" name="Text 46"/>
          <p:cNvSpPr/>
          <p:nvPr/>
        </p:nvSpPr>
        <p:spPr>
          <a:xfrm>
            <a:off x="8275320" y="4005072"/>
            <a:ext cx="3108960" cy="365760"/>
          </a:xfrm>
          <a:prstGeom prst="rect">
            <a:avLst/>
          </a:prstGeom>
          <a:noFill/>
          <a:ln/>
        </p:spPr>
        <p:txBody>
          <a:bodyPr wrap="square" lIns="0" tIns="0" rIns="0" bIns="0" rtlCol="0" anchor="ctr"/>
          <a:lstStyle/>
          <a:p>
            <a:pPr indent="0" marL="0">
              <a:buNone/>
            </a:pPr>
            <a:r>
              <a:rPr lang="en-US" sz="1500" b="1" dirty="0">
                <a:solidFill>
                  <a:srgbClr val="2FD9C9"/>
                </a:solidFill>
                <a:latin typeface="Cambria" pitchFamily="34" charset="0"/>
                <a:ea typeface="Cambria" pitchFamily="34" charset="-122"/>
                <a:cs typeface="Cambria" pitchFamily="34" charset="-120"/>
              </a:rPr>
              <a:t>Frontend</a:t>
            </a:r>
            <a:endParaRPr lang="en-US" sz="1500" dirty="0"/>
          </a:p>
        </p:txBody>
      </p:sp>
      <p:sp>
        <p:nvSpPr>
          <p:cNvPr id="50" name="Shape 47"/>
          <p:cNvSpPr/>
          <p:nvPr/>
        </p:nvSpPr>
        <p:spPr>
          <a:xfrm>
            <a:off x="8275320" y="4636008"/>
            <a:ext cx="91440" cy="91440"/>
          </a:xfrm>
          <a:prstGeom prst="ellipse">
            <a:avLst/>
          </a:prstGeom>
          <a:solidFill>
            <a:srgbClr val="2FD9C9"/>
          </a:solidFill>
          <a:ln/>
        </p:spPr>
      </p:sp>
      <p:sp>
        <p:nvSpPr>
          <p:cNvPr id="51" name="Text 48"/>
          <p:cNvSpPr/>
          <p:nvPr/>
        </p:nvSpPr>
        <p:spPr>
          <a:xfrm>
            <a:off x="8531352" y="455371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HTML + JavaScript</a:t>
            </a:r>
            <a:endParaRPr lang="en-US" sz="1150" dirty="0"/>
          </a:p>
        </p:txBody>
      </p:sp>
      <p:sp>
        <p:nvSpPr>
          <p:cNvPr id="52" name="Shape 49"/>
          <p:cNvSpPr/>
          <p:nvPr/>
        </p:nvSpPr>
        <p:spPr>
          <a:xfrm>
            <a:off x="8275320" y="5047488"/>
            <a:ext cx="91440" cy="91440"/>
          </a:xfrm>
          <a:prstGeom prst="ellipse">
            <a:avLst/>
          </a:prstGeom>
          <a:solidFill>
            <a:srgbClr val="2FD9C9"/>
          </a:solidFill>
          <a:ln/>
        </p:spPr>
      </p:sp>
      <p:sp>
        <p:nvSpPr>
          <p:cNvPr id="53" name="Text 50"/>
          <p:cNvSpPr/>
          <p:nvPr/>
        </p:nvSpPr>
        <p:spPr>
          <a:xfrm>
            <a:off x="8531352" y="496519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Browser localStorage</a:t>
            </a:r>
            <a:endParaRPr lang="en-US" sz="1150" dirty="0"/>
          </a:p>
        </p:txBody>
      </p:sp>
      <p:sp>
        <p:nvSpPr>
          <p:cNvPr id="54" name="Shape 51"/>
          <p:cNvSpPr/>
          <p:nvPr/>
        </p:nvSpPr>
        <p:spPr>
          <a:xfrm>
            <a:off x="8275320" y="5458968"/>
            <a:ext cx="91440" cy="91440"/>
          </a:xfrm>
          <a:prstGeom prst="ellipse">
            <a:avLst/>
          </a:prstGeom>
          <a:solidFill>
            <a:srgbClr val="2FD9C9"/>
          </a:solidFill>
          <a:ln/>
        </p:spPr>
      </p:sp>
      <p:sp>
        <p:nvSpPr>
          <p:cNvPr id="55" name="Text 52"/>
          <p:cNvSpPr/>
          <p:nvPr/>
        </p:nvSpPr>
        <p:spPr>
          <a:xfrm>
            <a:off x="8531352" y="5376672"/>
            <a:ext cx="2944368" cy="35661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BarcodeDetector API (QR)</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424160" y="-2377440"/>
            <a:ext cx="3474720" cy="3474720"/>
          </a:xfrm>
          <a:prstGeom prst="ellipse">
            <a:avLst/>
          </a:prstGeom>
          <a:solidFill>
            <a:srgbClr val="13273F"/>
          </a:solidFill>
          <a:ln/>
        </p:spPr>
      </p:sp>
      <p:sp>
        <p:nvSpPr>
          <p:cNvPr id="3" name="Shape 1"/>
          <p:cNvSpPr/>
          <p:nvPr/>
        </p:nvSpPr>
        <p:spPr>
          <a:xfrm>
            <a:off x="-2011680" y="6309360"/>
            <a:ext cx="2926080" cy="2926080"/>
          </a:xfrm>
          <a:prstGeom prst="ellipse">
            <a:avLst/>
          </a:prstGeom>
          <a:solidFill>
            <a:srgbClr val="13273F"/>
          </a:solidFill>
          <a:ln/>
        </p:spPr>
      </p:sp>
      <p:sp>
        <p:nvSpPr>
          <p:cNvPr id="4" name="Text 2"/>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FD9C9"/>
                </a:solidFill>
                <a:latin typeface="Calibri" pitchFamily="34" charset="0"/>
                <a:ea typeface="Calibri" pitchFamily="34" charset="-122"/>
                <a:cs typeface="Calibri" pitchFamily="34" charset="-120"/>
              </a:rPr>
              <a:t>EVALUATION</a:t>
            </a:r>
            <a:endParaRPr lang="en-US" sz="1300" dirty="0"/>
          </a:p>
        </p:txBody>
      </p:sp>
      <p:sp>
        <p:nvSpPr>
          <p:cNvPr id="5" name="Text 3"/>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Model Evaluation Approach</a:t>
            </a:r>
            <a:endParaRPr lang="en-US" sz="2800" dirty="0"/>
          </a:p>
        </p:txBody>
      </p:sp>
      <p:sp>
        <p:nvSpPr>
          <p:cNvPr id="6" name="Text 4"/>
          <p:cNvSpPr/>
          <p:nvPr/>
        </p:nvSpPr>
        <p:spPr>
          <a:xfrm>
            <a:off x="11247120" y="6473952"/>
            <a:ext cx="457200" cy="228600"/>
          </a:xfrm>
          <a:prstGeom prst="rect">
            <a:avLst/>
          </a:prstGeom>
          <a:noFill/>
          <a:ln/>
        </p:spPr>
        <p:txBody>
          <a:bodyPr wrap="square" lIns="0" tIns="0" rIns="0" bIns="0" rtlCol="0" anchor="ctr"/>
          <a:lstStyle/>
          <a:p>
            <a:pPr algn="r" indent="0" marL="0">
              <a:buNone/>
            </a:pPr>
            <a:r>
              <a:rPr lang="en-US" sz="900" dirty="0">
                <a:solidFill>
                  <a:srgbClr val="8598AD"/>
                </a:solidFill>
                <a:latin typeface="Calibri" pitchFamily="34" charset="0"/>
                <a:ea typeface="Calibri" pitchFamily="34" charset="-122"/>
                <a:cs typeface="Calibri" pitchFamily="34" charset="-120"/>
              </a:rPr>
              <a:t>10</a:t>
            </a:r>
            <a:endParaRPr lang="en-US" sz="900" dirty="0"/>
          </a:p>
        </p:txBody>
      </p:sp>
      <p:sp>
        <p:nvSpPr>
          <p:cNvPr id="8" name="Text 5"/>
          <p:cNvSpPr/>
          <p:nvPr/>
        </p:nvSpPr>
        <p:spPr>
          <a:xfrm>
            <a:off x="548640" y="1508760"/>
            <a:ext cx="3657600" cy="320040"/>
          </a:xfrm>
          <a:prstGeom prst="rect">
            <a:avLst/>
          </a:prstGeom>
          <a:noFill/>
          <a:ln/>
        </p:spPr>
        <p:txBody>
          <a:bodyPr wrap="square" lIns="0" tIns="0" rIns="0" bIns="0" rtlCol="0" anchor="ctr"/>
          <a:lstStyle/>
          <a:p>
            <a:pPr indent="0" marL="0">
              <a:buNone/>
            </a:pPr>
            <a:r>
              <a:rPr lang="en-US" sz="1400" b="1" dirty="0">
                <a:solidFill>
                  <a:srgbClr val="2FD9C9"/>
                </a:solidFill>
                <a:latin typeface="Calibri" pitchFamily="34" charset="0"/>
                <a:ea typeface="Calibri" pitchFamily="34" charset="-122"/>
                <a:cs typeface="Calibri" pitchFamily="34" charset="-120"/>
              </a:rPr>
              <a:t>Metrics</a:t>
            </a:r>
            <a:endParaRPr lang="en-US" sz="1400" dirty="0"/>
          </a:p>
        </p:txBody>
      </p:sp>
      <p:sp>
        <p:nvSpPr>
          <p:cNvPr id="9" name="Shape 6"/>
          <p:cNvSpPr/>
          <p:nvPr/>
        </p:nvSpPr>
        <p:spPr>
          <a:xfrm>
            <a:off x="548640" y="1920240"/>
            <a:ext cx="1783080" cy="502920"/>
          </a:xfrm>
          <a:prstGeom prst="roundRect">
            <a:avLst>
              <a:gd name="adj" fmla="val 18182"/>
            </a:avLst>
          </a:prstGeom>
          <a:solidFill>
            <a:srgbClr val="1B3552"/>
          </a:solidFill>
          <a:ln w="12700">
            <a:solidFill>
              <a:srgbClr val="2FD9C9"/>
            </a:solidFill>
            <a:prstDash val="solid"/>
          </a:ln>
        </p:spPr>
      </p:sp>
      <p:sp>
        <p:nvSpPr>
          <p:cNvPr id="10" name="Text 7"/>
          <p:cNvSpPr/>
          <p:nvPr/>
        </p:nvSpPr>
        <p:spPr>
          <a:xfrm>
            <a:off x="548640" y="1920240"/>
            <a:ext cx="1783080" cy="502920"/>
          </a:xfrm>
          <a:prstGeom prst="rect">
            <a:avLst/>
          </a:prstGeom>
          <a:noFill/>
          <a:ln/>
        </p:spPr>
        <p:txBody>
          <a:bodyPr wrap="square" lIns="0" tIns="0" rIns="0" bIns="0" rtlCol="0" anchor="ctr"/>
          <a:lstStyle/>
          <a:p>
            <a:pPr algn="ctr" indent="0" marL="0">
              <a:buNone/>
            </a:pPr>
            <a:r>
              <a:rPr lang="en-US" sz="1150" b="1" dirty="0">
                <a:solidFill>
                  <a:srgbClr val="D7E1EC"/>
                </a:solidFill>
                <a:latin typeface="Calibri" pitchFamily="34" charset="0"/>
                <a:ea typeface="Calibri" pitchFamily="34" charset="-122"/>
                <a:cs typeface="Calibri" pitchFamily="34" charset="-120"/>
              </a:rPr>
              <a:t>Accuracy</a:t>
            </a:r>
            <a:endParaRPr lang="en-US" sz="1150" dirty="0"/>
          </a:p>
        </p:txBody>
      </p:sp>
      <p:sp>
        <p:nvSpPr>
          <p:cNvPr id="11" name="Shape 8"/>
          <p:cNvSpPr/>
          <p:nvPr/>
        </p:nvSpPr>
        <p:spPr>
          <a:xfrm>
            <a:off x="2468880" y="1920240"/>
            <a:ext cx="1783080" cy="502920"/>
          </a:xfrm>
          <a:prstGeom prst="roundRect">
            <a:avLst>
              <a:gd name="adj" fmla="val 18182"/>
            </a:avLst>
          </a:prstGeom>
          <a:solidFill>
            <a:srgbClr val="1B3552"/>
          </a:solidFill>
          <a:ln w="12700">
            <a:solidFill>
              <a:srgbClr val="2FD9C9"/>
            </a:solidFill>
            <a:prstDash val="solid"/>
          </a:ln>
        </p:spPr>
      </p:sp>
      <p:sp>
        <p:nvSpPr>
          <p:cNvPr id="12" name="Text 9"/>
          <p:cNvSpPr/>
          <p:nvPr/>
        </p:nvSpPr>
        <p:spPr>
          <a:xfrm>
            <a:off x="2468880" y="1920240"/>
            <a:ext cx="1783080" cy="502920"/>
          </a:xfrm>
          <a:prstGeom prst="rect">
            <a:avLst/>
          </a:prstGeom>
          <a:noFill/>
          <a:ln/>
        </p:spPr>
        <p:txBody>
          <a:bodyPr wrap="square" lIns="0" tIns="0" rIns="0" bIns="0" rtlCol="0" anchor="ctr"/>
          <a:lstStyle/>
          <a:p>
            <a:pPr algn="ctr" indent="0" marL="0">
              <a:buNone/>
            </a:pPr>
            <a:r>
              <a:rPr lang="en-US" sz="1150" b="1" dirty="0">
                <a:solidFill>
                  <a:srgbClr val="D7E1EC"/>
                </a:solidFill>
                <a:latin typeface="Calibri" pitchFamily="34" charset="0"/>
                <a:ea typeface="Calibri" pitchFamily="34" charset="-122"/>
                <a:cs typeface="Calibri" pitchFamily="34" charset="-120"/>
              </a:rPr>
              <a:t>Precision</a:t>
            </a:r>
            <a:endParaRPr lang="en-US" sz="1150" dirty="0"/>
          </a:p>
        </p:txBody>
      </p:sp>
      <p:sp>
        <p:nvSpPr>
          <p:cNvPr id="13" name="Shape 10"/>
          <p:cNvSpPr/>
          <p:nvPr/>
        </p:nvSpPr>
        <p:spPr>
          <a:xfrm>
            <a:off x="4389120" y="1920240"/>
            <a:ext cx="1783080" cy="502920"/>
          </a:xfrm>
          <a:prstGeom prst="roundRect">
            <a:avLst>
              <a:gd name="adj" fmla="val 18182"/>
            </a:avLst>
          </a:prstGeom>
          <a:solidFill>
            <a:srgbClr val="1B3552"/>
          </a:solidFill>
          <a:ln w="12700">
            <a:solidFill>
              <a:srgbClr val="2FD9C9"/>
            </a:solidFill>
            <a:prstDash val="solid"/>
          </a:ln>
        </p:spPr>
      </p:sp>
      <p:sp>
        <p:nvSpPr>
          <p:cNvPr id="14" name="Text 11"/>
          <p:cNvSpPr/>
          <p:nvPr/>
        </p:nvSpPr>
        <p:spPr>
          <a:xfrm>
            <a:off x="4389120" y="1920240"/>
            <a:ext cx="1783080" cy="502920"/>
          </a:xfrm>
          <a:prstGeom prst="rect">
            <a:avLst/>
          </a:prstGeom>
          <a:noFill/>
          <a:ln/>
        </p:spPr>
        <p:txBody>
          <a:bodyPr wrap="square" lIns="0" tIns="0" rIns="0" bIns="0" rtlCol="0" anchor="ctr"/>
          <a:lstStyle/>
          <a:p>
            <a:pPr algn="ctr" indent="0" marL="0">
              <a:buNone/>
            </a:pPr>
            <a:r>
              <a:rPr lang="en-US" sz="1150" b="1" dirty="0">
                <a:solidFill>
                  <a:srgbClr val="D7E1EC"/>
                </a:solidFill>
                <a:latin typeface="Calibri" pitchFamily="34" charset="0"/>
                <a:ea typeface="Calibri" pitchFamily="34" charset="-122"/>
                <a:cs typeface="Calibri" pitchFamily="34" charset="-120"/>
              </a:rPr>
              <a:t>Recall</a:t>
            </a:r>
            <a:endParaRPr lang="en-US" sz="1150" dirty="0"/>
          </a:p>
        </p:txBody>
      </p:sp>
      <p:sp>
        <p:nvSpPr>
          <p:cNvPr id="15" name="Shape 12"/>
          <p:cNvSpPr/>
          <p:nvPr/>
        </p:nvSpPr>
        <p:spPr>
          <a:xfrm>
            <a:off x="548640" y="2560320"/>
            <a:ext cx="1783080" cy="502920"/>
          </a:xfrm>
          <a:prstGeom prst="roundRect">
            <a:avLst>
              <a:gd name="adj" fmla="val 18182"/>
            </a:avLst>
          </a:prstGeom>
          <a:solidFill>
            <a:srgbClr val="1B3552"/>
          </a:solidFill>
          <a:ln w="12700">
            <a:solidFill>
              <a:srgbClr val="2FD9C9"/>
            </a:solidFill>
            <a:prstDash val="solid"/>
          </a:ln>
        </p:spPr>
      </p:sp>
      <p:sp>
        <p:nvSpPr>
          <p:cNvPr id="16" name="Text 13"/>
          <p:cNvSpPr/>
          <p:nvPr/>
        </p:nvSpPr>
        <p:spPr>
          <a:xfrm>
            <a:off x="548640" y="2560320"/>
            <a:ext cx="1783080" cy="502920"/>
          </a:xfrm>
          <a:prstGeom prst="rect">
            <a:avLst/>
          </a:prstGeom>
          <a:noFill/>
          <a:ln/>
        </p:spPr>
        <p:txBody>
          <a:bodyPr wrap="square" lIns="0" tIns="0" rIns="0" bIns="0" rtlCol="0" anchor="ctr"/>
          <a:lstStyle/>
          <a:p>
            <a:pPr algn="ctr" indent="0" marL="0">
              <a:buNone/>
            </a:pPr>
            <a:r>
              <a:rPr lang="en-US" sz="1150" b="1" dirty="0">
                <a:solidFill>
                  <a:srgbClr val="D7E1EC"/>
                </a:solidFill>
                <a:latin typeface="Calibri" pitchFamily="34" charset="0"/>
                <a:ea typeface="Calibri" pitchFamily="34" charset="-122"/>
                <a:cs typeface="Calibri" pitchFamily="34" charset="-120"/>
              </a:rPr>
              <a:t>F1-score</a:t>
            </a:r>
            <a:endParaRPr lang="en-US" sz="1150" dirty="0"/>
          </a:p>
        </p:txBody>
      </p:sp>
      <p:sp>
        <p:nvSpPr>
          <p:cNvPr id="17" name="Shape 14"/>
          <p:cNvSpPr/>
          <p:nvPr/>
        </p:nvSpPr>
        <p:spPr>
          <a:xfrm>
            <a:off x="2468880" y="2560320"/>
            <a:ext cx="1783080" cy="502920"/>
          </a:xfrm>
          <a:prstGeom prst="roundRect">
            <a:avLst>
              <a:gd name="adj" fmla="val 18182"/>
            </a:avLst>
          </a:prstGeom>
          <a:solidFill>
            <a:srgbClr val="1B3552"/>
          </a:solidFill>
          <a:ln w="12700">
            <a:solidFill>
              <a:srgbClr val="2FD9C9"/>
            </a:solidFill>
            <a:prstDash val="solid"/>
          </a:ln>
        </p:spPr>
      </p:sp>
      <p:sp>
        <p:nvSpPr>
          <p:cNvPr id="18" name="Text 15"/>
          <p:cNvSpPr/>
          <p:nvPr/>
        </p:nvSpPr>
        <p:spPr>
          <a:xfrm>
            <a:off x="2468880" y="2560320"/>
            <a:ext cx="1783080" cy="502920"/>
          </a:xfrm>
          <a:prstGeom prst="rect">
            <a:avLst/>
          </a:prstGeom>
          <a:noFill/>
          <a:ln/>
        </p:spPr>
        <p:txBody>
          <a:bodyPr wrap="square" lIns="0" tIns="0" rIns="0" bIns="0" rtlCol="0" anchor="ctr"/>
          <a:lstStyle/>
          <a:p>
            <a:pPr algn="ctr" indent="0" marL="0">
              <a:buNone/>
            </a:pPr>
            <a:r>
              <a:rPr lang="en-US" sz="1150" b="1" dirty="0">
                <a:solidFill>
                  <a:srgbClr val="D7E1EC"/>
                </a:solidFill>
                <a:latin typeface="Calibri" pitchFamily="34" charset="0"/>
                <a:ea typeface="Calibri" pitchFamily="34" charset="-122"/>
                <a:cs typeface="Calibri" pitchFamily="34" charset="-120"/>
              </a:rPr>
              <a:t>ROC-AUC</a:t>
            </a:r>
            <a:endParaRPr lang="en-US" sz="1150" dirty="0"/>
          </a:p>
        </p:txBody>
      </p:sp>
      <p:sp>
        <p:nvSpPr>
          <p:cNvPr id="19" name="Shape 16"/>
          <p:cNvSpPr/>
          <p:nvPr/>
        </p:nvSpPr>
        <p:spPr>
          <a:xfrm>
            <a:off x="4389120" y="2560320"/>
            <a:ext cx="1783080" cy="502920"/>
          </a:xfrm>
          <a:prstGeom prst="roundRect">
            <a:avLst>
              <a:gd name="adj" fmla="val 18182"/>
            </a:avLst>
          </a:prstGeom>
          <a:solidFill>
            <a:srgbClr val="1B3552"/>
          </a:solidFill>
          <a:ln w="12700">
            <a:solidFill>
              <a:srgbClr val="2FD9C9"/>
            </a:solidFill>
            <a:prstDash val="solid"/>
          </a:ln>
        </p:spPr>
      </p:sp>
      <p:sp>
        <p:nvSpPr>
          <p:cNvPr id="20" name="Text 17"/>
          <p:cNvSpPr/>
          <p:nvPr/>
        </p:nvSpPr>
        <p:spPr>
          <a:xfrm>
            <a:off x="4389120" y="2560320"/>
            <a:ext cx="1783080" cy="502920"/>
          </a:xfrm>
          <a:prstGeom prst="rect">
            <a:avLst/>
          </a:prstGeom>
          <a:noFill/>
          <a:ln/>
        </p:spPr>
        <p:txBody>
          <a:bodyPr wrap="square" lIns="0" tIns="0" rIns="0" bIns="0" rtlCol="0" anchor="ctr"/>
          <a:lstStyle/>
          <a:p>
            <a:pPr algn="ctr" indent="0" marL="0">
              <a:buNone/>
            </a:pPr>
            <a:r>
              <a:rPr lang="en-US" sz="1150" b="1" dirty="0">
                <a:solidFill>
                  <a:srgbClr val="D7E1EC"/>
                </a:solidFill>
                <a:latin typeface="Calibri" pitchFamily="34" charset="0"/>
                <a:ea typeface="Calibri" pitchFamily="34" charset="-122"/>
                <a:cs typeface="Calibri" pitchFamily="34" charset="-120"/>
              </a:rPr>
              <a:t>Confusion Matrix</a:t>
            </a:r>
            <a:endParaRPr lang="en-US" sz="1150" dirty="0"/>
          </a:p>
        </p:txBody>
      </p:sp>
      <p:sp>
        <p:nvSpPr>
          <p:cNvPr id="21" name="Text 18"/>
          <p:cNvSpPr/>
          <p:nvPr/>
        </p:nvSpPr>
        <p:spPr>
          <a:xfrm>
            <a:off x="548640" y="3429000"/>
            <a:ext cx="3657600" cy="320040"/>
          </a:xfrm>
          <a:prstGeom prst="rect">
            <a:avLst/>
          </a:prstGeom>
          <a:noFill/>
          <a:ln/>
        </p:spPr>
        <p:txBody>
          <a:bodyPr wrap="square" lIns="0" tIns="0" rIns="0" bIns="0" rtlCol="0" anchor="ctr"/>
          <a:lstStyle/>
          <a:p>
            <a:pPr indent="0" marL="0">
              <a:buNone/>
            </a:pPr>
            <a:r>
              <a:rPr lang="en-US" sz="1400" b="1" dirty="0">
                <a:solidFill>
                  <a:srgbClr val="2FD9C9"/>
                </a:solidFill>
                <a:latin typeface="Calibri" pitchFamily="34" charset="0"/>
                <a:ea typeface="Calibri" pitchFamily="34" charset="-122"/>
                <a:cs typeface="Calibri" pitchFamily="34" charset="-120"/>
              </a:rPr>
              <a:t>Protocol</a:t>
            </a:r>
            <a:endParaRPr lang="en-US" sz="1400" dirty="0"/>
          </a:p>
        </p:txBody>
      </p:sp>
      <p:sp>
        <p:nvSpPr>
          <p:cNvPr id="22" name="Shape 19"/>
          <p:cNvSpPr/>
          <p:nvPr/>
        </p:nvSpPr>
        <p:spPr>
          <a:xfrm>
            <a:off x="548640" y="3968496"/>
            <a:ext cx="91440" cy="91440"/>
          </a:xfrm>
          <a:prstGeom prst="ellipse">
            <a:avLst/>
          </a:prstGeom>
          <a:solidFill>
            <a:srgbClr val="2FD9C9"/>
          </a:solidFill>
          <a:ln/>
        </p:spPr>
      </p:sp>
      <p:sp>
        <p:nvSpPr>
          <p:cNvPr id="23" name="Text 20"/>
          <p:cNvSpPr/>
          <p:nvPr/>
        </p:nvSpPr>
        <p:spPr>
          <a:xfrm>
            <a:off x="804672" y="3886200"/>
            <a:ext cx="5504688" cy="402336"/>
          </a:xfrm>
          <a:prstGeom prst="rect">
            <a:avLst/>
          </a:prstGeom>
          <a:noFill/>
          <a:ln/>
        </p:spPr>
        <p:txBody>
          <a:bodyPr wrap="square" lIns="0" tIns="0" rIns="0" bIns="0" rtlCol="0" anchor="t"/>
          <a:lstStyle/>
          <a:p>
            <a:pPr indent="0" marL="0">
              <a:lnSpc>
                <a:spcPct val="115000"/>
              </a:lnSpc>
              <a:buNone/>
            </a:pPr>
            <a:r>
              <a:rPr lang="en-US" sz="1250" dirty="0">
                <a:solidFill>
                  <a:srgbClr val="D7E1EC"/>
                </a:solidFill>
                <a:latin typeface="Calibri" pitchFamily="34" charset="0"/>
                <a:ea typeface="Calibri" pitchFamily="34" charset="-122"/>
                <a:cs typeface="Calibri" pitchFamily="34" charset="-120"/>
              </a:rPr>
              <a:t>Train / validation / test split with the test set held out</a:t>
            </a:r>
            <a:endParaRPr lang="en-US" sz="1250" dirty="0"/>
          </a:p>
        </p:txBody>
      </p:sp>
      <p:sp>
        <p:nvSpPr>
          <p:cNvPr id="24" name="Shape 21"/>
          <p:cNvSpPr/>
          <p:nvPr/>
        </p:nvSpPr>
        <p:spPr>
          <a:xfrm>
            <a:off x="548640" y="4425696"/>
            <a:ext cx="91440" cy="91440"/>
          </a:xfrm>
          <a:prstGeom prst="ellipse">
            <a:avLst/>
          </a:prstGeom>
          <a:solidFill>
            <a:srgbClr val="2FD9C9"/>
          </a:solidFill>
          <a:ln/>
        </p:spPr>
      </p:sp>
      <p:sp>
        <p:nvSpPr>
          <p:cNvPr id="25" name="Text 22"/>
          <p:cNvSpPr/>
          <p:nvPr/>
        </p:nvSpPr>
        <p:spPr>
          <a:xfrm>
            <a:off x="804672" y="4343400"/>
            <a:ext cx="5504688" cy="402336"/>
          </a:xfrm>
          <a:prstGeom prst="rect">
            <a:avLst/>
          </a:prstGeom>
          <a:noFill/>
          <a:ln/>
        </p:spPr>
        <p:txBody>
          <a:bodyPr wrap="square" lIns="0" tIns="0" rIns="0" bIns="0" rtlCol="0" anchor="t"/>
          <a:lstStyle/>
          <a:p>
            <a:pPr indent="0" marL="0">
              <a:lnSpc>
                <a:spcPct val="115000"/>
              </a:lnSpc>
              <a:buNone/>
            </a:pPr>
            <a:r>
              <a:rPr lang="en-US" sz="1250" dirty="0">
                <a:solidFill>
                  <a:srgbClr val="D7E1EC"/>
                </a:solidFill>
                <a:latin typeface="Calibri" pitchFamily="34" charset="0"/>
                <a:ea typeface="Calibri" pitchFamily="34" charset="-122"/>
                <a:cs typeface="Calibri" pitchFamily="34" charset="-120"/>
              </a:rPr>
              <a:t>Stratified k-fold cross-validation</a:t>
            </a:r>
            <a:endParaRPr lang="en-US" sz="1250" dirty="0"/>
          </a:p>
        </p:txBody>
      </p:sp>
      <p:sp>
        <p:nvSpPr>
          <p:cNvPr id="26" name="Shape 23"/>
          <p:cNvSpPr/>
          <p:nvPr/>
        </p:nvSpPr>
        <p:spPr>
          <a:xfrm>
            <a:off x="548640" y="4882896"/>
            <a:ext cx="91440" cy="91440"/>
          </a:xfrm>
          <a:prstGeom prst="ellipse">
            <a:avLst/>
          </a:prstGeom>
          <a:solidFill>
            <a:srgbClr val="2FD9C9"/>
          </a:solidFill>
          <a:ln/>
        </p:spPr>
      </p:sp>
      <p:sp>
        <p:nvSpPr>
          <p:cNvPr id="27" name="Text 24"/>
          <p:cNvSpPr/>
          <p:nvPr/>
        </p:nvSpPr>
        <p:spPr>
          <a:xfrm>
            <a:off x="804672" y="4800600"/>
            <a:ext cx="5504688" cy="402336"/>
          </a:xfrm>
          <a:prstGeom prst="rect">
            <a:avLst/>
          </a:prstGeom>
          <a:noFill/>
          <a:ln/>
        </p:spPr>
        <p:txBody>
          <a:bodyPr wrap="square" lIns="0" tIns="0" rIns="0" bIns="0" rtlCol="0" anchor="t"/>
          <a:lstStyle/>
          <a:p>
            <a:pPr indent="0" marL="0">
              <a:lnSpc>
                <a:spcPct val="115000"/>
              </a:lnSpc>
              <a:buNone/>
            </a:pPr>
            <a:r>
              <a:rPr lang="en-US" sz="1250" dirty="0">
                <a:solidFill>
                  <a:srgbClr val="D7E1EC"/>
                </a:solidFill>
                <a:latin typeface="Calibri" pitchFamily="34" charset="0"/>
                <a:ea typeface="Calibri" pitchFamily="34" charset="-122"/>
                <a:cs typeface="Calibri" pitchFamily="34" charset="-120"/>
              </a:rPr>
              <a:t>Track false positives and false negatives separately</a:t>
            </a:r>
            <a:endParaRPr lang="en-US" sz="1250" dirty="0"/>
          </a:p>
        </p:txBody>
      </p:sp>
      <p:sp>
        <p:nvSpPr>
          <p:cNvPr id="28" name="Text 25"/>
          <p:cNvSpPr/>
          <p:nvPr/>
        </p:nvSpPr>
        <p:spPr>
          <a:xfrm>
            <a:off x="7863840" y="1554480"/>
            <a:ext cx="1783080" cy="457200"/>
          </a:xfrm>
          <a:prstGeom prst="rect">
            <a:avLst/>
          </a:prstGeom>
          <a:noFill/>
          <a:ln/>
        </p:spPr>
        <p:txBody>
          <a:bodyPr wrap="square" lIns="0" tIns="0" rIns="0" bIns="0" rtlCol="0" anchor="ctr"/>
          <a:lstStyle/>
          <a:p>
            <a:pPr algn="ctr" indent="0" marL="0">
              <a:buNone/>
            </a:pPr>
            <a:r>
              <a:rPr lang="en-US" sz="1050" b="1" dirty="0">
                <a:solidFill>
                  <a:srgbClr val="8598AD"/>
                </a:solidFill>
                <a:latin typeface="Calibri" pitchFamily="34" charset="0"/>
                <a:ea typeface="Calibri" pitchFamily="34" charset="-122"/>
                <a:cs typeface="Calibri" pitchFamily="34" charset="-120"/>
              </a:rPr>
              <a:t>Predicted: Legitimate</a:t>
            </a:r>
            <a:endParaRPr lang="en-US" sz="1050" dirty="0"/>
          </a:p>
        </p:txBody>
      </p:sp>
      <p:sp>
        <p:nvSpPr>
          <p:cNvPr id="29" name="Text 26"/>
          <p:cNvSpPr/>
          <p:nvPr/>
        </p:nvSpPr>
        <p:spPr>
          <a:xfrm>
            <a:off x="9738360" y="1554480"/>
            <a:ext cx="1783080" cy="457200"/>
          </a:xfrm>
          <a:prstGeom prst="rect">
            <a:avLst/>
          </a:prstGeom>
          <a:noFill/>
          <a:ln/>
        </p:spPr>
        <p:txBody>
          <a:bodyPr wrap="square" lIns="0" tIns="0" rIns="0" bIns="0" rtlCol="0" anchor="ctr"/>
          <a:lstStyle/>
          <a:p>
            <a:pPr algn="ctr" indent="0" marL="0">
              <a:buNone/>
            </a:pPr>
            <a:r>
              <a:rPr lang="en-US" sz="1050" b="1" dirty="0">
                <a:solidFill>
                  <a:srgbClr val="8598AD"/>
                </a:solidFill>
                <a:latin typeface="Calibri" pitchFamily="34" charset="0"/>
                <a:ea typeface="Calibri" pitchFamily="34" charset="-122"/>
                <a:cs typeface="Calibri" pitchFamily="34" charset="-120"/>
              </a:rPr>
              <a:t>Predicted: Phishing</a:t>
            </a:r>
            <a:endParaRPr lang="en-US" sz="1050" dirty="0"/>
          </a:p>
        </p:txBody>
      </p:sp>
      <p:sp>
        <p:nvSpPr>
          <p:cNvPr id="30" name="Text 27"/>
          <p:cNvSpPr/>
          <p:nvPr/>
        </p:nvSpPr>
        <p:spPr>
          <a:xfrm>
            <a:off x="6675120" y="2103120"/>
            <a:ext cx="1143000" cy="1143000"/>
          </a:xfrm>
          <a:prstGeom prst="rect">
            <a:avLst/>
          </a:prstGeom>
          <a:noFill/>
          <a:ln/>
        </p:spPr>
        <p:txBody>
          <a:bodyPr wrap="square" lIns="0" tIns="0" rIns="0" bIns="0" rtlCol="0" anchor="ctr"/>
          <a:lstStyle/>
          <a:p>
            <a:pPr algn="ctr" indent="0" marL="0">
              <a:buNone/>
            </a:pPr>
            <a:r>
              <a:rPr lang="en-US" sz="1050" b="1" dirty="0">
                <a:solidFill>
                  <a:srgbClr val="8598AD"/>
                </a:solidFill>
                <a:latin typeface="Calibri" pitchFamily="34" charset="0"/>
                <a:ea typeface="Calibri" pitchFamily="34" charset="-122"/>
                <a:cs typeface="Calibri" pitchFamily="34" charset="-120"/>
              </a:rPr>
              <a:t>Actual:</a:t>
            </a:r>
            <a:endParaRPr lang="en-US" sz="1050" dirty="0"/>
          </a:p>
          <a:p>
            <a:pPr algn="ctr" indent="0" marL="0">
              <a:buNone/>
            </a:pPr>
            <a:r>
              <a:rPr lang="en-US" sz="1050" b="1" dirty="0">
                <a:solidFill>
                  <a:srgbClr val="8598AD"/>
                </a:solidFill>
                <a:latin typeface="Calibri" pitchFamily="34" charset="0"/>
                <a:ea typeface="Calibri" pitchFamily="34" charset="-122"/>
                <a:cs typeface="Calibri" pitchFamily="34" charset="-120"/>
              </a:rPr>
              <a:t>Legitimate</a:t>
            </a:r>
            <a:endParaRPr lang="en-US" sz="1050" dirty="0"/>
          </a:p>
        </p:txBody>
      </p:sp>
      <p:sp>
        <p:nvSpPr>
          <p:cNvPr id="31" name="Shape 28"/>
          <p:cNvSpPr/>
          <p:nvPr/>
        </p:nvSpPr>
        <p:spPr>
          <a:xfrm>
            <a:off x="7818120" y="2103120"/>
            <a:ext cx="1783080" cy="1143000"/>
          </a:xfrm>
          <a:prstGeom prst="roundRect">
            <a:avLst>
              <a:gd name="adj" fmla="val 8000"/>
            </a:avLst>
          </a:prstGeom>
          <a:solidFill>
            <a:srgbClr val="13273F"/>
          </a:solidFill>
          <a:ln w="12700">
            <a:solidFill>
              <a:srgbClr val="2FD9C9"/>
            </a:solidFill>
            <a:prstDash val="solid"/>
          </a:ln>
        </p:spPr>
      </p:sp>
      <p:sp>
        <p:nvSpPr>
          <p:cNvPr id="32" name="Text 29"/>
          <p:cNvSpPr/>
          <p:nvPr/>
        </p:nvSpPr>
        <p:spPr>
          <a:xfrm>
            <a:off x="7818120" y="2240280"/>
            <a:ext cx="1783080" cy="502920"/>
          </a:xfrm>
          <a:prstGeom prst="rect">
            <a:avLst/>
          </a:prstGeom>
          <a:noFill/>
          <a:ln/>
        </p:spPr>
        <p:txBody>
          <a:bodyPr wrap="square" lIns="0" tIns="0" rIns="0" bIns="0" rtlCol="0" anchor="ctr"/>
          <a:lstStyle/>
          <a:p>
            <a:pPr algn="ctr" indent="0" marL="0">
              <a:buNone/>
            </a:pPr>
            <a:r>
              <a:rPr lang="en-US" sz="2200" b="1" dirty="0">
                <a:solidFill>
                  <a:srgbClr val="2FD9C9"/>
                </a:solidFill>
                <a:latin typeface="Cambria" pitchFamily="34" charset="0"/>
                <a:ea typeface="Cambria" pitchFamily="34" charset="-122"/>
                <a:cs typeface="Cambria" pitchFamily="34" charset="-120"/>
              </a:rPr>
              <a:t>TN</a:t>
            </a:r>
            <a:endParaRPr lang="en-US" sz="2200" dirty="0"/>
          </a:p>
        </p:txBody>
      </p:sp>
      <p:sp>
        <p:nvSpPr>
          <p:cNvPr id="33" name="Text 30"/>
          <p:cNvSpPr/>
          <p:nvPr/>
        </p:nvSpPr>
        <p:spPr>
          <a:xfrm>
            <a:off x="7818120" y="2761488"/>
            <a:ext cx="1783080" cy="365760"/>
          </a:xfrm>
          <a:prstGeom prst="rect">
            <a:avLst/>
          </a:prstGeom>
          <a:noFill/>
          <a:ln/>
        </p:spPr>
        <p:txBody>
          <a:bodyPr wrap="square" lIns="0" tIns="0" rIns="0" bIns="0" rtlCol="0" anchor="t"/>
          <a:lstStyle/>
          <a:p>
            <a:pPr algn="ctr" indent="0" marL="0">
              <a:buNone/>
            </a:pPr>
            <a:r>
              <a:rPr lang="en-US" sz="1050" dirty="0">
                <a:solidFill>
                  <a:srgbClr val="D7E1EC"/>
                </a:solidFill>
                <a:latin typeface="Calibri" pitchFamily="34" charset="0"/>
                <a:ea typeface="Calibri" pitchFamily="34" charset="-122"/>
                <a:cs typeface="Calibri" pitchFamily="34" charset="-120"/>
              </a:rPr>
              <a:t>Legit passed</a:t>
            </a:r>
            <a:endParaRPr lang="en-US" sz="1050" dirty="0"/>
          </a:p>
        </p:txBody>
      </p:sp>
      <p:sp>
        <p:nvSpPr>
          <p:cNvPr id="34" name="Shape 31"/>
          <p:cNvSpPr/>
          <p:nvPr/>
        </p:nvSpPr>
        <p:spPr>
          <a:xfrm>
            <a:off x="9692640" y="2103120"/>
            <a:ext cx="1783080" cy="1143000"/>
          </a:xfrm>
          <a:prstGeom prst="roundRect">
            <a:avLst>
              <a:gd name="adj" fmla="val 8000"/>
            </a:avLst>
          </a:prstGeom>
          <a:solidFill>
            <a:srgbClr val="13273F"/>
          </a:solidFill>
          <a:ln w="12700">
            <a:solidFill>
              <a:srgbClr val="FF5C5C"/>
            </a:solidFill>
            <a:prstDash val="solid"/>
          </a:ln>
        </p:spPr>
      </p:sp>
      <p:sp>
        <p:nvSpPr>
          <p:cNvPr id="35" name="Text 32"/>
          <p:cNvSpPr/>
          <p:nvPr/>
        </p:nvSpPr>
        <p:spPr>
          <a:xfrm>
            <a:off x="9692640" y="2240280"/>
            <a:ext cx="1783080" cy="502920"/>
          </a:xfrm>
          <a:prstGeom prst="rect">
            <a:avLst/>
          </a:prstGeom>
          <a:noFill/>
          <a:ln/>
        </p:spPr>
        <p:txBody>
          <a:bodyPr wrap="square" lIns="0" tIns="0" rIns="0" bIns="0" rtlCol="0" anchor="ctr"/>
          <a:lstStyle/>
          <a:p>
            <a:pPr algn="ctr" indent="0" marL="0">
              <a:buNone/>
            </a:pPr>
            <a:r>
              <a:rPr lang="en-US" sz="2200" b="1" dirty="0">
                <a:solidFill>
                  <a:srgbClr val="FF5C5C"/>
                </a:solidFill>
                <a:latin typeface="Cambria" pitchFamily="34" charset="0"/>
                <a:ea typeface="Cambria" pitchFamily="34" charset="-122"/>
                <a:cs typeface="Cambria" pitchFamily="34" charset="-120"/>
              </a:rPr>
              <a:t>FP</a:t>
            </a:r>
            <a:endParaRPr lang="en-US" sz="2200" dirty="0"/>
          </a:p>
        </p:txBody>
      </p:sp>
      <p:sp>
        <p:nvSpPr>
          <p:cNvPr id="36" name="Text 33"/>
          <p:cNvSpPr/>
          <p:nvPr/>
        </p:nvSpPr>
        <p:spPr>
          <a:xfrm>
            <a:off x="9692640" y="2761488"/>
            <a:ext cx="1783080" cy="365760"/>
          </a:xfrm>
          <a:prstGeom prst="rect">
            <a:avLst/>
          </a:prstGeom>
          <a:noFill/>
          <a:ln/>
        </p:spPr>
        <p:txBody>
          <a:bodyPr wrap="square" lIns="0" tIns="0" rIns="0" bIns="0" rtlCol="0" anchor="t"/>
          <a:lstStyle/>
          <a:p>
            <a:pPr algn="ctr" indent="0" marL="0">
              <a:buNone/>
            </a:pPr>
            <a:r>
              <a:rPr lang="en-US" sz="1050" dirty="0">
                <a:solidFill>
                  <a:srgbClr val="D7E1EC"/>
                </a:solidFill>
                <a:latin typeface="Calibri" pitchFamily="34" charset="0"/>
                <a:ea typeface="Calibri" pitchFamily="34" charset="-122"/>
                <a:cs typeface="Calibri" pitchFamily="34" charset="-120"/>
              </a:rPr>
              <a:t>Legit wrongly flagged</a:t>
            </a:r>
            <a:endParaRPr lang="en-US" sz="1050" dirty="0"/>
          </a:p>
        </p:txBody>
      </p:sp>
      <p:sp>
        <p:nvSpPr>
          <p:cNvPr id="37" name="Text 34"/>
          <p:cNvSpPr/>
          <p:nvPr/>
        </p:nvSpPr>
        <p:spPr>
          <a:xfrm>
            <a:off x="6675120" y="3337560"/>
            <a:ext cx="1143000" cy="1143000"/>
          </a:xfrm>
          <a:prstGeom prst="rect">
            <a:avLst/>
          </a:prstGeom>
          <a:noFill/>
          <a:ln/>
        </p:spPr>
        <p:txBody>
          <a:bodyPr wrap="square" lIns="0" tIns="0" rIns="0" bIns="0" rtlCol="0" anchor="ctr"/>
          <a:lstStyle/>
          <a:p>
            <a:pPr algn="ctr" indent="0" marL="0">
              <a:buNone/>
            </a:pPr>
            <a:r>
              <a:rPr lang="en-US" sz="1050" b="1" dirty="0">
                <a:solidFill>
                  <a:srgbClr val="8598AD"/>
                </a:solidFill>
                <a:latin typeface="Calibri" pitchFamily="34" charset="0"/>
                <a:ea typeface="Calibri" pitchFamily="34" charset="-122"/>
                <a:cs typeface="Calibri" pitchFamily="34" charset="-120"/>
              </a:rPr>
              <a:t>Actual:</a:t>
            </a:r>
            <a:endParaRPr lang="en-US" sz="1050" dirty="0"/>
          </a:p>
          <a:p>
            <a:pPr algn="ctr" indent="0" marL="0">
              <a:buNone/>
            </a:pPr>
            <a:r>
              <a:rPr lang="en-US" sz="1050" b="1" dirty="0">
                <a:solidFill>
                  <a:srgbClr val="8598AD"/>
                </a:solidFill>
                <a:latin typeface="Calibri" pitchFamily="34" charset="0"/>
                <a:ea typeface="Calibri" pitchFamily="34" charset="-122"/>
                <a:cs typeface="Calibri" pitchFamily="34" charset="-120"/>
              </a:rPr>
              <a:t>Phishing</a:t>
            </a:r>
            <a:endParaRPr lang="en-US" sz="1050" dirty="0"/>
          </a:p>
        </p:txBody>
      </p:sp>
      <p:sp>
        <p:nvSpPr>
          <p:cNvPr id="38" name="Shape 35"/>
          <p:cNvSpPr/>
          <p:nvPr/>
        </p:nvSpPr>
        <p:spPr>
          <a:xfrm>
            <a:off x="7818120" y="3337560"/>
            <a:ext cx="1783080" cy="1143000"/>
          </a:xfrm>
          <a:prstGeom prst="roundRect">
            <a:avLst>
              <a:gd name="adj" fmla="val 8000"/>
            </a:avLst>
          </a:prstGeom>
          <a:solidFill>
            <a:srgbClr val="13273F"/>
          </a:solidFill>
          <a:ln w="12700">
            <a:solidFill>
              <a:srgbClr val="FF5C5C"/>
            </a:solidFill>
            <a:prstDash val="solid"/>
          </a:ln>
        </p:spPr>
      </p:sp>
      <p:sp>
        <p:nvSpPr>
          <p:cNvPr id="39" name="Text 36"/>
          <p:cNvSpPr/>
          <p:nvPr/>
        </p:nvSpPr>
        <p:spPr>
          <a:xfrm>
            <a:off x="7818120" y="3474720"/>
            <a:ext cx="1783080" cy="502920"/>
          </a:xfrm>
          <a:prstGeom prst="rect">
            <a:avLst/>
          </a:prstGeom>
          <a:noFill/>
          <a:ln/>
        </p:spPr>
        <p:txBody>
          <a:bodyPr wrap="square" lIns="0" tIns="0" rIns="0" bIns="0" rtlCol="0" anchor="ctr"/>
          <a:lstStyle/>
          <a:p>
            <a:pPr algn="ctr" indent="0" marL="0">
              <a:buNone/>
            </a:pPr>
            <a:r>
              <a:rPr lang="en-US" sz="2200" b="1" dirty="0">
                <a:solidFill>
                  <a:srgbClr val="FF5C5C"/>
                </a:solidFill>
                <a:latin typeface="Cambria" pitchFamily="34" charset="0"/>
                <a:ea typeface="Cambria" pitchFamily="34" charset="-122"/>
                <a:cs typeface="Cambria" pitchFamily="34" charset="-120"/>
              </a:rPr>
              <a:t>FN</a:t>
            </a:r>
            <a:endParaRPr lang="en-US" sz="2200" dirty="0"/>
          </a:p>
        </p:txBody>
      </p:sp>
      <p:sp>
        <p:nvSpPr>
          <p:cNvPr id="40" name="Text 37"/>
          <p:cNvSpPr/>
          <p:nvPr/>
        </p:nvSpPr>
        <p:spPr>
          <a:xfrm>
            <a:off x="7818120" y="3995928"/>
            <a:ext cx="1783080" cy="365760"/>
          </a:xfrm>
          <a:prstGeom prst="rect">
            <a:avLst/>
          </a:prstGeom>
          <a:noFill/>
          <a:ln/>
        </p:spPr>
        <p:txBody>
          <a:bodyPr wrap="square" lIns="0" tIns="0" rIns="0" bIns="0" rtlCol="0" anchor="t"/>
          <a:lstStyle/>
          <a:p>
            <a:pPr algn="ctr" indent="0" marL="0">
              <a:buNone/>
            </a:pPr>
            <a:r>
              <a:rPr lang="en-US" sz="1050" dirty="0">
                <a:solidFill>
                  <a:srgbClr val="D7E1EC"/>
                </a:solidFill>
                <a:latin typeface="Calibri" pitchFamily="34" charset="0"/>
                <a:ea typeface="Calibri" pitchFamily="34" charset="-122"/>
                <a:cs typeface="Calibri" pitchFamily="34" charset="-120"/>
              </a:rPr>
              <a:t>Phishing missed</a:t>
            </a:r>
            <a:endParaRPr lang="en-US" sz="1050" dirty="0"/>
          </a:p>
        </p:txBody>
      </p:sp>
      <p:sp>
        <p:nvSpPr>
          <p:cNvPr id="41" name="Shape 38"/>
          <p:cNvSpPr/>
          <p:nvPr/>
        </p:nvSpPr>
        <p:spPr>
          <a:xfrm>
            <a:off x="9692640" y="3337560"/>
            <a:ext cx="1783080" cy="1143000"/>
          </a:xfrm>
          <a:prstGeom prst="roundRect">
            <a:avLst>
              <a:gd name="adj" fmla="val 8000"/>
            </a:avLst>
          </a:prstGeom>
          <a:solidFill>
            <a:srgbClr val="13273F"/>
          </a:solidFill>
          <a:ln w="12700">
            <a:solidFill>
              <a:srgbClr val="2FD9C9"/>
            </a:solidFill>
            <a:prstDash val="solid"/>
          </a:ln>
        </p:spPr>
      </p:sp>
      <p:sp>
        <p:nvSpPr>
          <p:cNvPr id="42" name="Text 39"/>
          <p:cNvSpPr/>
          <p:nvPr/>
        </p:nvSpPr>
        <p:spPr>
          <a:xfrm>
            <a:off x="9692640" y="3474720"/>
            <a:ext cx="1783080" cy="502920"/>
          </a:xfrm>
          <a:prstGeom prst="rect">
            <a:avLst/>
          </a:prstGeom>
          <a:noFill/>
          <a:ln/>
        </p:spPr>
        <p:txBody>
          <a:bodyPr wrap="square" lIns="0" tIns="0" rIns="0" bIns="0" rtlCol="0" anchor="ctr"/>
          <a:lstStyle/>
          <a:p>
            <a:pPr algn="ctr" indent="0" marL="0">
              <a:buNone/>
            </a:pPr>
            <a:r>
              <a:rPr lang="en-US" sz="2200" b="1" dirty="0">
                <a:solidFill>
                  <a:srgbClr val="2FD9C9"/>
                </a:solidFill>
                <a:latin typeface="Cambria" pitchFamily="34" charset="0"/>
                <a:ea typeface="Cambria" pitchFamily="34" charset="-122"/>
                <a:cs typeface="Cambria" pitchFamily="34" charset="-120"/>
              </a:rPr>
              <a:t>TP</a:t>
            </a:r>
            <a:endParaRPr lang="en-US" sz="2200" dirty="0"/>
          </a:p>
        </p:txBody>
      </p:sp>
      <p:sp>
        <p:nvSpPr>
          <p:cNvPr id="43" name="Text 40"/>
          <p:cNvSpPr/>
          <p:nvPr/>
        </p:nvSpPr>
        <p:spPr>
          <a:xfrm>
            <a:off x="9692640" y="3995928"/>
            <a:ext cx="1783080" cy="365760"/>
          </a:xfrm>
          <a:prstGeom prst="rect">
            <a:avLst/>
          </a:prstGeom>
          <a:noFill/>
          <a:ln/>
        </p:spPr>
        <p:txBody>
          <a:bodyPr wrap="square" lIns="0" tIns="0" rIns="0" bIns="0" rtlCol="0" anchor="t"/>
          <a:lstStyle/>
          <a:p>
            <a:pPr algn="ctr" indent="0" marL="0">
              <a:buNone/>
            </a:pPr>
            <a:r>
              <a:rPr lang="en-US" sz="1050" dirty="0">
                <a:solidFill>
                  <a:srgbClr val="D7E1EC"/>
                </a:solidFill>
                <a:latin typeface="Calibri" pitchFamily="34" charset="0"/>
                <a:ea typeface="Calibri" pitchFamily="34" charset="-122"/>
                <a:cs typeface="Calibri" pitchFamily="34" charset="-120"/>
              </a:rPr>
              <a:t>Phishing caught</a:t>
            </a:r>
            <a:endParaRPr lang="en-US" sz="1050" dirty="0"/>
          </a:p>
        </p:txBody>
      </p:sp>
      <p:sp>
        <p:nvSpPr>
          <p:cNvPr id="44" name="Shape 41"/>
          <p:cNvSpPr/>
          <p:nvPr/>
        </p:nvSpPr>
        <p:spPr>
          <a:xfrm>
            <a:off x="548640" y="5440680"/>
            <a:ext cx="11064240" cy="731520"/>
          </a:xfrm>
          <a:prstGeom prst="roundRect">
            <a:avLst>
              <a:gd name="adj" fmla="val 12500"/>
            </a:avLst>
          </a:prstGeom>
          <a:solidFill>
            <a:srgbClr val="1B3552"/>
          </a:solidFill>
          <a:ln w="12700">
            <a:solidFill>
              <a:srgbClr val="2FD9C9"/>
            </a:solidFill>
            <a:prstDash val="solid"/>
          </a:ln>
        </p:spPr>
      </p:sp>
      <p:sp>
        <p:nvSpPr>
          <p:cNvPr id="45" name="Text 42"/>
          <p:cNvSpPr/>
          <p:nvPr/>
        </p:nvSpPr>
        <p:spPr>
          <a:xfrm>
            <a:off x="822960" y="5440680"/>
            <a:ext cx="10515600" cy="731520"/>
          </a:xfrm>
          <a:prstGeom prst="rect">
            <a:avLst/>
          </a:prstGeom>
          <a:noFill/>
          <a:ln/>
        </p:spPr>
        <p:txBody>
          <a:bodyPr wrap="square" lIns="0" tIns="0" rIns="0" bIns="0" rtlCol="0" anchor="ctr"/>
          <a:lstStyle/>
          <a:p>
            <a:pPr indent="0" marL="0">
              <a:lnSpc>
                <a:spcPct val="115000"/>
              </a:lnSpc>
              <a:buNone/>
            </a:pPr>
            <a:r>
              <a:rPr lang="en-US" sz="1250" b="1" dirty="0">
                <a:solidFill>
                  <a:srgbClr val="2FD9C9"/>
                </a:solidFill>
                <a:latin typeface="Calibri" pitchFamily="34" charset="0"/>
                <a:ea typeface="Calibri" pitchFamily="34" charset="-122"/>
                <a:cs typeface="Calibri" pitchFamily="34" charset="-120"/>
              </a:rPr>
              <a:t>Why it matters:  </a:t>
            </a:r>
            <a:pPr indent="0" marL="0">
              <a:lnSpc>
                <a:spcPct val="115000"/>
              </a:lnSpc>
              <a:buNone/>
            </a:pPr>
            <a:r>
              <a:rPr lang="en-US" sz="1200" dirty="0">
                <a:solidFill>
                  <a:srgbClr val="D7E1EC"/>
                </a:solidFill>
                <a:latin typeface="Calibri" pitchFamily="34" charset="0"/>
                <a:ea typeface="Calibri" pitchFamily="34" charset="-122"/>
                <a:cs typeface="Calibri" pitchFamily="34" charset="-120"/>
              </a:rPr>
              <a:t>a false positive blocks a legitimate site; a false negative lets a phishing site through. The goal is high detection with low false positives.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424160" y="-2377440"/>
            <a:ext cx="3474720" cy="3474720"/>
          </a:xfrm>
          <a:prstGeom prst="ellipse">
            <a:avLst/>
          </a:prstGeom>
          <a:solidFill>
            <a:srgbClr val="13273F"/>
          </a:solidFill>
          <a:ln/>
        </p:spPr>
      </p:sp>
      <p:sp>
        <p:nvSpPr>
          <p:cNvPr id="3" name="Shape 1"/>
          <p:cNvSpPr/>
          <p:nvPr/>
        </p:nvSpPr>
        <p:spPr>
          <a:xfrm>
            <a:off x="-2011680" y="6309360"/>
            <a:ext cx="2926080" cy="2926080"/>
          </a:xfrm>
          <a:prstGeom prst="ellipse">
            <a:avLst/>
          </a:prstGeom>
          <a:solidFill>
            <a:srgbClr val="13273F"/>
          </a:solidFill>
          <a:ln/>
        </p:spPr>
      </p:sp>
      <p:sp>
        <p:nvSpPr>
          <p:cNvPr id="4" name="Text 2"/>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FD9C9"/>
                </a:solidFill>
                <a:latin typeface="Calibri" pitchFamily="34" charset="0"/>
                <a:ea typeface="Calibri" pitchFamily="34" charset="-122"/>
                <a:cs typeface="Calibri" pitchFamily="34" charset="-120"/>
              </a:rPr>
              <a:t>RESPONSIBLE DESIGN</a:t>
            </a:r>
            <a:endParaRPr lang="en-US" sz="1300" dirty="0"/>
          </a:p>
        </p:txBody>
      </p:sp>
      <p:sp>
        <p:nvSpPr>
          <p:cNvPr id="5" name="Text 3"/>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Security, Privacy &amp; Limitations</a:t>
            </a:r>
            <a:endParaRPr lang="en-US" sz="2800" dirty="0"/>
          </a:p>
        </p:txBody>
      </p:sp>
      <p:sp>
        <p:nvSpPr>
          <p:cNvPr id="6" name="Text 4"/>
          <p:cNvSpPr/>
          <p:nvPr/>
        </p:nvSpPr>
        <p:spPr>
          <a:xfrm>
            <a:off x="11247120" y="6473952"/>
            <a:ext cx="457200" cy="228600"/>
          </a:xfrm>
          <a:prstGeom prst="rect">
            <a:avLst/>
          </a:prstGeom>
          <a:noFill/>
          <a:ln/>
        </p:spPr>
        <p:txBody>
          <a:bodyPr wrap="square" lIns="0" tIns="0" rIns="0" bIns="0" rtlCol="0" anchor="ctr"/>
          <a:lstStyle/>
          <a:p>
            <a:pPr algn="r" indent="0" marL="0">
              <a:buNone/>
            </a:pPr>
            <a:r>
              <a:rPr lang="en-US" sz="900" dirty="0">
                <a:solidFill>
                  <a:srgbClr val="8598AD"/>
                </a:solidFill>
                <a:latin typeface="Calibri" pitchFamily="34" charset="0"/>
                <a:ea typeface="Calibri" pitchFamily="34" charset="-122"/>
                <a:cs typeface="Calibri" pitchFamily="34" charset="-120"/>
              </a:rPr>
              <a:t>11</a:t>
            </a:r>
            <a:endParaRPr lang="en-US" sz="900" dirty="0"/>
          </a:p>
        </p:txBody>
      </p:sp>
      <p:sp>
        <p:nvSpPr>
          <p:cNvPr id="8" name="Shape 5"/>
          <p:cNvSpPr/>
          <p:nvPr/>
        </p:nvSpPr>
        <p:spPr>
          <a:xfrm>
            <a:off x="548640" y="1554480"/>
            <a:ext cx="5440680" cy="4434840"/>
          </a:xfrm>
          <a:prstGeom prst="roundRect">
            <a:avLst>
              <a:gd name="adj" fmla="val 2062"/>
            </a:avLst>
          </a:prstGeom>
          <a:solidFill>
            <a:srgbClr val="13273F"/>
          </a:solidFill>
          <a:ln/>
        </p:spPr>
      </p:sp>
      <p:sp>
        <p:nvSpPr>
          <p:cNvPr id="9" name="Text 6"/>
          <p:cNvSpPr/>
          <p:nvPr/>
        </p:nvSpPr>
        <p:spPr>
          <a:xfrm>
            <a:off x="822960" y="1719072"/>
            <a:ext cx="4846320" cy="365760"/>
          </a:xfrm>
          <a:prstGeom prst="rect">
            <a:avLst/>
          </a:prstGeom>
          <a:noFill/>
          <a:ln/>
        </p:spPr>
        <p:txBody>
          <a:bodyPr wrap="square" lIns="0" tIns="0" rIns="0" bIns="0" rtlCol="0" anchor="ctr"/>
          <a:lstStyle/>
          <a:p>
            <a:pPr indent="0" marL="0">
              <a:buNone/>
            </a:pPr>
            <a:r>
              <a:rPr lang="en-US" sz="1600" b="1" dirty="0">
                <a:solidFill>
                  <a:srgbClr val="2FD9C9"/>
                </a:solidFill>
                <a:latin typeface="Cambria" pitchFamily="34" charset="0"/>
                <a:ea typeface="Cambria" pitchFamily="34" charset="-122"/>
                <a:cs typeface="Cambria" pitchFamily="34" charset="-120"/>
              </a:rPr>
              <a:t>Safeguards</a:t>
            </a:r>
            <a:endParaRPr lang="en-US" sz="1600" dirty="0"/>
          </a:p>
        </p:txBody>
      </p:sp>
      <p:sp>
        <p:nvSpPr>
          <p:cNvPr id="10" name="Shape 7"/>
          <p:cNvSpPr/>
          <p:nvPr/>
        </p:nvSpPr>
        <p:spPr>
          <a:xfrm>
            <a:off x="822960" y="2368296"/>
            <a:ext cx="91440" cy="91440"/>
          </a:xfrm>
          <a:prstGeom prst="ellipse">
            <a:avLst/>
          </a:prstGeom>
          <a:solidFill>
            <a:srgbClr val="2FD9C9"/>
          </a:solidFill>
          <a:ln/>
        </p:spPr>
      </p:sp>
      <p:sp>
        <p:nvSpPr>
          <p:cNvPr id="11" name="Text 8"/>
          <p:cNvSpPr/>
          <p:nvPr/>
        </p:nvSpPr>
        <p:spPr>
          <a:xfrm>
            <a:off x="1078992" y="2286000"/>
            <a:ext cx="4681728" cy="67665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Backend rejects localhost, private, and reserved IP destinations to reduce SSRF risk.</a:t>
            </a:r>
            <a:endParaRPr lang="en-US" sz="1150" dirty="0"/>
          </a:p>
        </p:txBody>
      </p:sp>
      <p:sp>
        <p:nvSpPr>
          <p:cNvPr id="12" name="Shape 9"/>
          <p:cNvSpPr/>
          <p:nvPr/>
        </p:nvSpPr>
        <p:spPr>
          <a:xfrm>
            <a:off x="822960" y="3099816"/>
            <a:ext cx="91440" cy="91440"/>
          </a:xfrm>
          <a:prstGeom prst="ellipse">
            <a:avLst/>
          </a:prstGeom>
          <a:solidFill>
            <a:srgbClr val="2FD9C9"/>
          </a:solidFill>
          <a:ln/>
        </p:spPr>
      </p:sp>
      <p:sp>
        <p:nvSpPr>
          <p:cNvPr id="13" name="Text 10"/>
          <p:cNvSpPr/>
          <p:nvPr/>
        </p:nvSpPr>
        <p:spPr>
          <a:xfrm>
            <a:off x="1078992" y="3017520"/>
            <a:ext cx="4681728" cy="67665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Provider API keys stay on the backend — never in JavaScript or on GitHub.</a:t>
            </a:r>
            <a:endParaRPr lang="en-US" sz="1150" dirty="0"/>
          </a:p>
        </p:txBody>
      </p:sp>
      <p:sp>
        <p:nvSpPr>
          <p:cNvPr id="14" name="Shape 11"/>
          <p:cNvSpPr/>
          <p:nvPr/>
        </p:nvSpPr>
        <p:spPr>
          <a:xfrm>
            <a:off x="822960" y="3831336"/>
            <a:ext cx="91440" cy="91440"/>
          </a:xfrm>
          <a:prstGeom prst="ellipse">
            <a:avLst/>
          </a:prstGeom>
          <a:solidFill>
            <a:srgbClr val="2FD9C9"/>
          </a:solidFill>
          <a:ln/>
        </p:spPr>
      </p:sp>
      <p:sp>
        <p:nvSpPr>
          <p:cNvPr id="15" name="Text 12"/>
          <p:cNvSpPr/>
          <p:nvPr/>
        </p:nvSpPr>
        <p:spPr>
          <a:xfrm>
            <a:off x="1078992" y="3749040"/>
            <a:ext cx="4681728" cy="67665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Breach lookup runs only after explicit consent; passwords are never collected.</a:t>
            </a:r>
            <a:endParaRPr lang="en-US" sz="1150" dirty="0"/>
          </a:p>
        </p:txBody>
      </p:sp>
      <p:sp>
        <p:nvSpPr>
          <p:cNvPr id="16" name="Shape 13"/>
          <p:cNvSpPr/>
          <p:nvPr/>
        </p:nvSpPr>
        <p:spPr>
          <a:xfrm>
            <a:off x="822960" y="4562856"/>
            <a:ext cx="91440" cy="91440"/>
          </a:xfrm>
          <a:prstGeom prst="ellipse">
            <a:avLst/>
          </a:prstGeom>
          <a:solidFill>
            <a:srgbClr val="2FD9C9"/>
          </a:solidFill>
          <a:ln/>
        </p:spPr>
      </p:sp>
      <p:sp>
        <p:nvSpPr>
          <p:cNvPr id="17" name="Text 14"/>
          <p:cNvSpPr/>
          <p:nvPr/>
        </p:nvSpPr>
        <p:spPr>
          <a:xfrm>
            <a:off x="1078992" y="4480560"/>
            <a:ext cx="4681728" cy="67665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Files and QR codes are read locally in the browser, not uploaded.</a:t>
            </a:r>
            <a:endParaRPr lang="en-US" sz="1150" dirty="0"/>
          </a:p>
        </p:txBody>
      </p:sp>
      <p:sp>
        <p:nvSpPr>
          <p:cNvPr id="18" name="Shape 15"/>
          <p:cNvSpPr/>
          <p:nvPr/>
        </p:nvSpPr>
        <p:spPr>
          <a:xfrm>
            <a:off x="822960" y="5294376"/>
            <a:ext cx="91440" cy="91440"/>
          </a:xfrm>
          <a:prstGeom prst="ellipse">
            <a:avLst/>
          </a:prstGeom>
          <a:solidFill>
            <a:srgbClr val="2FD9C9"/>
          </a:solidFill>
          <a:ln/>
        </p:spPr>
      </p:sp>
      <p:sp>
        <p:nvSpPr>
          <p:cNvPr id="19" name="Text 16"/>
          <p:cNvSpPr/>
          <p:nvPr/>
        </p:nvSpPr>
        <p:spPr>
          <a:xfrm>
            <a:off x="1078992" y="5212080"/>
            <a:ext cx="4681728" cy="67665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Scan history and watchlist live in this browser's local storage.</a:t>
            </a:r>
            <a:endParaRPr lang="en-US" sz="1150" dirty="0"/>
          </a:p>
        </p:txBody>
      </p:sp>
      <p:sp>
        <p:nvSpPr>
          <p:cNvPr id="20" name="Shape 17"/>
          <p:cNvSpPr/>
          <p:nvPr/>
        </p:nvSpPr>
        <p:spPr>
          <a:xfrm>
            <a:off x="6172200" y="1554480"/>
            <a:ext cx="5440680" cy="4434840"/>
          </a:xfrm>
          <a:prstGeom prst="roundRect">
            <a:avLst>
              <a:gd name="adj" fmla="val 2062"/>
            </a:avLst>
          </a:prstGeom>
          <a:solidFill>
            <a:srgbClr val="13273F"/>
          </a:solidFill>
          <a:ln/>
        </p:spPr>
      </p:sp>
      <p:sp>
        <p:nvSpPr>
          <p:cNvPr id="21" name="Text 18"/>
          <p:cNvSpPr/>
          <p:nvPr/>
        </p:nvSpPr>
        <p:spPr>
          <a:xfrm>
            <a:off x="6446520" y="1719072"/>
            <a:ext cx="4846320" cy="365760"/>
          </a:xfrm>
          <a:prstGeom prst="rect">
            <a:avLst/>
          </a:prstGeom>
          <a:noFill/>
          <a:ln/>
        </p:spPr>
        <p:txBody>
          <a:bodyPr wrap="square" lIns="0" tIns="0" rIns="0" bIns="0" rtlCol="0" anchor="ctr"/>
          <a:lstStyle/>
          <a:p>
            <a:pPr indent="0" marL="0">
              <a:buNone/>
            </a:pPr>
            <a:r>
              <a:rPr lang="en-US" sz="1600" b="1" dirty="0">
                <a:solidFill>
                  <a:srgbClr val="FF5C5C"/>
                </a:solidFill>
                <a:latin typeface="Cambria" pitchFamily="34" charset="0"/>
                <a:ea typeface="Cambria" pitchFamily="34" charset="-122"/>
                <a:cs typeface="Cambria" pitchFamily="34" charset="-120"/>
              </a:rPr>
              <a:t>Limitations</a:t>
            </a:r>
            <a:endParaRPr lang="en-US" sz="1600" dirty="0"/>
          </a:p>
        </p:txBody>
      </p:sp>
      <p:sp>
        <p:nvSpPr>
          <p:cNvPr id="22" name="Shape 19"/>
          <p:cNvSpPr/>
          <p:nvPr/>
        </p:nvSpPr>
        <p:spPr>
          <a:xfrm>
            <a:off x="6446520" y="2368296"/>
            <a:ext cx="91440" cy="91440"/>
          </a:xfrm>
          <a:prstGeom prst="ellipse">
            <a:avLst/>
          </a:prstGeom>
          <a:solidFill>
            <a:srgbClr val="FF5C5C"/>
          </a:solidFill>
          <a:ln/>
        </p:spPr>
      </p:sp>
      <p:sp>
        <p:nvSpPr>
          <p:cNvPr id="23" name="Text 20"/>
          <p:cNvSpPr/>
          <p:nvPr/>
        </p:nvSpPr>
        <p:spPr>
          <a:xfrm>
            <a:off x="6702552" y="2286000"/>
            <a:ext cx="4681728" cy="67665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A model probability is an estimate, not certainty or a verified reputation.</a:t>
            </a:r>
            <a:endParaRPr lang="en-US" sz="1150" dirty="0"/>
          </a:p>
        </p:txBody>
      </p:sp>
      <p:sp>
        <p:nvSpPr>
          <p:cNvPr id="24" name="Shape 21"/>
          <p:cNvSpPr/>
          <p:nvPr/>
        </p:nvSpPr>
        <p:spPr>
          <a:xfrm>
            <a:off x="6446520" y="3099816"/>
            <a:ext cx="91440" cy="91440"/>
          </a:xfrm>
          <a:prstGeom prst="ellipse">
            <a:avLst/>
          </a:prstGeom>
          <a:solidFill>
            <a:srgbClr val="FF5C5C"/>
          </a:solidFill>
          <a:ln/>
        </p:spPr>
      </p:sp>
      <p:sp>
        <p:nvSpPr>
          <p:cNvPr id="25" name="Text 22"/>
          <p:cNvSpPr/>
          <p:nvPr/>
        </p:nvSpPr>
        <p:spPr>
          <a:xfrm>
            <a:off x="6702552" y="3017520"/>
            <a:ext cx="4681728" cy="67665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Live intelligence is best-effort; unknown or unavailable is not proof of safety.</a:t>
            </a:r>
            <a:endParaRPr lang="en-US" sz="1150" dirty="0"/>
          </a:p>
        </p:txBody>
      </p:sp>
      <p:sp>
        <p:nvSpPr>
          <p:cNvPr id="26" name="Shape 23"/>
          <p:cNvSpPr/>
          <p:nvPr/>
        </p:nvSpPr>
        <p:spPr>
          <a:xfrm>
            <a:off x="6446520" y="3831336"/>
            <a:ext cx="91440" cy="91440"/>
          </a:xfrm>
          <a:prstGeom prst="ellipse">
            <a:avLst/>
          </a:prstGeom>
          <a:solidFill>
            <a:srgbClr val="FF5C5C"/>
          </a:solidFill>
          <a:ln/>
        </p:spPr>
      </p:sp>
      <p:sp>
        <p:nvSpPr>
          <p:cNvPr id="27" name="Text 24"/>
          <p:cNvSpPr/>
          <p:nvPr/>
        </p:nvSpPr>
        <p:spPr>
          <a:xfrm>
            <a:off x="6702552" y="3749040"/>
            <a:ext cx="4681728" cy="67665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QR extraction needs a browser that supports BarcodeDetector.</a:t>
            </a:r>
            <a:endParaRPr lang="en-US" sz="1150" dirty="0"/>
          </a:p>
        </p:txBody>
      </p:sp>
      <p:sp>
        <p:nvSpPr>
          <p:cNvPr id="28" name="Shape 25"/>
          <p:cNvSpPr/>
          <p:nvPr/>
        </p:nvSpPr>
        <p:spPr>
          <a:xfrm>
            <a:off x="6446520" y="4562856"/>
            <a:ext cx="91440" cy="91440"/>
          </a:xfrm>
          <a:prstGeom prst="ellipse">
            <a:avLst/>
          </a:prstGeom>
          <a:solidFill>
            <a:srgbClr val="FF5C5C"/>
          </a:solidFill>
          <a:ln/>
        </p:spPr>
      </p:sp>
      <p:sp>
        <p:nvSpPr>
          <p:cNvPr id="29" name="Text 26"/>
          <p:cNvSpPr/>
          <p:nvPr/>
        </p:nvSpPr>
        <p:spPr>
          <a:xfrm>
            <a:off x="6702552" y="4480560"/>
            <a:ext cx="4681728" cy="67665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Bulk scans are capped at 50 URLs; uploads up to 2 MB (.txt, .csv, .eml).</a:t>
            </a:r>
            <a:endParaRPr lang="en-US" sz="1150" dirty="0"/>
          </a:p>
        </p:txBody>
      </p:sp>
      <p:sp>
        <p:nvSpPr>
          <p:cNvPr id="30" name="Shape 27"/>
          <p:cNvSpPr/>
          <p:nvPr/>
        </p:nvSpPr>
        <p:spPr>
          <a:xfrm>
            <a:off x="6446520" y="5294376"/>
            <a:ext cx="91440" cy="91440"/>
          </a:xfrm>
          <a:prstGeom prst="ellipse">
            <a:avLst/>
          </a:prstGeom>
          <a:solidFill>
            <a:srgbClr val="FF5C5C"/>
          </a:solidFill>
          <a:ln/>
        </p:spPr>
      </p:sp>
      <p:sp>
        <p:nvSpPr>
          <p:cNvPr id="31" name="Text 28"/>
          <p:cNvSpPr/>
          <p:nvPr/>
        </p:nvSpPr>
        <p:spPr>
          <a:xfrm>
            <a:off x="6702552" y="5212080"/>
            <a:ext cx="4681728" cy="676656"/>
          </a:xfrm>
          <a:prstGeom prst="rect">
            <a:avLst/>
          </a:prstGeom>
          <a:noFill/>
          <a:ln/>
        </p:spPr>
        <p:txBody>
          <a:bodyPr wrap="square" lIns="0" tIns="0" rIns="0" bIns="0" rtlCol="0" anchor="t"/>
          <a:lstStyle/>
          <a:p>
            <a:pPr indent="0" marL="0">
              <a:lnSpc>
                <a:spcPct val="115000"/>
              </a:lnSpc>
              <a:buNone/>
            </a:pPr>
            <a:r>
              <a:rPr lang="en-US" sz="1150" dirty="0">
                <a:solidFill>
                  <a:srgbClr val="D7E1EC"/>
                </a:solidFill>
                <a:latin typeface="Calibri" pitchFamily="34" charset="0"/>
                <a:ea typeface="Calibri" pitchFamily="34" charset="-122"/>
                <a:cs typeface="Calibri" pitchFamily="34" charset="-120"/>
              </a:rPr>
              <a:t>Not for public exposure without authentication, rate limits, and security review.</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424160" y="-2377440"/>
            <a:ext cx="3474720" cy="3474720"/>
          </a:xfrm>
          <a:prstGeom prst="ellipse">
            <a:avLst/>
          </a:prstGeom>
          <a:solidFill>
            <a:srgbClr val="13273F"/>
          </a:solidFill>
          <a:ln/>
        </p:spPr>
      </p:sp>
      <p:sp>
        <p:nvSpPr>
          <p:cNvPr id="3" name="Shape 1"/>
          <p:cNvSpPr/>
          <p:nvPr/>
        </p:nvSpPr>
        <p:spPr>
          <a:xfrm>
            <a:off x="-2011680" y="6309360"/>
            <a:ext cx="2926080" cy="2926080"/>
          </a:xfrm>
          <a:prstGeom prst="ellipse">
            <a:avLst/>
          </a:prstGeom>
          <a:solidFill>
            <a:srgbClr val="13273F"/>
          </a:solidFill>
          <a:ln/>
        </p:spPr>
      </p:sp>
      <p:sp>
        <p:nvSpPr>
          <p:cNvPr id="4" name="Text 2"/>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FD9C9"/>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Conclusion &amp; Future Work</a:t>
            </a:r>
            <a:endParaRPr lang="en-US" sz="2800" dirty="0"/>
          </a:p>
        </p:txBody>
      </p:sp>
      <p:sp>
        <p:nvSpPr>
          <p:cNvPr id="6" name="Text 4"/>
          <p:cNvSpPr/>
          <p:nvPr/>
        </p:nvSpPr>
        <p:spPr>
          <a:xfrm>
            <a:off x="11247120" y="6473952"/>
            <a:ext cx="457200" cy="228600"/>
          </a:xfrm>
          <a:prstGeom prst="rect">
            <a:avLst/>
          </a:prstGeom>
          <a:noFill/>
          <a:ln/>
        </p:spPr>
        <p:txBody>
          <a:bodyPr wrap="square" lIns="0" tIns="0" rIns="0" bIns="0" rtlCol="0" anchor="ctr"/>
          <a:lstStyle/>
          <a:p>
            <a:pPr algn="r" indent="0" marL="0">
              <a:buNone/>
            </a:pPr>
            <a:r>
              <a:rPr lang="en-US" sz="900" dirty="0">
                <a:solidFill>
                  <a:srgbClr val="8598AD"/>
                </a:solidFill>
                <a:latin typeface="Calibri" pitchFamily="34" charset="0"/>
                <a:ea typeface="Calibri" pitchFamily="34" charset="-122"/>
                <a:cs typeface="Calibri" pitchFamily="34" charset="-120"/>
              </a:rPr>
              <a:t>12</a:t>
            </a:r>
            <a:endParaRPr lang="en-US" sz="900" dirty="0"/>
          </a:p>
        </p:txBody>
      </p:sp>
      <p:sp>
        <p:nvSpPr>
          <p:cNvPr id="8" name="Shape 5"/>
          <p:cNvSpPr/>
          <p:nvPr/>
        </p:nvSpPr>
        <p:spPr>
          <a:xfrm>
            <a:off x="548640" y="1508760"/>
            <a:ext cx="5486400" cy="3429000"/>
          </a:xfrm>
          <a:prstGeom prst="roundRect">
            <a:avLst>
              <a:gd name="adj" fmla="val 2667"/>
            </a:avLst>
          </a:prstGeom>
          <a:solidFill>
            <a:srgbClr val="13273F"/>
          </a:solidFill>
          <a:ln/>
        </p:spPr>
      </p:sp>
      <p:sp>
        <p:nvSpPr>
          <p:cNvPr id="9" name="Text 6"/>
          <p:cNvSpPr/>
          <p:nvPr/>
        </p:nvSpPr>
        <p:spPr>
          <a:xfrm>
            <a:off x="822960" y="1673352"/>
            <a:ext cx="4937760" cy="365760"/>
          </a:xfrm>
          <a:prstGeom prst="rect">
            <a:avLst/>
          </a:prstGeom>
          <a:noFill/>
          <a:ln/>
        </p:spPr>
        <p:txBody>
          <a:bodyPr wrap="square" lIns="0" tIns="0" rIns="0" bIns="0" rtlCol="0" anchor="ctr"/>
          <a:lstStyle/>
          <a:p>
            <a:pPr indent="0" marL="0">
              <a:buNone/>
            </a:pPr>
            <a:r>
              <a:rPr lang="en-US" sz="1600" b="1" dirty="0">
                <a:solidFill>
                  <a:srgbClr val="2FD9C9"/>
                </a:solidFill>
                <a:latin typeface="Cambria" pitchFamily="34" charset="0"/>
                <a:ea typeface="Cambria" pitchFamily="34" charset="-122"/>
                <a:cs typeface="Cambria" pitchFamily="34" charset="-120"/>
              </a:rPr>
              <a:t>Conclusion</a:t>
            </a:r>
            <a:endParaRPr lang="en-US" sz="1600" dirty="0"/>
          </a:p>
        </p:txBody>
      </p:sp>
      <p:sp>
        <p:nvSpPr>
          <p:cNvPr id="10" name="Shape 7"/>
          <p:cNvSpPr/>
          <p:nvPr/>
        </p:nvSpPr>
        <p:spPr>
          <a:xfrm>
            <a:off x="822960" y="2368296"/>
            <a:ext cx="91440" cy="91440"/>
          </a:xfrm>
          <a:prstGeom prst="ellipse">
            <a:avLst/>
          </a:prstGeom>
          <a:solidFill>
            <a:srgbClr val="2FD9C9"/>
          </a:solidFill>
          <a:ln/>
        </p:spPr>
      </p:sp>
      <p:sp>
        <p:nvSpPr>
          <p:cNvPr id="11" name="Text 8"/>
          <p:cNvSpPr/>
          <p:nvPr/>
        </p:nvSpPr>
        <p:spPr>
          <a:xfrm>
            <a:off x="1078992" y="2286000"/>
            <a:ext cx="4727448" cy="813816"/>
          </a:xfrm>
          <a:prstGeom prst="rect">
            <a:avLst/>
          </a:prstGeom>
          <a:noFill/>
          <a:ln/>
        </p:spPr>
        <p:txBody>
          <a:bodyPr wrap="square" lIns="0" tIns="0" rIns="0" bIns="0" rtlCol="0" anchor="t"/>
          <a:lstStyle/>
          <a:p>
            <a:pPr indent="0" marL="0">
              <a:lnSpc>
                <a:spcPct val="115000"/>
              </a:lnSpc>
              <a:buNone/>
            </a:pPr>
            <a:r>
              <a:rPr lang="en-US" sz="1200" dirty="0">
                <a:solidFill>
                  <a:srgbClr val="D7E1EC"/>
                </a:solidFill>
                <a:latin typeface="Calibri" pitchFamily="34" charset="0"/>
                <a:ea typeface="Calibri" pitchFamily="34" charset="-122"/>
                <a:cs typeface="Calibri" pitchFamily="34" charset="-120"/>
              </a:rPr>
              <a:t>Combines Random Forest with NLP-based URL features to classify URLs as legitimate or phishing.</a:t>
            </a:r>
            <a:endParaRPr lang="en-US" sz="1200" dirty="0"/>
          </a:p>
        </p:txBody>
      </p:sp>
      <p:sp>
        <p:nvSpPr>
          <p:cNvPr id="12" name="Shape 9"/>
          <p:cNvSpPr/>
          <p:nvPr/>
        </p:nvSpPr>
        <p:spPr>
          <a:xfrm>
            <a:off x="822960" y="3236976"/>
            <a:ext cx="91440" cy="91440"/>
          </a:xfrm>
          <a:prstGeom prst="ellipse">
            <a:avLst/>
          </a:prstGeom>
          <a:solidFill>
            <a:srgbClr val="2FD9C9"/>
          </a:solidFill>
          <a:ln/>
        </p:spPr>
      </p:sp>
      <p:sp>
        <p:nvSpPr>
          <p:cNvPr id="13" name="Text 10"/>
          <p:cNvSpPr/>
          <p:nvPr/>
        </p:nvSpPr>
        <p:spPr>
          <a:xfrm>
            <a:off x="1078992" y="3154680"/>
            <a:ext cx="4727448" cy="813816"/>
          </a:xfrm>
          <a:prstGeom prst="rect">
            <a:avLst/>
          </a:prstGeom>
          <a:noFill/>
          <a:ln/>
        </p:spPr>
        <p:txBody>
          <a:bodyPr wrap="square" lIns="0" tIns="0" rIns="0" bIns="0" rtlCol="0" anchor="t"/>
          <a:lstStyle/>
          <a:p>
            <a:pPr indent="0" marL="0">
              <a:lnSpc>
                <a:spcPct val="115000"/>
              </a:lnSpc>
              <a:buNone/>
            </a:pPr>
            <a:r>
              <a:rPr lang="en-US" sz="1200" dirty="0">
                <a:solidFill>
                  <a:srgbClr val="D7E1EC"/>
                </a:solidFill>
                <a:latin typeface="Calibri" pitchFamily="34" charset="0"/>
                <a:ea typeface="Calibri" pitchFamily="34" charset="-122"/>
                <a:cs typeface="Calibri" pitchFamily="34" charset="-120"/>
              </a:rPr>
              <a:t>Delivered as PhishingLens: a FastAPI backend plus a browser UI with bulk scan, comparison, link extraction, and live domain intelligence.</a:t>
            </a:r>
            <a:endParaRPr lang="en-US" sz="1200" dirty="0"/>
          </a:p>
        </p:txBody>
      </p:sp>
      <p:sp>
        <p:nvSpPr>
          <p:cNvPr id="14" name="Shape 11"/>
          <p:cNvSpPr/>
          <p:nvPr/>
        </p:nvSpPr>
        <p:spPr>
          <a:xfrm>
            <a:off x="822960" y="4105656"/>
            <a:ext cx="91440" cy="91440"/>
          </a:xfrm>
          <a:prstGeom prst="ellipse">
            <a:avLst/>
          </a:prstGeom>
          <a:solidFill>
            <a:srgbClr val="2FD9C9"/>
          </a:solidFill>
          <a:ln/>
        </p:spPr>
      </p:sp>
      <p:sp>
        <p:nvSpPr>
          <p:cNvPr id="15" name="Text 12"/>
          <p:cNvSpPr/>
          <p:nvPr/>
        </p:nvSpPr>
        <p:spPr>
          <a:xfrm>
            <a:off x="1078992" y="4023360"/>
            <a:ext cx="4727448" cy="813816"/>
          </a:xfrm>
          <a:prstGeom prst="rect">
            <a:avLst/>
          </a:prstGeom>
          <a:noFill/>
          <a:ln/>
        </p:spPr>
        <p:txBody>
          <a:bodyPr wrap="square" lIns="0" tIns="0" rIns="0" bIns="0" rtlCol="0" anchor="t"/>
          <a:lstStyle/>
          <a:p>
            <a:pPr indent="0" marL="0">
              <a:lnSpc>
                <a:spcPct val="115000"/>
              </a:lnSpc>
              <a:buNone/>
            </a:pPr>
            <a:r>
              <a:rPr lang="en-US" sz="1200" dirty="0">
                <a:solidFill>
                  <a:srgbClr val="D7E1EC"/>
                </a:solidFill>
                <a:latin typeface="Calibri" pitchFamily="34" charset="0"/>
                <a:ea typeface="Calibri" pitchFamily="34" charset="-122"/>
                <a:cs typeface="Calibri" pitchFamily="34" charset="-120"/>
              </a:rPr>
              <a:t>Demonstrates supervised Machine Learning applied to a real cybersecurity problem.</a:t>
            </a:r>
            <a:endParaRPr lang="en-US" sz="1200" dirty="0"/>
          </a:p>
        </p:txBody>
      </p:sp>
      <p:sp>
        <p:nvSpPr>
          <p:cNvPr id="16" name="Shape 13"/>
          <p:cNvSpPr/>
          <p:nvPr/>
        </p:nvSpPr>
        <p:spPr>
          <a:xfrm>
            <a:off x="6217920" y="1508760"/>
            <a:ext cx="5394960" cy="3429000"/>
          </a:xfrm>
          <a:prstGeom prst="roundRect">
            <a:avLst>
              <a:gd name="adj" fmla="val 2667"/>
            </a:avLst>
          </a:prstGeom>
          <a:solidFill>
            <a:srgbClr val="13273F"/>
          </a:solidFill>
          <a:ln/>
        </p:spPr>
      </p:sp>
      <p:sp>
        <p:nvSpPr>
          <p:cNvPr id="17" name="Text 14"/>
          <p:cNvSpPr/>
          <p:nvPr/>
        </p:nvSpPr>
        <p:spPr>
          <a:xfrm>
            <a:off x="6492240" y="1673352"/>
            <a:ext cx="4846320" cy="365760"/>
          </a:xfrm>
          <a:prstGeom prst="rect">
            <a:avLst/>
          </a:prstGeom>
          <a:noFill/>
          <a:ln/>
        </p:spPr>
        <p:txBody>
          <a:bodyPr wrap="square" lIns="0" tIns="0" rIns="0" bIns="0" rtlCol="0" anchor="ctr"/>
          <a:lstStyle/>
          <a:p>
            <a:pPr indent="0" marL="0">
              <a:buNone/>
            </a:pPr>
            <a:r>
              <a:rPr lang="en-US" sz="1600" b="1" dirty="0">
                <a:solidFill>
                  <a:srgbClr val="2FD9C9"/>
                </a:solidFill>
                <a:latin typeface="Cambria" pitchFamily="34" charset="0"/>
                <a:ea typeface="Cambria" pitchFamily="34" charset="-122"/>
                <a:cs typeface="Cambria" pitchFamily="34" charset="-120"/>
              </a:rPr>
              <a:t>Future Work</a:t>
            </a:r>
            <a:endParaRPr lang="en-US" sz="1600" dirty="0"/>
          </a:p>
        </p:txBody>
      </p:sp>
      <p:sp>
        <p:nvSpPr>
          <p:cNvPr id="18" name="Shape 15"/>
          <p:cNvSpPr/>
          <p:nvPr/>
        </p:nvSpPr>
        <p:spPr>
          <a:xfrm>
            <a:off x="6492240" y="2286000"/>
            <a:ext cx="384048" cy="384048"/>
          </a:xfrm>
          <a:prstGeom prst="ellipse">
            <a:avLst/>
          </a:prstGeom>
          <a:solidFill>
            <a:srgbClr val="2FD9C9"/>
          </a:solidFill>
          <a:ln/>
        </p:spPr>
      </p:sp>
      <p:sp>
        <p:nvSpPr>
          <p:cNvPr id="19" name="Text 16"/>
          <p:cNvSpPr/>
          <p:nvPr/>
        </p:nvSpPr>
        <p:spPr>
          <a:xfrm>
            <a:off x="6492240" y="2286000"/>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20" name="Text 17"/>
          <p:cNvSpPr/>
          <p:nvPr/>
        </p:nvSpPr>
        <p:spPr>
          <a:xfrm>
            <a:off x="7040880" y="2249424"/>
            <a:ext cx="4389120" cy="457200"/>
          </a:xfrm>
          <a:prstGeom prst="rect">
            <a:avLst/>
          </a:prstGeom>
          <a:noFill/>
          <a:ln/>
        </p:spPr>
        <p:txBody>
          <a:bodyPr wrap="square" lIns="0" tIns="0" rIns="0" bIns="0" rtlCol="0" anchor="ctr"/>
          <a:lstStyle/>
          <a:p>
            <a:pPr indent="0" marL="0">
              <a:buNone/>
            </a:pPr>
            <a:r>
              <a:rPr lang="en-US" sz="1200" dirty="0">
                <a:solidFill>
                  <a:srgbClr val="D7E1EC"/>
                </a:solidFill>
                <a:latin typeface="Calibri" pitchFamily="34" charset="0"/>
                <a:ea typeface="Calibri" pitchFamily="34" charset="-122"/>
                <a:cs typeface="Calibri" pitchFamily="34" charset="-120"/>
              </a:rPr>
              <a:t>Retraining on fresh data with drift monitoring</a:t>
            </a:r>
            <a:endParaRPr lang="en-US" sz="1200" dirty="0"/>
          </a:p>
        </p:txBody>
      </p:sp>
      <p:sp>
        <p:nvSpPr>
          <p:cNvPr id="21" name="Shape 18"/>
          <p:cNvSpPr/>
          <p:nvPr/>
        </p:nvSpPr>
        <p:spPr>
          <a:xfrm>
            <a:off x="6492240" y="2926080"/>
            <a:ext cx="384048" cy="384048"/>
          </a:xfrm>
          <a:prstGeom prst="ellipse">
            <a:avLst/>
          </a:prstGeom>
          <a:solidFill>
            <a:srgbClr val="2FD9C9"/>
          </a:solidFill>
          <a:ln/>
        </p:spPr>
      </p:sp>
      <p:sp>
        <p:nvSpPr>
          <p:cNvPr id="22" name="Text 19"/>
          <p:cNvSpPr/>
          <p:nvPr/>
        </p:nvSpPr>
        <p:spPr>
          <a:xfrm>
            <a:off x="6492240" y="2926080"/>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23" name="Text 20"/>
          <p:cNvSpPr/>
          <p:nvPr/>
        </p:nvSpPr>
        <p:spPr>
          <a:xfrm>
            <a:off x="7040880" y="2889504"/>
            <a:ext cx="4389120" cy="457200"/>
          </a:xfrm>
          <a:prstGeom prst="rect">
            <a:avLst/>
          </a:prstGeom>
          <a:noFill/>
          <a:ln/>
        </p:spPr>
        <p:txBody>
          <a:bodyPr wrap="square" lIns="0" tIns="0" rIns="0" bIns="0" rtlCol="0" anchor="ctr"/>
          <a:lstStyle/>
          <a:p>
            <a:pPr indent="0" marL="0">
              <a:buNone/>
            </a:pPr>
            <a:r>
              <a:rPr lang="en-US" sz="1200" dirty="0">
                <a:solidFill>
                  <a:srgbClr val="D7E1EC"/>
                </a:solidFill>
                <a:latin typeface="Calibri" pitchFamily="34" charset="0"/>
                <a:ea typeface="Calibri" pitchFamily="34" charset="-122"/>
                <a:cs typeface="Calibri" pitchFamily="34" charset="-120"/>
              </a:rPr>
              <a:t>Explainability with feature importance / SHAP</a:t>
            </a:r>
            <a:endParaRPr lang="en-US" sz="1200" dirty="0"/>
          </a:p>
        </p:txBody>
      </p:sp>
      <p:sp>
        <p:nvSpPr>
          <p:cNvPr id="24" name="Shape 21"/>
          <p:cNvSpPr/>
          <p:nvPr/>
        </p:nvSpPr>
        <p:spPr>
          <a:xfrm>
            <a:off x="6492240" y="3566160"/>
            <a:ext cx="384048" cy="384048"/>
          </a:xfrm>
          <a:prstGeom prst="ellipse">
            <a:avLst/>
          </a:prstGeom>
          <a:solidFill>
            <a:srgbClr val="2FD9C9"/>
          </a:solidFill>
          <a:ln/>
        </p:spPr>
      </p:sp>
      <p:sp>
        <p:nvSpPr>
          <p:cNvPr id="25" name="Text 22"/>
          <p:cNvSpPr/>
          <p:nvPr/>
        </p:nvSpPr>
        <p:spPr>
          <a:xfrm>
            <a:off x="6492240" y="3566160"/>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26" name="Text 23"/>
          <p:cNvSpPr/>
          <p:nvPr/>
        </p:nvSpPr>
        <p:spPr>
          <a:xfrm>
            <a:off x="7040880" y="3529584"/>
            <a:ext cx="4389120" cy="457200"/>
          </a:xfrm>
          <a:prstGeom prst="rect">
            <a:avLst/>
          </a:prstGeom>
          <a:noFill/>
          <a:ln/>
        </p:spPr>
        <p:txBody>
          <a:bodyPr wrap="square" lIns="0" tIns="0" rIns="0" bIns="0" rtlCol="0" anchor="ctr"/>
          <a:lstStyle/>
          <a:p>
            <a:pPr indent="0" marL="0">
              <a:buNone/>
            </a:pPr>
            <a:r>
              <a:rPr lang="en-US" sz="1200" dirty="0">
                <a:solidFill>
                  <a:srgbClr val="D7E1EC"/>
                </a:solidFill>
                <a:latin typeface="Calibri" pitchFamily="34" charset="0"/>
                <a:ea typeface="Calibri" pitchFamily="34" charset="-122"/>
                <a:cs typeface="Calibri" pitchFamily="34" charset="-120"/>
              </a:rPr>
              <a:t>Authentication and rate limits for public deployment</a:t>
            </a:r>
            <a:endParaRPr lang="en-US" sz="1200" dirty="0"/>
          </a:p>
        </p:txBody>
      </p:sp>
      <p:sp>
        <p:nvSpPr>
          <p:cNvPr id="27" name="Shape 24"/>
          <p:cNvSpPr/>
          <p:nvPr/>
        </p:nvSpPr>
        <p:spPr>
          <a:xfrm>
            <a:off x="6492240" y="4206240"/>
            <a:ext cx="384048" cy="384048"/>
          </a:xfrm>
          <a:prstGeom prst="ellipse">
            <a:avLst/>
          </a:prstGeom>
          <a:solidFill>
            <a:srgbClr val="2FD9C9"/>
          </a:solidFill>
          <a:ln/>
        </p:spPr>
      </p:sp>
      <p:sp>
        <p:nvSpPr>
          <p:cNvPr id="28" name="Text 25"/>
          <p:cNvSpPr/>
          <p:nvPr/>
        </p:nvSpPr>
        <p:spPr>
          <a:xfrm>
            <a:off x="6492240" y="4206240"/>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29" name="Text 26"/>
          <p:cNvSpPr/>
          <p:nvPr/>
        </p:nvSpPr>
        <p:spPr>
          <a:xfrm>
            <a:off x="7040880" y="4169664"/>
            <a:ext cx="4389120" cy="457200"/>
          </a:xfrm>
          <a:prstGeom prst="rect">
            <a:avLst/>
          </a:prstGeom>
          <a:noFill/>
          <a:ln/>
        </p:spPr>
        <p:txBody>
          <a:bodyPr wrap="square" lIns="0" tIns="0" rIns="0" bIns="0" rtlCol="0" anchor="ctr"/>
          <a:lstStyle/>
          <a:p>
            <a:pPr indent="0" marL="0">
              <a:buNone/>
            </a:pPr>
            <a:r>
              <a:rPr lang="en-US" sz="1200" dirty="0">
                <a:solidFill>
                  <a:srgbClr val="D7E1EC"/>
                </a:solidFill>
                <a:latin typeface="Calibri" pitchFamily="34" charset="0"/>
                <a:ea typeface="Calibri" pitchFamily="34" charset="-122"/>
                <a:cs typeface="Calibri" pitchFamily="34" charset="-120"/>
              </a:rPr>
              <a:t>Broader URL and content signals</a:t>
            </a:r>
            <a:endParaRPr lang="en-US" sz="1200" dirty="0"/>
          </a:p>
        </p:txBody>
      </p:sp>
      <p:sp>
        <p:nvSpPr>
          <p:cNvPr id="30" name="Shape 27"/>
          <p:cNvSpPr/>
          <p:nvPr/>
        </p:nvSpPr>
        <p:spPr>
          <a:xfrm>
            <a:off x="548640" y="5212080"/>
            <a:ext cx="11064240" cy="1051560"/>
          </a:xfrm>
          <a:prstGeom prst="roundRect">
            <a:avLst>
              <a:gd name="adj" fmla="val 8696"/>
            </a:avLst>
          </a:prstGeom>
          <a:solidFill>
            <a:srgbClr val="2FD9C9"/>
          </a:solidFill>
          <a:ln w="12700">
            <a:solidFill>
              <a:srgbClr val="2FD9C9"/>
            </a:solidFill>
            <a:prstDash val="solid"/>
          </a:ln>
        </p:spPr>
      </p:sp>
      <p:sp>
        <p:nvSpPr>
          <p:cNvPr id="31" name="Text 28"/>
          <p:cNvSpPr/>
          <p:nvPr/>
        </p:nvSpPr>
        <p:spPr>
          <a:xfrm>
            <a:off x="822960" y="5257800"/>
            <a:ext cx="10515600" cy="548640"/>
          </a:xfrm>
          <a:prstGeom prst="rect">
            <a:avLst/>
          </a:prstGeom>
          <a:noFill/>
          <a:ln/>
        </p:spPr>
        <p:txBody>
          <a:bodyPr wrap="square" lIns="0" tIns="0" rIns="0" bIns="0" rtlCol="0" anchor="ctr"/>
          <a:lstStyle/>
          <a:p>
            <a:pPr indent="0" marL="0">
              <a:buNone/>
            </a:pPr>
            <a:r>
              <a:rPr lang="en-US" sz="2200" b="1" dirty="0">
                <a:solidFill>
                  <a:srgbClr val="0A1628"/>
                </a:solidFill>
                <a:latin typeface="Cambria" pitchFamily="34" charset="0"/>
                <a:ea typeface="Cambria" pitchFamily="34" charset="-122"/>
                <a:cs typeface="Cambria" pitchFamily="34" charset="-120"/>
              </a:rPr>
              <a:t>Thank You  •  Questions?</a:t>
            </a:r>
            <a:endParaRPr lang="en-US" sz="2200" dirty="0"/>
          </a:p>
        </p:txBody>
      </p:sp>
      <p:sp>
        <p:nvSpPr>
          <p:cNvPr id="32" name="Text 29"/>
          <p:cNvSpPr/>
          <p:nvPr/>
        </p:nvSpPr>
        <p:spPr>
          <a:xfrm>
            <a:off x="822960" y="5788152"/>
            <a:ext cx="10515600" cy="365760"/>
          </a:xfrm>
          <a:prstGeom prst="rect">
            <a:avLst/>
          </a:prstGeom>
          <a:noFill/>
          <a:ln/>
        </p:spPr>
        <p:txBody>
          <a:bodyPr wrap="square" lIns="0" tIns="0" rIns="0" bIns="0" rtlCol="0" anchor="ctr"/>
          <a:lstStyle/>
          <a:p>
            <a:pPr indent="0" marL="0">
              <a:buNone/>
            </a:pPr>
            <a:r>
              <a:rPr lang="en-US" sz="1150" dirty="0">
                <a:solidFill>
                  <a:srgbClr val="0A1628"/>
                </a:solidFill>
                <a:latin typeface="Calibri" pitchFamily="34" charset="0"/>
                <a:ea typeface="Calibri" pitchFamily="34" charset="-122"/>
                <a:cs typeface="Calibri" pitchFamily="34" charset="-120"/>
              </a:rPr>
              <a:t>Monish Putti  •  Mokshitha Putti  •  Veldi Sohith Sai   |   Team-11, Section 6   |   Guided by Ravindra Gaddam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Website Detection Using Random Forest and NLP-Based URL Analysis</dc:title>
  <dc:subject>PptxGenJS Presentation</dc:subject>
  <dc:creator>PptxGenJS</dc:creator>
  <cp:lastModifiedBy>PptxGenJS</cp:lastModifiedBy>
  <cp:revision>1</cp:revision>
  <dcterms:created xsi:type="dcterms:W3CDTF">2026-10-14T04:01:05Z</dcterms:created>
  <dcterms:modified xsi:type="dcterms:W3CDTF">2026-10-14T04:01:05Z</dcterms:modified>
</cp:coreProperties>
</file>